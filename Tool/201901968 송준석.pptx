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4" r:id="rId1"/>
  </p:sldMasterIdLst>
  <p:notesMasterIdLst>
    <p:notesMasterId r:id="rId16"/>
  </p:notesMasterIdLst>
  <p:sldIdLst>
    <p:sldId id="257" r:id="rId2"/>
    <p:sldId id="258" r:id="rId3"/>
    <p:sldId id="260" r:id="rId4"/>
    <p:sldId id="264" r:id="rId5"/>
    <p:sldId id="270" r:id="rId6"/>
    <p:sldId id="266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69" r:id="rId15"/>
  </p:sldIdLst>
  <p:sldSz cx="12192000" cy="6858000"/>
  <p:notesSz cx="6858000" cy="9144000"/>
  <p:embeddedFontLst>
    <p:embeddedFont>
      <p:font typeface="경기천년바탕 Bold" panose="02020803020101020101" pitchFamily="18" charset="-127"/>
      <p:bold r:id="rId17"/>
    </p:embeddedFont>
    <p:embeddedFont>
      <p:font typeface="경기천년바탕OTF Bold" panose="02020803020101020101" pitchFamily="18" charset="-127"/>
      <p:bold r:id="rId18"/>
    </p:embeddedFont>
    <p:embeddedFont>
      <p:font typeface="경기천년바탕OTF Regular" panose="02020503020101020101" pitchFamily="18" charset="-127"/>
      <p:regular r:id="rId19"/>
    </p:embeddedFont>
    <p:embeddedFont>
      <p:font typeface="경기천년제목 Bold" panose="02020803020101020101" pitchFamily="18" charset="-127"/>
      <p:bold r:id="rId20"/>
    </p:embeddedFont>
    <p:embeddedFont>
      <p:font typeface="경기천년제목 Light" panose="02020403020101020101" pitchFamily="18" charset="-127"/>
      <p:regular r:id="rId21"/>
    </p:embeddedFont>
    <p:embeddedFont>
      <p:font typeface="경기천년제목 Medium" panose="02020603020101020101" pitchFamily="18" charset="-127"/>
      <p:regular r:id="rId22"/>
    </p:embeddedFont>
    <p:embeddedFont>
      <p:font typeface="경기천년제목OTF Bold" panose="02020803020101020101" pitchFamily="18" charset="-127"/>
      <p:bold r:id="rId23"/>
    </p:embeddedFont>
    <p:embeddedFont>
      <p:font typeface="경기천년제목OTF Medium" panose="02020603020101020101" pitchFamily="18" charset="-127"/>
      <p:regular r:id="rId24"/>
    </p:embeddedFont>
    <p:embeddedFont>
      <p:font typeface="함초롬돋움" panose="020B0604000101010101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88CC"/>
    <a:srgbClr val="28588C"/>
    <a:srgbClr val="B1D7FD"/>
    <a:srgbClr val="7CBCFC"/>
    <a:srgbClr val="74B8FC"/>
    <a:srgbClr val="1A88FA"/>
    <a:srgbClr val="477E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Objects="1">
      <p:cViewPr varScale="1">
        <p:scale>
          <a:sx n="143" d="100"/>
          <a:sy n="143" d="100"/>
        </p:scale>
        <p:origin x="1170" y="120"/>
      </p:cViewPr>
      <p:guideLst>
        <p:guide orient="horz" pos="2154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7816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746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462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4645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97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67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852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583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2024-04-02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01511" y="3645027"/>
            <a:ext cx="788977" cy="792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39680" y="4581144"/>
            <a:ext cx="5112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3C94EB"/>
                </a:solidFill>
                <a:latin typeface="경기천년제목OTF Bold"/>
                <a:ea typeface="경기천년제목OTF Bold"/>
              </a:rPr>
              <a:t>201901968 </a:t>
            </a:r>
            <a:r>
              <a:rPr lang="ko-KR" altLang="en-US" sz="4000" dirty="0">
                <a:solidFill>
                  <a:srgbClr val="3C94EB"/>
                </a:solidFill>
                <a:latin typeface="경기천년제목OTF Bold"/>
                <a:ea typeface="경기천년제목OTF Bold"/>
              </a:rPr>
              <a:t>송준석</a:t>
            </a:r>
            <a:endParaRPr lang="en-US" altLang="ko-KR" sz="4000" dirty="0">
              <a:solidFill>
                <a:srgbClr val="3C94EB"/>
              </a:solidFill>
              <a:latin typeface="경기천년제목OTF Bold"/>
              <a:ea typeface="경기천년제목OTF Bold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3552" y="1700784"/>
            <a:ext cx="71648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000" b="1" dirty="0">
                <a:solidFill>
                  <a:srgbClr val="1689F3"/>
                </a:solidFill>
                <a:latin typeface="경기천년바탕OTF Regular"/>
                <a:ea typeface="경기천년바탕OTF Regular"/>
              </a:rPr>
              <a:t>블루아카이브 </a:t>
            </a:r>
            <a:r>
              <a:rPr lang="en-US" altLang="ko-KR" sz="5000" b="1" dirty="0">
                <a:solidFill>
                  <a:srgbClr val="1689F3"/>
                </a:solidFill>
                <a:latin typeface="경기천년바탕OTF Regular"/>
                <a:ea typeface="경기천년바탕OTF Regular"/>
              </a:rPr>
              <a:t>SCG</a:t>
            </a:r>
            <a:endParaRPr lang="ko-KR" altLang="en-US" sz="5000" b="1" dirty="0">
              <a:solidFill>
                <a:srgbClr val="1689F3"/>
              </a:solidFill>
              <a:latin typeface="경기천년바탕OTF Regular"/>
              <a:ea typeface="경기천년바탕OTF Regula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CONTENTS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4067937" y="1268730"/>
            <a:ext cx="4056126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9343" y="1844802"/>
            <a:ext cx="2088261" cy="363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09599" y="2639949"/>
            <a:ext cx="1669924" cy="2445257"/>
          </a:xfrm>
          <a:prstGeom prst="rect">
            <a:avLst/>
          </a:prstGeom>
          <a:solidFill>
            <a:srgbClr val="3C94EB"/>
          </a:solidFill>
          <a:ln cap="rnd">
            <a:solidFill>
              <a:srgbClr val="3C94EB"/>
            </a:solidFill>
            <a:bevel/>
          </a:ln>
          <a:effectLst/>
          <a:sp3d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927604" y="2639949"/>
            <a:ext cx="1669924" cy="2445257"/>
          </a:xfrm>
          <a:prstGeom prst="rect">
            <a:avLst/>
          </a:prstGeom>
          <a:solidFill>
            <a:srgbClr val="77C2F5"/>
          </a:solidFill>
          <a:ln>
            <a:solidFill>
              <a:srgbClr val="77C2F5"/>
            </a:solidFill>
          </a:ln>
          <a:effectLst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261038" y="2639949"/>
            <a:ext cx="1669924" cy="2445257"/>
          </a:xfrm>
          <a:prstGeom prst="rect">
            <a:avLst/>
          </a:prstGeom>
          <a:solidFill>
            <a:srgbClr val="3C94EB"/>
          </a:solidFill>
          <a:ln>
            <a:solidFill>
              <a:srgbClr val="3C94EB"/>
            </a:solidFill>
          </a:ln>
          <a:effectLst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912473" y="2639949"/>
            <a:ext cx="1669924" cy="2445257"/>
          </a:xfrm>
          <a:prstGeom prst="rect">
            <a:avLst/>
          </a:prstGeom>
          <a:solidFill>
            <a:srgbClr val="3C94EB"/>
          </a:solidFill>
          <a:ln>
            <a:solidFill>
              <a:srgbClr val="3C94EB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08189" y="2639949"/>
            <a:ext cx="1669924" cy="2445257"/>
          </a:xfrm>
          <a:prstGeom prst="rect">
            <a:avLst/>
          </a:prstGeom>
          <a:solidFill>
            <a:srgbClr val="77C2F5"/>
          </a:solidFill>
          <a:ln>
            <a:solidFill>
              <a:srgbClr val="77C2F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82786" y="3429000"/>
            <a:ext cx="17235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01.</a:t>
            </a:r>
          </a:p>
          <a:p>
            <a:pPr algn="ctr">
              <a:defRPr/>
            </a:pPr>
            <a:r>
              <a:rPr lang="ko-KR" altLang="en-US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기획의도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3151" y="3429000"/>
            <a:ext cx="133882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02.</a:t>
            </a:r>
          </a:p>
          <a:p>
            <a:pPr algn="ctr">
              <a:defRPr/>
            </a:pPr>
            <a:r>
              <a:rPr lang="ko-KR" altLang="en-US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세계관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8945" y="3429000"/>
            <a:ext cx="9541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03.</a:t>
            </a:r>
          </a:p>
          <a:p>
            <a:pPr algn="ctr">
              <a:defRPr/>
            </a:pPr>
            <a:r>
              <a:rPr lang="ko-KR" altLang="en-US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0456" y="3429000"/>
            <a:ext cx="142539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04.</a:t>
            </a:r>
          </a:p>
          <a:p>
            <a:pPr algn="ctr">
              <a:defRPr/>
            </a:pPr>
            <a:r>
              <a:rPr lang="ko-KR" altLang="en-US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소비층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5796" y="3429000"/>
            <a:ext cx="7232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05.</a:t>
            </a:r>
          </a:p>
          <a:p>
            <a:pPr algn="ctr">
              <a:defRPr/>
            </a:pPr>
            <a:r>
              <a:rPr lang="en-US" altLang="ko-KR" sz="3000" dirty="0">
                <a:solidFill>
                  <a:schemeClr val="lt1"/>
                </a:solidFill>
                <a:latin typeface="경기천년제목OTF Bold"/>
                <a:ea typeface="경기천년제목OTF Bold"/>
              </a:rPr>
              <a:t>BM</a:t>
            </a:r>
            <a:endParaRPr lang="ko-KR" altLang="en-US" sz="3000" dirty="0">
              <a:solidFill>
                <a:schemeClr val="lt1"/>
              </a:solidFill>
              <a:latin typeface="경기천년제목OTF Bold"/>
              <a:ea typeface="경기천년제목OTF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01. </a:t>
            </a:r>
            <a:r>
              <a:rPr lang="ko-KR" altLang="en-US" dirty="0">
                <a:latin typeface="경기천년제목OTF Bold"/>
                <a:ea typeface="경기천년제목OTF Bold"/>
              </a:rPr>
              <a:t>기획의도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0243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TCG + SRPG</a:t>
            </a:r>
            <a:endParaRPr lang="ko-KR" altLang="en-US" sz="3000" dirty="0">
              <a:solidFill>
                <a:srgbClr val="1A88FA"/>
              </a:solidFill>
              <a:latin typeface="경기천년제목OTF Bold"/>
              <a:ea typeface="경기천년제목OTF Bold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270AA4-D39A-B3EB-48B2-5ACA25A027B8}"/>
              </a:ext>
            </a:extLst>
          </p:cNvPr>
          <p:cNvSpPr/>
          <p:nvPr/>
        </p:nvSpPr>
        <p:spPr>
          <a:xfrm>
            <a:off x="1215189" y="1455820"/>
            <a:ext cx="9817769" cy="3910263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E775B9D-626B-339C-AE53-1D81197BCEF6}"/>
              </a:ext>
            </a:extLst>
          </p:cNvPr>
          <p:cNvSpPr/>
          <p:nvPr/>
        </p:nvSpPr>
        <p:spPr>
          <a:xfrm>
            <a:off x="2420373" y="2129204"/>
            <a:ext cx="2592360" cy="2592360"/>
          </a:xfrm>
          <a:prstGeom prst="ellipse">
            <a:avLst/>
          </a:prstGeom>
          <a:solidFill>
            <a:srgbClr val="74B8F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경기천년바탕OTF Bold" panose="02020803020101020101" pitchFamily="18" charset="-127"/>
                <a:ea typeface="경기천년바탕OTF Bold" panose="02020803020101020101" pitchFamily="18" charset="-127"/>
              </a:rPr>
              <a:t>TCG</a:t>
            </a:r>
          </a:p>
          <a:p>
            <a:pPr algn="ctr"/>
            <a:endParaRPr lang="en-US" altLang="ko-KR" sz="1300" dirty="0">
              <a:latin typeface="경기천년제목OTF Bold"/>
            </a:endParaRPr>
          </a:p>
          <a:p>
            <a:pPr algn="ctr"/>
            <a:r>
              <a:rPr lang="ko-KR" altLang="en-US" sz="13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조합의 다양함</a:t>
            </a:r>
            <a:endParaRPr lang="en-US" altLang="ko-KR" sz="13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</p:txBody>
      </p:sp>
      <p:pic>
        <p:nvPicPr>
          <p:cNvPr id="17" name="그림 16" descr="만화 영화, 스크린샷, PC 게임, 슬롯 머신이(가) 표시된 사진&#10;&#10;자동 생성된 설명">
            <a:extLst>
              <a:ext uri="{FF2B5EF4-FFF2-40B4-BE49-F238E27FC236}">
                <a16:creationId xmlns:a16="http://schemas.microsoft.com/office/drawing/2014/main" id="{AD8338C3-0DED-A130-23DC-0B04A1121F6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855" y="3211254"/>
            <a:ext cx="1835396" cy="1032944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366A72F9-70B8-68AE-1648-2ADA1D9DCA19}"/>
              </a:ext>
            </a:extLst>
          </p:cNvPr>
          <p:cNvSpPr/>
          <p:nvPr/>
        </p:nvSpPr>
        <p:spPr>
          <a:xfrm>
            <a:off x="7179269" y="2129204"/>
            <a:ext cx="2592360" cy="2592360"/>
          </a:xfrm>
          <a:prstGeom prst="ellipse">
            <a:avLst/>
          </a:prstGeom>
          <a:solidFill>
            <a:srgbClr val="74B8F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경기천년바탕OTF Bold" panose="02020803020101020101" pitchFamily="18" charset="-127"/>
                <a:ea typeface="경기천년바탕OTF Bold" panose="02020803020101020101" pitchFamily="18" charset="-127"/>
              </a:rPr>
              <a:t>SRPG</a:t>
            </a:r>
          </a:p>
          <a:p>
            <a:pPr algn="ctr"/>
            <a:endParaRPr lang="en-US" altLang="ko-KR" sz="1300" dirty="0">
              <a:latin typeface="경기천년제목OTF Bold"/>
            </a:endParaRPr>
          </a:p>
          <a:p>
            <a:pPr algn="ctr"/>
            <a:r>
              <a:rPr lang="ko-KR" altLang="en-US" sz="13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배치와 전략의 다양성</a:t>
            </a:r>
            <a:endParaRPr lang="en-US" altLang="ko-KR" sz="13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  <a:p>
            <a:pPr algn="ctr"/>
            <a:endParaRPr lang="en-US" altLang="ko-KR" dirty="0">
              <a:latin typeface="경기천년제목OTF Bold"/>
            </a:endParaRPr>
          </a:p>
        </p:txBody>
      </p:sp>
      <p:pic>
        <p:nvPicPr>
          <p:cNvPr id="16" name="그림 15" descr="게임, 스크린샷, PC 게임, 전략 비디오 게임이(가) 표시된 사진&#10;&#10;자동 생성된 설명">
            <a:extLst>
              <a:ext uri="{FF2B5EF4-FFF2-40B4-BE49-F238E27FC236}">
                <a16:creationId xmlns:a16="http://schemas.microsoft.com/office/drawing/2014/main" id="{D31A26D5-818C-87FE-FB21-B541687C6B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292" y="3211254"/>
            <a:ext cx="1656608" cy="1032944"/>
          </a:xfrm>
          <a:prstGeom prst="rect">
            <a:avLst/>
          </a:prstGeom>
        </p:spPr>
      </p:pic>
      <p:sp>
        <p:nvSpPr>
          <p:cNvPr id="21" name="더하기 기호 20">
            <a:extLst>
              <a:ext uri="{FF2B5EF4-FFF2-40B4-BE49-F238E27FC236}">
                <a16:creationId xmlns:a16="http://schemas.microsoft.com/office/drawing/2014/main" id="{379E7C43-CD98-14E7-6694-9D79D314BBB7}"/>
              </a:ext>
            </a:extLst>
          </p:cNvPr>
          <p:cNvSpPr/>
          <p:nvPr/>
        </p:nvSpPr>
        <p:spPr>
          <a:xfrm>
            <a:off x="5519920" y="2852920"/>
            <a:ext cx="1152160" cy="1152160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02. </a:t>
            </a:r>
            <a:r>
              <a:rPr lang="ko-KR" altLang="en-US" dirty="0">
                <a:latin typeface="경기천년제목OTF Bold"/>
                <a:ea typeface="경기천년제목OTF Bold"/>
              </a:rPr>
              <a:t>세계관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0243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세계관 소개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62316" y="2638117"/>
            <a:ext cx="1581765" cy="15817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5300" y="3240633"/>
            <a:ext cx="38189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기억을 잃고</a:t>
            </a:r>
            <a:r>
              <a:rPr lang="en-US" altLang="ko-KR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, </a:t>
            </a: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새로운 세계로 이동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2117" y="2778968"/>
            <a:ext cx="41765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0000" indent="-370000">
              <a:buAutoNum type="romanUcPeriod"/>
              <a:defRPr/>
            </a:pP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다양한 도시 </a:t>
            </a:r>
            <a:r>
              <a:rPr lang="en-US" altLang="ko-KR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/ </a:t>
            </a: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마을 여행</a:t>
            </a:r>
            <a:endParaRPr lang="en-US" altLang="ko-KR" sz="2000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370000" indent="-370000">
              <a:buAutoNum type="romanUcPeriod"/>
              <a:defRPr/>
            </a:pP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여행 중 다양한 그룹의 문제 해결</a:t>
            </a:r>
            <a:endParaRPr lang="en-US" altLang="ko-KR" sz="2000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370000" indent="-370000">
              <a:buAutoNum type="romanUcPeriod"/>
              <a:defRPr/>
            </a:pP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기억의 실마리 탐색</a:t>
            </a:r>
            <a:endParaRPr lang="en-US" altLang="ko-KR" sz="2000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370000" indent="-370000">
              <a:buAutoNum type="romanUcPeriod"/>
              <a:defRPr/>
            </a:pPr>
            <a:r>
              <a:rPr lang="ko-KR" altLang="en-US" sz="20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평행 세계의 자기 자신의 습격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706493" y="4702550"/>
            <a:ext cx="5447919" cy="1153360"/>
          </a:xfrm>
          <a:prstGeom prst="rect">
            <a:avLst/>
          </a:prstGeom>
          <a:solidFill>
            <a:srgbClr val="1689F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7227158" y="5079175"/>
            <a:ext cx="44065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000" dirty="0">
                <a:solidFill>
                  <a:schemeClr val="lt1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평행 세계의 습격 원인 및 해결책 모색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02. </a:t>
            </a:r>
            <a:r>
              <a:rPr lang="ko-KR" altLang="en-US" dirty="0">
                <a:latin typeface="경기천년제목OTF Bold"/>
                <a:ea typeface="경기천년제목OTF Bold"/>
              </a:rPr>
              <a:t>세계관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0243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서브 주인공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8B86C16-FD59-6540-80D0-8B0242DC6092}"/>
              </a:ext>
            </a:extLst>
          </p:cNvPr>
          <p:cNvSpPr/>
          <p:nvPr/>
        </p:nvSpPr>
        <p:spPr>
          <a:xfrm>
            <a:off x="825500" y="1333500"/>
            <a:ext cx="5270500" cy="4813300"/>
          </a:xfrm>
          <a:prstGeom prst="rect">
            <a:avLst/>
          </a:prstGeom>
          <a:solidFill>
            <a:srgbClr val="4C88C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DFF0614-80AA-5B6F-8055-CD3F9CB91EA0}"/>
              </a:ext>
            </a:extLst>
          </p:cNvPr>
          <p:cNvCxnSpPr/>
          <p:nvPr/>
        </p:nvCxnSpPr>
        <p:spPr>
          <a:xfrm>
            <a:off x="6096000" y="3148199"/>
            <a:ext cx="51562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4285479-130C-9051-0F76-BCCC57943A75}"/>
              </a:ext>
            </a:extLst>
          </p:cNvPr>
          <p:cNvSpPr txBox="1"/>
          <p:nvPr/>
        </p:nvSpPr>
        <p:spPr>
          <a:xfrm>
            <a:off x="6321286" y="2470634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1A88FA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내비게이션 로봇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ED9B3-09A6-3269-183E-4BB152A120EF}"/>
              </a:ext>
            </a:extLst>
          </p:cNvPr>
          <p:cNvSpPr txBox="1"/>
          <p:nvPr/>
        </p:nvSpPr>
        <p:spPr>
          <a:xfrm>
            <a:off x="6321286" y="3416520"/>
            <a:ext cx="4930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주인공이 처음으로 도와준 기술자로부터 받은 로봇이다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. </a:t>
            </a:r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필요한 정보를 수집 및 다양한 편의기능을 제공하며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, </a:t>
            </a:r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게임에서는 유저의 선택에 따라 다양한 효과를 제공한다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. </a:t>
            </a:r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인간의 대화를 학습해서 의사소통이 가능하며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, </a:t>
            </a:r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작중 주인공과의 </a:t>
            </a:r>
            <a:r>
              <a:rPr lang="ko-KR" altLang="en-US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티키타카는</a:t>
            </a:r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 스토리의 소소한 재미요소가 된다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.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</p:txBody>
      </p:sp>
      <p:pic>
        <p:nvPicPr>
          <p:cNvPr id="23" name="그림 22" descr="컴퓨터, 노트북, 아니메, 만화 영화이(가) 표시된 사진&#10;&#10;자동 생성된 설명">
            <a:extLst>
              <a:ext uri="{FF2B5EF4-FFF2-40B4-BE49-F238E27FC236}">
                <a16:creationId xmlns:a16="http://schemas.microsoft.com/office/drawing/2014/main" id="{BC29750B-C262-C765-DAA6-1E69C1AAB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70" y="1996779"/>
            <a:ext cx="4654982" cy="34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9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03. </a:t>
            </a:r>
            <a:r>
              <a:rPr lang="ko-KR" altLang="en-US" dirty="0"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02437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장르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cxnSp>
        <p:nvCxnSpPr>
          <p:cNvPr id="23" name="직선 연결선 22"/>
          <p:cNvCxnSpPr/>
          <p:nvPr/>
        </p:nvCxnSpPr>
        <p:spPr>
          <a:xfrm>
            <a:off x="6186011" y="3933063"/>
            <a:ext cx="360045" cy="0"/>
          </a:xfrm>
          <a:prstGeom prst="line">
            <a:avLst/>
          </a:prstGeom>
          <a:ln w="50800"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366034" y="3933063"/>
            <a:ext cx="180022" cy="0"/>
          </a:xfrm>
          <a:prstGeom prst="line">
            <a:avLst/>
          </a:prstGeom>
          <a:ln w="50800">
            <a:solidFill>
              <a:srgbClr val="5770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C26026-D1EA-AD72-14B1-2D6F8B934497}"/>
              </a:ext>
            </a:extLst>
          </p:cNvPr>
          <p:cNvSpPr txBox="1"/>
          <p:nvPr/>
        </p:nvSpPr>
        <p:spPr>
          <a:xfrm flipH="1">
            <a:off x="907674" y="3280847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4AF9B-E022-61C5-D018-5722465803D2}"/>
              </a:ext>
            </a:extLst>
          </p:cNvPr>
          <p:cNvSpPr txBox="1"/>
          <p:nvPr/>
        </p:nvSpPr>
        <p:spPr>
          <a:xfrm>
            <a:off x="3768143" y="1467724"/>
            <a:ext cx="46557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TCG 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(Trading Card Game)</a:t>
            </a:r>
            <a:endParaRPr lang="ko-KR" altLang="en-US" sz="2000" dirty="0">
              <a:solidFill>
                <a:schemeClr val="tx2">
                  <a:lumMod val="60000"/>
                  <a:lumOff val="40000"/>
                </a:schemeClr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pic>
        <p:nvPicPr>
          <p:cNvPr id="11" name="그림 10" descr="밤, 네온, 폰트, 네온 사인이(가) 표시된 사진&#10;&#10;자동 생성된 설명">
            <a:extLst>
              <a:ext uri="{FF2B5EF4-FFF2-40B4-BE49-F238E27FC236}">
                <a16:creationId xmlns:a16="http://schemas.microsoft.com/office/drawing/2014/main" id="{6F1F1979-9CA6-F75F-E9EE-137C543153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40" y="3280847"/>
            <a:ext cx="2859024" cy="1325854"/>
          </a:xfrm>
          <a:prstGeom prst="rect">
            <a:avLst/>
          </a:prstGeom>
        </p:spPr>
      </p:pic>
      <p:pic>
        <p:nvPicPr>
          <p:cNvPr id="12" name="그림 11" descr="책, 실내, 소장 카드게임, 보드게임이(가) 표시된 사진&#10;&#10;자동 생성된 설명">
            <a:extLst>
              <a:ext uri="{FF2B5EF4-FFF2-40B4-BE49-F238E27FC236}">
                <a16:creationId xmlns:a16="http://schemas.microsoft.com/office/drawing/2014/main" id="{B951F132-6B88-D538-B111-BDD2273F60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10" y="2807860"/>
            <a:ext cx="2514980" cy="1684638"/>
          </a:xfrm>
          <a:prstGeom prst="rect">
            <a:avLst/>
          </a:prstGeom>
        </p:spPr>
      </p:pic>
      <p:pic>
        <p:nvPicPr>
          <p:cNvPr id="15" name="그림 14" descr="그래픽, 폰트, 그래픽 디자인, 디자인이(가) 표시된 사진&#10;&#10;자동 생성된 설명">
            <a:extLst>
              <a:ext uri="{FF2B5EF4-FFF2-40B4-BE49-F238E27FC236}">
                <a16:creationId xmlns:a16="http://schemas.microsoft.com/office/drawing/2014/main" id="{8505D1AB-5501-49AF-2B35-E51EEA67B42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428" y="3372869"/>
            <a:ext cx="2498796" cy="7946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8AD2EC-84CD-27C5-DF4D-CA98C8F702B3}"/>
              </a:ext>
            </a:extLst>
          </p:cNvPr>
          <p:cNvSpPr txBox="1"/>
          <p:nvPr/>
        </p:nvSpPr>
        <p:spPr>
          <a:xfrm>
            <a:off x="1858654" y="4792624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하스스톤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9E84CF-FD27-B8E3-4459-78954E62D73B}"/>
              </a:ext>
            </a:extLst>
          </p:cNvPr>
          <p:cNvSpPr txBox="1"/>
          <p:nvPr/>
        </p:nvSpPr>
        <p:spPr>
          <a:xfrm>
            <a:off x="5657418" y="4792624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유희왕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6F5C39-C5BE-83E6-B163-70D3FFA0B3B9}"/>
              </a:ext>
            </a:extLst>
          </p:cNvPr>
          <p:cNvSpPr txBox="1"/>
          <p:nvPr/>
        </p:nvSpPr>
        <p:spPr>
          <a:xfrm>
            <a:off x="9272788" y="479262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매직 더 </a:t>
            </a:r>
            <a:r>
              <a:rPr lang="ko-KR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게더링</a:t>
            </a:r>
            <a:endParaRPr lang="ko-KR" altLang="en-US" dirty="0">
              <a:solidFill>
                <a:schemeClr val="tx2">
                  <a:lumMod val="60000"/>
                  <a:lumOff val="40000"/>
                </a:schemeClr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03. </a:t>
            </a:r>
            <a:r>
              <a:rPr lang="ko-KR" altLang="en-US" dirty="0"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게임의 시스템적 특징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C26026-D1EA-AD72-14B1-2D6F8B934497}"/>
              </a:ext>
            </a:extLst>
          </p:cNvPr>
          <p:cNvSpPr txBox="1"/>
          <p:nvPr/>
        </p:nvSpPr>
        <p:spPr>
          <a:xfrm flipH="1">
            <a:off x="907674" y="3280847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E9137D-923F-4531-165C-684DED61B774}"/>
              </a:ext>
            </a:extLst>
          </p:cNvPr>
          <p:cNvSpPr txBox="1"/>
          <p:nvPr/>
        </p:nvSpPr>
        <p:spPr>
          <a:xfrm>
            <a:off x="2387536" y="1440991"/>
            <a:ext cx="74169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0" dirty="0">
                <a:solidFill>
                  <a:srgbClr val="1689F3"/>
                </a:solidFill>
                <a:latin typeface="경기천년제목OTF Medium" panose="02020603020101020101" pitchFamily="18" charset="-127"/>
                <a:ea typeface="경기천년제목OTF Medium" panose="02020603020101020101" pitchFamily="18" charset="-127"/>
              </a:rPr>
              <a:t>게임의 시스템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EF3574-CC52-13A0-1F3C-6595C603DCA5}"/>
              </a:ext>
            </a:extLst>
          </p:cNvPr>
          <p:cNvSpPr txBox="1"/>
          <p:nvPr/>
        </p:nvSpPr>
        <p:spPr>
          <a:xfrm>
            <a:off x="966418" y="3131058"/>
            <a:ext cx="2842235" cy="1581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01.</a:t>
            </a:r>
            <a:r>
              <a:rPr lang="ko-KR" altLang="en-US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마나 시스템</a:t>
            </a:r>
            <a:endParaRPr lang="ko-KR" altLang="en-US" sz="15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>
              <a:defRPr/>
            </a:pPr>
            <a:endParaRPr lang="en-US" altLang="ko-KR" sz="2000" dirty="0">
              <a:latin typeface="경기천년제목OTF Bold"/>
              <a:ea typeface="경기천년제목OTF Bold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게임 템포 조절</a:t>
            </a:r>
            <a:endParaRPr lang="en-US" altLang="ko-KR" sz="20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밸런스 조절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8F12B8-DD31-9670-B1B6-87C90FEAE705}"/>
              </a:ext>
            </a:extLst>
          </p:cNvPr>
          <p:cNvSpPr txBox="1"/>
          <p:nvPr/>
        </p:nvSpPr>
        <p:spPr>
          <a:xfrm>
            <a:off x="8383346" y="3131058"/>
            <a:ext cx="2842236" cy="1581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03.</a:t>
            </a:r>
            <a:r>
              <a:rPr lang="ko-KR" altLang="en-US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자동 전투 시스템</a:t>
            </a:r>
          </a:p>
          <a:p>
            <a:pPr>
              <a:defRPr/>
            </a:pPr>
            <a:endParaRPr lang="en-US" altLang="ko-KR" sz="2000" dirty="0">
              <a:latin typeface="경기천년제목OTF Bold"/>
              <a:ea typeface="경기천년제목OTF Bold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유저의 피로도 감소</a:t>
            </a:r>
            <a:endParaRPr lang="en-US" altLang="ko-KR" sz="20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 err="1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선후공</a:t>
            </a: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 밸런스 조절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83AE65-33BB-3523-E627-A979AE31FE48}"/>
              </a:ext>
            </a:extLst>
          </p:cNvPr>
          <p:cNvSpPr txBox="1"/>
          <p:nvPr/>
        </p:nvSpPr>
        <p:spPr>
          <a:xfrm>
            <a:off x="4674882" y="3131058"/>
            <a:ext cx="2842235" cy="204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02.</a:t>
            </a:r>
            <a:r>
              <a:rPr lang="ko-KR" altLang="en-US" sz="2000" dirty="0">
                <a:solidFill>
                  <a:srgbClr val="1689F3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전장</a:t>
            </a:r>
          </a:p>
          <a:p>
            <a:pPr>
              <a:defRPr/>
            </a:pPr>
            <a:endParaRPr lang="en-US" altLang="ko-KR" sz="2000" dirty="0">
              <a:latin typeface="경기천년제목OTF Bold"/>
              <a:ea typeface="경기천년제목OTF Bold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전장의 타일화</a:t>
            </a:r>
            <a:endParaRPr lang="en-US" altLang="ko-KR" sz="20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사거리 개념 추가</a:t>
            </a:r>
            <a:endParaRPr lang="en-US" altLang="ko-KR" sz="2000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본체가 타일로 존재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0263DA5-AE35-7421-39B0-38C123F965C6}"/>
              </a:ext>
            </a:extLst>
          </p:cNvPr>
          <p:cNvCxnSpPr/>
          <p:nvPr/>
        </p:nvCxnSpPr>
        <p:spPr>
          <a:xfrm>
            <a:off x="6096000" y="1440991"/>
            <a:ext cx="360045" cy="0"/>
          </a:xfrm>
          <a:prstGeom prst="line">
            <a:avLst/>
          </a:prstGeom>
          <a:ln w="50800"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33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03. </a:t>
            </a:r>
            <a:r>
              <a:rPr lang="ko-KR" altLang="en-US" dirty="0"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전장과 카드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378D49-16DF-B1BB-3EED-E32BA749189E}"/>
              </a:ext>
            </a:extLst>
          </p:cNvPr>
          <p:cNvSpPr txBox="1"/>
          <p:nvPr/>
        </p:nvSpPr>
        <p:spPr>
          <a:xfrm flipH="1">
            <a:off x="8170039" y="4607958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 descr="스크린샷, 다채로움, 마조렐 블루, 일렉트릭 블루이(가) 표시된 사진&#10;&#10;자동 생성된 설명">
            <a:extLst>
              <a:ext uri="{FF2B5EF4-FFF2-40B4-BE49-F238E27FC236}">
                <a16:creationId xmlns:a16="http://schemas.microsoft.com/office/drawing/2014/main" id="{F47FF6BA-BA2C-0F92-0268-1B39D8BF378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60" y="3934101"/>
            <a:ext cx="3210702" cy="1868492"/>
          </a:xfrm>
          <a:prstGeom prst="rect">
            <a:avLst/>
          </a:prstGeom>
        </p:spPr>
      </p:pic>
      <p:pic>
        <p:nvPicPr>
          <p:cNvPr id="10" name="그림 9" descr="스크린샷, 다채로움, 마조렐 블루, 일렉트릭 블루이(가) 표시된 사진&#10;&#10;자동 생성된 설명">
            <a:extLst>
              <a:ext uri="{FF2B5EF4-FFF2-40B4-BE49-F238E27FC236}">
                <a16:creationId xmlns:a16="http://schemas.microsoft.com/office/drawing/2014/main" id="{BBD414E8-AAEC-7F00-0278-D9FE846481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361760" y="2058031"/>
            <a:ext cx="3210702" cy="1868492"/>
          </a:xfrm>
          <a:prstGeom prst="rect">
            <a:avLst/>
          </a:prstGeom>
        </p:spPr>
      </p:pic>
      <p:pic>
        <p:nvPicPr>
          <p:cNvPr id="12" name="그림 11" descr="텍스트, 아니메, 만화 영화, 소설이(가) 표시된 사진&#10;&#10;자동 생성된 설명">
            <a:extLst>
              <a:ext uri="{FF2B5EF4-FFF2-40B4-BE49-F238E27FC236}">
                <a16:creationId xmlns:a16="http://schemas.microsoft.com/office/drawing/2014/main" id="{D223CAC9-1A57-7395-5213-7DE90C858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914" y="988632"/>
            <a:ext cx="3348300" cy="488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7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03. </a:t>
            </a:r>
            <a:r>
              <a:rPr lang="ko-KR" altLang="en-US" dirty="0"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상세 규칙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C26026-D1EA-AD72-14B1-2D6F8B934497}"/>
              </a:ext>
            </a:extLst>
          </p:cNvPr>
          <p:cNvSpPr txBox="1"/>
          <p:nvPr/>
        </p:nvSpPr>
        <p:spPr>
          <a:xfrm flipH="1">
            <a:off x="907674" y="3280847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4BB4A39B-3429-E3CE-E742-8D2F33C2B61F}"/>
              </a:ext>
            </a:extLst>
          </p:cNvPr>
          <p:cNvSpPr txBox="1"/>
          <p:nvPr/>
        </p:nvSpPr>
        <p:spPr>
          <a:xfrm>
            <a:off x="1198124" y="130684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차례 진행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83B57622-8D8C-3BA3-A158-0FA80D1056BD}"/>
              </a:ext>
            </a:extLst>
          </p:cNvPr>
          <p:cNvSpPr txBox="1"/>
          <p:nvPr/>
        </p:nvSpPr>
        <p:spPr>
          <a:xfrm>
            <a:off x="1204305" y="409914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자동 전투 시스템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35BCF5-24E1-25E0-49B6-111273024737}"/>
              </a:ext>
            </a:extLst>
          </p:cNvPr>
          <p:cNvSpPr/>
          <p:nvPr/>
        </p:nvSpPr>
        <p:spPr>
          <a:xfrm>
            <a:off x="1049454" y="1888547"/>
            <a:ext cx="10234872" cy="20256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A9A8975-FCA0-0982-D7EA-86C17D86B2BB}"/>
              </a:ext>
            </a:extLst>
          </p:cNvPr>
          <p:cNvCxnSpPr>
            <a:cxnSpLocks/>
          </p:cNvCxnSpPr>
          <p:nvPr/>
        </p:nvCxnSpPr>
        <p:spPr>
          <a:xfrm flipV="1">
            <a:off x="1501077" y="2820428"/>
            <a:ext cx="9573393" cy="32971"/>
          </a:xfrm>
          <a:prstGeom prst="straightConnector1">
            <a:avLst/>
          </a:prstGeom>
          <a:ln w="76200">
            <a:solidFill>
              <a:srgbClr val="2858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81F650-DAC2-50A9-4D89-6442355388D2}"/>
              </a:ext>
            </a:extLst>
          </p:cNvPr>
          <p:cNvSpPr/>
          <p:nvPr/>
        </p:nvSpPr>
        <p:spPr>
          <a:xfrm>
            <a:off x="1453767" y="2061812"/>
            <a:ext cx="1903419" cy="1517232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마나 회복</a:t>
            </a:r>
            <a:endParaRPr lang="en-US" altLang="ko-KR" sz="1300" dirty="0">
              <a:solidFill>
                <a:schemeClr val="tx1"/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카드 </a:t>
            </a:r>
            <a:r>
              <a:rPr lang="en-US" altLang="ko-KR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1</a:t>
            </a:r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장 뽑기</a:t>
            </a:r>
            <a:endParaRPr lang="en-US" altLang="ko-KR" sz="1300" dirty="0">
              <a:solidFill>
                <a:schemeClr val="tx1"/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턴 시작 시 효과 발동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AB15439-68A2-0D01-BBE7-87D43FACD490}"/>
              </a:ext>
            </a:extLst>
          </p:cNvPr>
          <p:cNvSpPr/>
          <p:nvPr/>
        </p:nvSpPr>
        <p:spPr>
          <a:xfrm>
            <a:off x="3810328" y="2060820"/>
            <a:ext cx="1903419" cy="1517232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카드 사용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6363E53-1FC3-C000-E453-3D899B32C73C}"/>
              </a:ext>
            </a:extLst>
          </p:cNvPr>
          <p:cNvSpPr/>
          <p:nvPr/>
        </p:nvSpPr>
        <p:spPr>
          <a:xfrm>
            <a:off x="6166889" y="2060820"/>
            <a:ext cx="1903419" cy="1517232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자동 전투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7A2A729-BBA4-1C6C-CC60-C2BA449EB0B1}"/>
              </a:ext>
            </a:extLst>
          </p:cNvPr>
          <p:cNvCxnSpPr>
            <a:cxnSpLocks/>
          </p:cNvCxnSpPr>
          <p:nvPr/>
        </p:nvCxnSpPr>
        <p:spPr>
          <a:xfrm>
            <a:off x="2780951" y="4740727"/>
            <a:ext cx="0" cy="1821468"/>
          </a:xfrm>
          <a:prstGeom prst="straightConnector1">
            <a:avLst/>
          </a:prstGeom>
          <a:ln w="76200">
            <a:solidFill>
              <a:srgbClr val="2858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B3DF0DF-E47E-69BB-6947-1AC5432AE6C4}"/>
              </a:ext>
            </a:extLst>
          </p:cNvPr>
          <p:cNvSpPr/>
          <p:nvPr/>
        </p:nvSpPr>
        <p:spPr>
          <a:xfrm>
            <a:off x="3110596" y="4587889"/>
            <a:ext cx="5371294" cy="536606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사거리 내에 적 유닛이 있다면 무작위 한 명 공격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AC3D9CC-2434-EB23-F603-EAF9C0D6F86C}"/>
              </a:ext>
            </a:extLst>
          </p:cNvPr>
          <p:cNvSpPr/>
          <p:nvPr/>
        </p:nvSpPr>
        <p:spPr>
          <a:xfrm>
            <a:off x="3110596" y="5308440"/>
            <a:ext cx="5371294" cy="536606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사거리 내에 적 본체가 있다면 본체 공격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1630ADC-676B-70F4-A235-F404DA273872}"/>
              </a:ext>
            </a:extLst>
          </p:cNvPr>
          <p:cNvSpPr/>
          <p:nvPr/>
        </p:nvSpPr>
        <p:spPr>
          <a:xfrm>
            <a:off x="3110596" y="6025589"/>
            <a:ext cx="5371279" cy="536606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공격 </a:t>
            </a:r>
            <a:r>
              <a:rPr lang="ko-KR" altLang="en-US" dirty="0" err="1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스킵</a:t>
            </a:r>
            <a:endParaRPr lang="ko-KR" altLang="en-US" dirty="0">
              <a:solidFill>
                <a:schemeClr val="tx1"/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06B7F6D2-FB56-B86C-C555-371041A55083}"/>
              </a:ext>
            </a:extLst>
          </p:cNvPr>
          <p:cNvSpPr txBox="1"/>
          <p:nvPr/>
        </p:nvSpPr>
        <p:spPr>
          <a:xfrm>
            <a:off x="610754" y="5466795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전장에 소환된 순서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672DA5C-86BE-1AC9-FB45-A569AD1AB03B}"/>
              </a:ext>
            </a:extLst>
          </p:cNvPr>
          <p:cNvSpPr/>
          <p:nvPr/>
        </p:nvSpPr>
        <p:spPr>
          <a:xfrm>
            <a:off x="8523450" y="2060820"/>
            <a:ext cx="1903419" cy="1517232"/>
          </a:xfrm>
          <a:prstGeom prst="roundRect">
            <a:avLst>
              <a:gd name="adj" fmla="val 22381"/>
            </a:avLst>
          </a:prstGeom>
          <a:solidFill>
            <a:srgbClr val="B1D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300" dirty="0">
                <a:solidFill>
                  <a:schemeClr val="tx1"/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턴 종료 시 효과 발동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68CBF4D3-70FC-CA4A-6520-C59D498694DF}"/>
              </a:ext>
            </a:extLst>
          </p:cNvPr>
          <p:cNvSpPr txBox="1"/>
          <p:nvPr/>
        </p:nvSpPr>
        <p:spPr>
          <a:xfrm>
            <a:off x="4438871" y="187615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메인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277268B2-8202-A6DE-038A-61DFD5ED9E6F}"/>
              </a:ext>
            </a:extLst>
          </p:cNvPr>
          <p:cNvSpPr txBox="1"/>
          <p:nvPr/>
        </p:nvSpPr>
        <p:spPr>
          <a:xfrm>
            <a:off x="2082310" y="187564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시작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AFA4D3F1-B8AC-BA53-81D1-090CED7DA738}"/>
              </a:ext>
            </a:extLst>
          </p:cNvPr>
          <p:cNvSpPr txBox="1"/>
          <p:nvPr/>
        </p:nvSpPr>
        <p:spPr>
          <a:xfrm>
            <a:off x="6795432" y="1875640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전투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3ABBE86A-2273-C7EC-4DDA-188B00386046}"/>
              </a:ext>
            </a:extLst>
          </p:cNvPr>
          <p:cNvSpPr txBox="1"/>
          <p:nvPr/>
        </p:nvSpPr>
        <p:spPr>
          <a:xfrm>
            <a:off x="9151993" y="1872814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420327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03. </a:t>
            </a:r>
            <a:r>
              <a:rPr lang="ko-KR" altLang="en-US" dirty="0">
                <a:latin typeface="경기천년제목OTF Bold"/>
                <a:ea typeface="경기천년제목OTF Bold"/>
              </a:rPr>
              <a:t>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게임의 구성 및 콘텐츠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A4141D-174D-5137-0434-0254CAD25734}"/>
              </a:ext>
            </a:extLst>
          </p:cNvPr>
          <p:cNvSpPr txBox="1"/>
          <p:nvPr/>
        </p:nvSpPr>
        <p:spPr>
          <a:xfrm>
            <a:off x="5112096" y="1338183"/>
            <a:ext cx="19678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TCG</a:t>
            </a:r>
          </a:p>
        </p:txBody>
      </p:sp>
      <p:pic>
        <p:nvPicPr>
          <p:cNvPr id="21" name="그림 20" descr="스크린샷, PC 게임이(가) 표시된 사진&#10;&#10;자동 생성된 설명">
            <a:extLst>
              <a:ext uri="{FF2B5EF4-FFF2-40B4-BE49-F238E27FC236}">
                <a16:creationId xmlns:a16="http://schemas.microsoft.com/office/drawing/2014/main" id="{1815C190-B824-422D-F441-27CE6595A1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90"/>
          <a:stretch/>
        </p:blipFill>
        <p:spPr>
          <a:xfrm>
            <a:off x="3143590" y="2996940"/>
            <a:ext cx="3096430" cy="28137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0CFCC4-F255-B0CD-8686-5A2E39E5434C}"/>
              </a:ext>
            </a:extLst>
          </p:cNvPr>
          <p:cNvSpPr txBox="1"/>
          <p:nvPr/>
        </p:nvSpPr>
        <p:spPr>
          <a:xfrm>
            <a:off x="6240020" y="3635919"/>
            <a:ext cx="251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실시간 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PVP (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친선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 / 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랭크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)</a:t>
            </a:r>
            <a:endParaRPr lang="ko-KR" altLang="en-US" dirty="0">
              <a:solidFill>
                <a:schemeClr val="tx2">
                  <a:lumMod val="60000"/>
                  <a:lumOff val="40000"/>
                </a:schemeClr>
              </a:solidFill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0E6058-F237-F233-90A8-807588AFE357}"/>
              </a:ext>
            </a:extLst>
          </p:cNvPr>
          <p:cNvSpPr txBox="1"/>
          <p:nvPr/>
        </p:nvSpPr>
        <p:spPr>
          <a:xfrm>
            <a:off x="6240020" y="4034464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스토리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5933BB-C3A7-AB7A-1019-C7CE345FFDCD}"/>
              </a:ext>
            </a:extLst>
          </p:cNvPr>
          <p:cNvSpPr txBox="1"/>
          <p:nvPr/>
        </p:nvSpPr>
        <p:spPr>
          <a:xfrm>
            <a:off x="6241138" y="4850807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이벤트 모드</a:t>
            </a:r>
          </a:p>
        </p:txBody>
      </p:sp>
    </p:spTree>
    <p:extLst>
      <p:ext uri="{BB962C8B-B14F-4D97-AF65-F5344CB8AC3E}">
        <p14:creationId xmlns:p14="http://schemas.microsoft.com/office/powerpoint/2010/main" val="58358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04. </a:t>
            </a:r>
            <a:r>
              <a:rPr lang="ko-KR" altLang="en-US" dirty="0">
                <a:latin typeface="경기천년제목OTF Bold"/>
                <a:ea typeface="경기천년제목OTF Bold"/>
              </a:rPr>
              <a:t>소비층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소비층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0F9D3B-0A5F-C1FC-EB20-B3507580C79A}"/>
              </a:ext>
            </a:extLst>
          </p:cNvPr>
          <p:cNvSpPr txBox="1"/>
          <p:nvPr/>
        </p:nvSpPr>
        <p:spPr>
          <a:xfrm>
            <a:off x="1199388" y="2658812"/>
            <a:ext cx="741420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TCG </a:t>
            </a:r>
            <a:r>
              <a:rPr lang="ko-KR" altLang="en-US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장르를 즐겨하는 유저</a:t>
            </a:r>
            <a:endParaRPr lang="en-US" altLang="ko-KR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손가락이나 반응 속도 등 </a:t>
            </a:r>
            <a:r>
              <a:rPr lang="ko-KR" altLang="en-US" dirty="0" err="1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피지컬이</a:t>
            </a:r>
            <a:r>
              <a:rPr lang="ko-KR" altLang="en-US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 아닌 두뇌</a:t>
            </a:r>
            <a:r>
              <a:rPr lang="en-US" altLang="ko-KR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, </a:t>
            </a:r>
            <a:r>
              <a:rPr lang="ko-KR" altLang="en-US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퍼즐형 게임을 선호하는 유저</a:t>
            </a:r>
            <a:endParaRPr lang="en-US" altLang="ko-KR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>
              <a:latin typeface="경기천년바탕OTF Regular" panose="02020503020101020101" pitchFamily="18" charset="-127"/>
              <a:ea typeface="경기천년바탕OTF Regular" panose="020205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10~30</a:t>
            </a:r>
            <a:r>
              <a:rPr lang="ko-KR" altLang="en-US" dirty="0">
                <a:latin typeface="경기천년바탕OTF Regular" panose="02020503020101020101" pitchFamily="18" charset="-127"/>
                <a:ea typeface="경기천년바탕OTF Regular" panose="02020503020101020101" pitchFamily="18" charset="-127"/>
              </a:rPr>
              <a:t>대 남성</a:t>
            </a:r>
          </a:p>
        </p:txBody>
      </p:sp>
    </p:spTree>
    <p:extLst>
      <p:ext uri="{BB962C8B-B14F-4D97-AF65-F5344CB8AC3E}">
        <p14:creationId xmlns:p14="http://schemas.microsoft.com/office/powerpoint/2010/main" val="375718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04. </a:t>
            </a:r>
            <a:r>
              <a:rPr lang="ko-KR" altLang="en-US" dirty="0">
                <a:latin typeface="경기천년제목OTF Bold"/>
                <a:ea typeface="경기천년제목OTF Bold"/>
              </a:rPr>
              <a:t>소비층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플랫폼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35DA8D-9BC5-DE10-2058-F2D0B315570A}"/>
              </a:ext>
            </a:extLst>
          </p:cNvPr>
          <p:cNvSpPr txBox="1"/>
          <p:nvPr/>
        </p:nvSpPr>
        <p:spPr>
          <a:xfrm>
            <a:off x="2923097" y="3139352"/>
            <a:ext cx="1101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MOBILE</a:t>
            </a:r>
            <a:endParaRPr lang="ko-KR" altLang="en-US" dirty="0">
              <a:solidFill>
                <a:srgbClr val="4C88CC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68139-725D-2F7D-B00A-DDBA7473BEE1}"/>
              </a:ext>
            </a:extLst>
          </p:cNvPr>
          <p:cNvSpPr txBox="1"/>
          <p:nvPr/>
        </p:nvSpPr>
        <p:spPr>
          <a:xfrm>
            <a:off x="8634726" y="3139352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PC</a:t>
            </a:r>
            <a:endParaRPr lang="ko-KR" altLang="en-US" dirty="0">
              <a:solidFill>
                <a:srgbClr val="4C88CC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23" name="그림 22" descr="텍스트, 로고, 폰트, 그래픽이(가) 표시된 사진&#10;&#10;자동 생성된 설명">
            <a:extLst>
              <a:ext uri="{FF2B5EF4-FFF2-40B4-BE49-F238E27FC236}">
                <a16:creationId xmlns:a16="http://schemas.microsoft.com/office/drawing/2014/main" id="{7E435DF9-78DE-A019-3CC8-41113E0C0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764" y="1435564"/>
            <a:ext cx="2762250" cy="1657350"/>
          </a:xfrm>
          <a:prstGeom prst="rect">
            <a:avLst/>
          </a:prstGeom>
        </p:spPr>
      </p:pic>
      <p:pic>
        <p:nvPicPr>
          <p:cNvPr id="24" name="그림 23" descr="그래픽, 클립아트, 디자인이(가) 표시된 사진&#10;&#10;자동 생성된 설명">
            <a:extLst>
              <a:ext uri="{FF2B5EF4-FFF2-40B4-BE49-F238E27FC236}">
                <a16:creationId xmlns:a16="http://schemas.microsoft.com/office/drawing/2014/main" id="{51E35533-9F5E-DA54-9F07-095551E3B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88" y="1593725"/>
            <a:ext cx="3057525" cy="149542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8DF3F5E-9AC9-2D61-0397-936BD1844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996" y="4196877"/>
            <a:ext cx="7372008" cy="199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7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9388" y="360896"/>
            <a:ext cx="3384423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경기천년제목OTF Bold"/>
                <a:ea typeface="경기천년제목OTF Bold"/>
              </a:rPr>
              <a:t>05. BM</a:t>
            </a:r>
            <a:endParaRPr lang="ko-KR" altLang="en-US" dirty="0">
              <a:latin typeface="경기천년제목OTF Bold"/>
              <a:ea typeface="경기천년제목OTF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7378" y="637222"/>
            <a:ext cx="388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 dirty="0">
                <a:solidFill>
                  <a:srgbClr val="1A88FA"/>
                </a:solidFill>
                <a:latin typeface="경기천년제목OTF Bold"/>
                <a:ea typeface="경기천년제목OTF Bold"/>
              </a:rPr>
              <a:t>비즈니스 모델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495" y="360896"/>
            <a:ext cx="1075893" cy="10800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35DA8D-9BC5-DE10-2058-F2D0B315570A}"/>
              </a:ext>
            </a:extLst>
          </p:cNvPr>
          <p:cNvSpPr txBox="1"/>
          <p:nvPr/>
        </p:nvSpPr>
        <p:spPr>
          <a:xfrm>
            <a:off x="1908733" y="4628639"/>
            <a:ext cx="2313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주기적인 </a:t>
            </a:r>
            <a:r>
              <a:rPr lang="ko-KR" altLang="en-US" sz="2000" dirty="0" err="1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확장팩</a:t>
            </a:r>
            <a:r>
              <a:rPr lang="ko-KR" altLang="en-US" sz="2000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출시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68139-725D-2F7D-B00A-DDBA7473BEE1}"/>
              </a:ext>
            </a:extLst>
          </p:cNvPr>
          <p:cNvSpPr txBox="1"/>
          <p:nvPr/>
        </p:nvSpPr>
        <p:spPr>
          <a:xfrm>
            <a:off x="7692148" y="4628639"/>
            <a:ext cx="2909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게임 내외 악세서리 및 </a:t>
            </a:r>
            <a:r>
              <a:rPr lang="ko-KR" altLang="en-US" sz="2000" dirty="0" err="1">
                <a:solidFill>
                  <a:srgbClr val="4C88CC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굿즈</a:t>
            </a:r>
            <a:endParaRPr lang="ko-KR" altLang="en-US" dirty="0">
              <a:solidFill>
                <a:srgbClr val="4C88CC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2" name="그림 1" descr="PC 게임, 만화 영화, 스크린샷, 디지털 합성이(가) 표시된 사진&#10;&#10;자동 생성된 설명">
            <a:extLst>
              <a:ext uri="{FF2B5EF4-FFF2-40B4-BE49-F238E27FC236}">
                <a16:creationId xmlns:a16="http://schemas.microsoft.com/office/drawing/2014/main" id="{AE225F5C-CE24-5555-2EAE-A976B929DAF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340" y="2410151"/>
            <a:ext cx="3444240" cy="1940256"/>
          </a:xfrm>
          <a:prstGeom prst="rect">
            <a:avLst/>
          </a:prstGeom>
        </p:spPr>
      </p:pic>
      <p:pic>
        <p:nvPicPr>
          <p:cNvPr id="7" name="그림 6" descr="텍스트, 만화 영화, 그래픽 디자인, 가방이(가) 표시된 사진&#10;&#10;자동 생성된 설명">
            <a:extLst>
              <a:ext uri="{FF2B5EF4-FFF2-40B4-BE49-F238E27FC236}">
                <a16:creationId xmlns:a16="http://schemas.microsoft.com/office/drawing/2014/main" id="{3CCE5A49-AAE5-DB94-A3F6-AA1E7F0ADC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422" y="2389969"/>
            <a:ext cx="3485224" cy="19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9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01511" y="3645027"/>
            <a:ext cx="788977" cy="792059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0" y="125547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0" y="6669405"/>
            <a:ext cx="12192000" cy="0"/>
          </a:xfrm>
          <a:prstGeom prst="line">
            <a:avLst/>
          </a:prstGeom>
          <a:ln>
            <a:solidFill>
              <a:srgbClr val="1A8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3552" y="2578989"/>
            <a:ext cx="7164896" cy="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000" b="1">
                <a:solidFill>
                  <a:srgbClr val="1689F3"/>
                </a:solidFill>
                <a:latin typeface="경기천년바탕OTF Regular"/>
                <a:ea typeface="경기천년바탕OTF Regular"/>
              </a:rPr>
              <a:t>감사합니다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450">
        <p:fade/>
      </p:transition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311</Words>
  <Application>Microsoft Office PowerPoint</Application>
  <PresentationFormat>와이드스크린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6" baseType="lpstr">
      <vt:lpstr>경기천년제목 Medium</vt:lpstr>
      <vt:lpstr>Wingdings</vt:lpstr>
      <vt:lpstr>경기천년제목OTF Medium</vt:lpstr>
      <vt:lpstr>경기천년제목OTF Bold</vt:lpstr>
      <vt:lpstr>Arial</vt:lpstr>
      <vt:lpstr>경기천년제목 Light</vt:lpstr>
      <vt:lpstr>경기천년바탕OTF Regular</vt:lpstr>
      <vt:lpstr>경기천년바탕OTF Bold</vt:lpstr>
      <vt:lpstr>경기천년바탕 Bold</vt:lpstr>
      <vt:lpstr>함초롬돋움</vt:lpstr>
      <vt:lpstr>경기천년제목 Bold</vt:lpstr>
      <vt:lpstr>한컴오피스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임태리</dc:creator>
  <cp:lastModifiedBy>준석 송</cp:lastModifiedBy>
  <cp:revision>78</cp:revision>
  <dcterms:created xsi:type="dcterms:W3CDTF">2022-12-06T08:58:07Z</dcterms:created>
  <dcterms:modified xsi:type="dcterms:W3CDTF">2024-04-02T13:53:08Z</dcterms:modified>
  <cp:version>1000.0000.01</cp:version>
</cp:coreProperties>
</file>