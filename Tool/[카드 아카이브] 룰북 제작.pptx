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sldIdLst>
    <p:sldId id="257" r:id="rId2"/>
    <p:sldId id="259" r:id="rId3"/>
    <p:sldId id="256" r:id="rId4"/>
    <p:sldId id="258" r:id="rId5"/>
    <p:sldId id="260" r:id="rId6"/>
  </p:sldIdLst>
  <p:sldSz cx="6858000" cy="12192000"/>
  <p:notesSz cx="6858000" cy="9144000"/>
  <p:embeddedFontLst>
    <p:embeddedFont>
      <p:font typeface="페이퍼로지 5 Medium" pitchFamily="2" charset="-127"/>
      <p:regular r:id="rId7"/>
    </p:embeddedFont>
    <p:embeddedFont>
      <p:font typeface="페이퍼로지 7 Bold" pitchFamily="2" charset="-127"/>
      <p:bold r:id="rId8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2183" userDrawn="1">
          <p15:clr>
            <a:srgbClr val="A4A3A4"/>
          </p15:clr>
        </p15:guide>
        <p15:guide id="3" orient="horz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A45A8"/>
    <a:srgbClr val="FFB54E"/>
    <a:srgbClr val="FF7D7D"/>
    <a:srgbClr val="00B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300" autoAdjust="0"/>
    <p:restoredTop sz="94660"/>
  </p:normalViewPr>
  <p:slideViewPr>
    <p:cSldViewPr snapToGrid="0" showGuides="1">
      <p:cViewPr>
        <p:scale>
          <a:sx n="125" d="100"/>
          <a:sy n="125" d="100"/>
        </p:scale>
        <p:origin x="4356" y="-294"/>
      </p:cViewPr>
      <p:guideLst>
        <p:guide pos="2183"/>
        <p:guide orient="horz"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 descr="구름, 하늘, 야외, 물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B16C2C4-75D3-D494-FBE1-4234DAFD408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46"/>
          <a:stretch>
            <a:fillRect/>
          </a:stretch>
        </p:blipFill>
        <p:spPr>
          <a:xfrm>
            <a:off x="0" y="0"/>
            <a:ext cx="6858000" cy="12192000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B88391A3-9943-A8A5-5D7D-4555D05F8252}"/>
              </a:ext>
            </a:extLst>
          </p:cNvPr>
          <p:cNvSpPr/>
          <p:nvPr userDrawn="1"/>
        </p:nvSpPr>
        <p:spPr>
          <a:xfrm>
            <a:off x="0" y="0"/>
            <a:ext cx="6858000" cy="12192000"/>
          </a:xfrm>
          <a:prstGeom prst="rect">
            <a:avLst/>
          </a:prstGeom>
          <a:solidFill>
            <a:schemeClr val="bg1">
              <a:lumMod val="95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12706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840" userDrawn="1">
          <p15:clr>
            <a:srgbClr val="FBAE40"/>
          </p15:clr>
        </p15:guide>
        <p15:guide id="2" pos="216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649114"/>
            <a:ext cx="5915025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3245556"/>
            <a:ext cx="5915025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8ECEA33-19DE-4FE3-84C1-7D0E8F4A6041}" type="datetimeFigureOut">
              <a:rPr lang="ko-KR" altLang="en-US" smtClean="0"/>
              <a:t>2025-09-28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11300181"/>
            <a:ext cx="231457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216FD8-E177-4349-8CA8-D53D3042828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39193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3F0B8E88-152D-1CF3-35EE-3FD6FDB9BA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0A03F9DA-B18A-7AD7-CA47-527990F65E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075" y="167800"/>
            <a:ext cx="6419850" cy="238125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5C26909-0360-D06E-B45E-141B30278B9D}"/>
              </a:ext>
            </a:extLst>
          </p:cNvPr>
          <p:cNvSpPr txBox="1"/>
          <p:nvPr/>
        </p:nvSpPr>
        <p:spPr>
          <a:xfrm>
            <a:off x="2590800" y="0"/>
            <a:ext cx="42672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50" dirty="0"/>
              <a:t>*</a:t>
            </a:r>
            <a:r>
              <a:rPr lang="ko-KR" altLang="en-US" sz="1050" dirty="0"/>
              <a:t>본 </a:t>
            </a:r>
            <a:r>
              <a:rPr lang="ko-KR" altLang="en-US" sz="1050" dirty="0" err="1"/>
              <a:t>룰북과</a:t>
            </a:r>
            <a:r>
              <a:rPr lang="ko-KR" altLang="en-US" sz="1050" dirty="0"/>
              <a:t> 게임은 블루 아카이브의 </a:t>
            </a:r>
            <a:r>
              <a:rPr lang="en-US" altLang="ko-KR" sz="1050" dirty="0"/>
              <a:t>2</a:t>
            </a:r>
            <a:r>
              <a:rPr lang="ko-KR" altLang="en-US" sz="1050" dirty="0"/>
              <a:t>차 창작 </a:t>
            </a:r>
            <a:r>
              <a:rPr lang="ko-KR" altLang="en-US" sz="1050" dirty="0" err="1"/>
              <a:t>팬메이드</a:t>
            </a:r>
            <a:r>
              <a:rPr lang="ko-KR" altLang="en-US" sz="1050" dirty="0"/>
              <a:t> 작품입니다</a:t>
            </a:r>
            <a:r>
              <a:rPr lang="en-US" altLang="ko-KR" sz="1050" dirty="0"/>
              <a:t>.</a:t>
            </a:r>
            <a:endParaRPr lang="ko-KR" altLang="en-US" sz="105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A9063E-8AEC-25C4-5CDE-7DBC258CE2B4}"/>
              </a:ext>
            </a:extLst>
          </p:cNvPr>
          <p:cNvSpPr txBox="1"/>
          <p:nvPr/>
        </p:nvSpPr>
        <p:spPr>
          <a:xfrm>
            <a:off x="765628" y="3207657"/>
            <a:ext cx="5326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게임 소개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D39DB19-84BE-989A-51E6-10234B9E8E26}"/>
              </a:ext>
            </a:extLst>
          </p:cNvPr>
          <p:cNvSpPr txBox="1"/>
          <p:nvPr/>
        </p:nvSpPr>
        <p:spPr>
          <a:xfrm>
            <a:off x="522514" y="4005943"/>
            <a:ext cx="59653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이 게임은 </a:t>
            </a:r>
            <a:r>
              <a:rPr lang="ko-KR" altLang="en-US" dirty="0" err="1"/>
              <a:t>블루아카이브</a:t>
            </a:r>
            <a:r>
              <a:rPr lang="ko-KR" altLang="en-US" dirty="0"/>
              <a:t> </a:t>
            </a:r>
            <a:r>
              <a:rPr lang="en-US" altLang="ko-KR" dirty="0"/>
              <a:t>2</a:t>
            </a:r>
            <a:r>
              <a:rPr lang="ko-KR" altLang="en-US" dirty="0"/>
              <a:t>차 창작물인 </a:t>
            </a:r>
            <a:r>
              <a:rPr lang="en-US" altLang="ko-KR" dirty="0"/>
              <a:t>[</a:t>
            </a:r>
            <a:r>
              <a:rPr lang="ko-KR" altLang="en-US" dirty="0"/>
              <a:t>카드 아카이브</a:t>
            </a:r>
            <a:r>
              <a:rPr lang="en-US" altLang="ko-KR" dirty="0"/>
              <a:t>]</a:t>
            </a:r>
            <a:r>
              <a:rPr lang="ko-KR" altLang="en-US" dirty="0"/>
              <a:t> 입니다</a:t>
            </a:r>
            <a:r>
              <a:rPr lang="en-US" altLang="ko-KR" dirty="0"/>
              <a:t>.</a:t>
            </a:r>
          </a:p>
          <a:p>
            <a:pPr algn="ctr"/>
            <a:endParaRPr lang="ko-KR" alt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82436042-3F66-C497-C152-C1053DA09D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445327" y="5081228"/>
            <a:ext cx="12225789" cy="6858000"/>
          </a:xfrm>
          <a:prstGeom prst="rect">
            <a:avLst/>
          </a:prstGeom>
        </p:spPr>
      </p:pic>
      <p:grpSp>
        <p:nvGrpSpPr>
          <p:cNvPr id="2" name="그룹 1">
            <a:extLst>
              <a:ext uri="{FF2B5EF4-FFF2-40B4-BE49-F238E27FC236}">
                <a16:creationId xmlns:a16="http://schemas.microsoft.com/office/drawing/2014/main" id="{2E5B8C8A-CF6A-3627-419D-C6201003FDC3}"/>
              </a:ext>
            </a:extLst>
          </p:cNvPr>
          <p:cNvGrpSpPr/>
          <p:nvPr/>
        </p:nvGrpSpPr>
        <p:grpSpPr>
          <a:xfrm>
            <a:off x="9510772" y="827528"/>
            <a:ext cx="5912185" cy="2380129"/>
            <a:chOff x="472908" y="7675983"/>
            <a:chExt cx="5912185" cy="2380129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78689E13-11BC-B265-F9AA-F8FB3AA323D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2908" y="7681313"/>
              <a:ext cx="1477969" cy="2071919"/>
            </a:xfrm>
            <a:prstGeom prst="rect">
              <a:avLst/>
            </a:prstGeom>
          </p:spPr>
        </p:pic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F4D5734A-9303-18CB-8A9B-10D769EFB56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50877" y="7675983"/>
              <a:ext cx="1478278" cy="2072352"/>
            </a:xfrm>
            <a:prstGeom prst="rect">
              <a:avLst/>
            </a:prstGeom>
          </p:spPr>
        </p:pic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EE91C666-5DE1-8CE3-2EBF-424F8582B7F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06815" y="7675983"/>
              <a:ext cx="1478278" cy="2072352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79C1CD7-A758-8B86-8F09-B5985040E344}"/>
                </a:ext>
              </a:extLst>
            </p:cNvPr>
            <p:cNvSpPr txBox="1"/>
            <p:nvPr/>
          </p:nvSpPr>
          <p:spPr>
            <a:xfrm>
              <a:off x="644311" y="9748335"/>
              <a:ext cx="113516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dirty="0">
                  <a:latin typeface="+mj-ea"/>
                  <a:ea typeface="+mj-ea"/>
                </a:rPr>
                <a:t>[</a:t>
              </a:r>
              <a:r>
                <a:rPr lang="ko-KR" altLang="en-US" sz="1400" dirty="0">
                  <a:latin typeface="+mj-ea"/>
                  <a:ea typeface="+mj-ea"/>
                </a:rPr>
                <a:t>학생 카드</a:t>
              </a:r>
              <a:r>
                <a:rPr lang="en-US" altLang="ko-KR" sz="1400" dirty="0">
                  <a:latin typeface="+mj-ea"/>
                  <a:ea typeface="+mj-ea"/>
                </a:rPr>
                <a:t>]</a:t>
              </a:r>
              <a:endParaRPr lang="ko-KR" altLang="en-US" sz="1400" dirty="0">
                <a:latin typeface="+mj-ea"/>
                <a:ea typeface="+mj-ea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172294AD-500C-78CA-076A-3C081A96FE3C}"/>
                </a:ext>
              </a:extLst>
            </p:cNvPr>
            <p:cNvSpPr txBox="1"/>
            <p:nvPr/>
          </p:nvSpPr>
          <p:spPr>
            <a:xfrm>
              <a:off x="2121971" y="9734087"/>
              <a:ext cx="113516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dirty="0">
                  <a:latin typeface="+mj-ea"/>
                  <a:ea typeface="+mj-ea"/>
                </a:rPr>
                <a:t>[</a:t>
              </a:r>
              <a:r>
                <a:rPr lang="ko-KR" altLang="en-US" sz="1400" dirty="0" err="1">
                  <a:latin typeface="+mj-ea"/>
                  <a:ea typeface="+mj-ea"/>
                </a:rPr>
                <a:t>비학생</a:t>
              </a:r>
              <a:r>
                <a:rPr lang="ko-KR" altLang="en-US" sz="1400" dirty="0">
                  <a:latin typeface="+mj-ea"/>
                  <a:ea typeface="+mj-ea"/>
                </a:rPr>
                <a:t> 카드</a:t>
              </a:r>
              <a:r>
                <a:rPr lang="en-US" altLang="ko-KR" sz="1400" dirty="0">
                  <a:latin typeface="+mj-ea"/>
                  <a:ea typeface="+mj-ea"/>
                </a:rPr>
                <a:t>]</a:t>
              </a:r>
              <a:endParaRPr lang="ko-KR" altLang="en-US" sz="1400" dirty="0">
                <a:latin typeface="+mj-ea"/>
                <a:ea typeface="+mj-ea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5EFDC9C-3DE3-23A5-14CF-444A09DEA234}"/>
                </a:ext>
              </a:extLst>
            </p:cNvPr>
            <p:cNvSpPr txBox="1"/>
            <p:nvPr/>
          </p:nvSpPr>
          <p:spPr>
            <a:xfrm>
              <a:off x="3599631" y="9748335"/>
              <a:ext cx="113516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dirty="0">
                  <a:latin typeface="+mj-ea"/>
                  <a:ea typeface="+mj-ea"/>
                </a:rPr>
                <a:t>[</a:t>
              </a:r>
              <a:r>
                <a:rPr lang="ko-KR" altLang="en-US" sz="1400" dirty="0">
                  <a:latin typeface="+mj-ea"/>
                  <a:ea typeface="+mj-ea"/>
                </a:rPr>
                <a:t>장소 카드</a:t>
              </a:r>
              <a:r>
                <a:rPr lang="en-US" altLang="ko-KR" sz="1400" dirty="0">
                  <a:latin typeface="+mj-ea"/>
                  <a:ea typeface="+mj-ea"/>
                </a:rPr>
                <a:t>]</a:t>
              </a:r>
              <a:endParaRPr lang="ko-KR" altLang="en-US" sz="1400" dirty="0">
                <a:latin typeface="+mj-ea"/>
                <a:ea typeface="+mj-ea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BAB88BCF-A55E-C3BB-4708-B76D11B1549D}"/>
                </a:ext>
              </a:extLst>
            </p:cNvPr>
            <p:cNvSpPr txBox="1"/>
            <p:nvPr/>
          </p:nvSpPr>
          <p:spPr>
            <a:xfrm>
              <a:off x="5078372" y="9734086"/>
              <a:ext cx="113516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dirty="0">
                  <a:latin typeface="+mj-ea"/>
                  <a:ea typeface="+mj-ea"/>
                </a:rPr>
                <a:t>[</a:t>
              </a:r>
              <a:r>
                <a:rPr lang="ko-KR" altLang="en-US" sz="1400" dirty="0">
                  <a:latin typeface="+mj-ea"/>
                  <a:ea typeface="+mj-ea"/>
                </a:rPr>
                <a:t>이벤트 카드</a:t>
              </a:r>
              <a:r>
                <a:rPr lang="en-US" altLang="ko-KR" sz="1400" dirty="0">
                  <a:latin typeface="+mj-ea"/>
                  <a:ea typeface="+mj-ea"/>
                </a:rPr>
                <a:t>]</a:t>
              </a:r>
              <a:endParaRPr lang="ko-KR" altLang="en-US" sz="1400" dirty="0">
                <a:latin typeface="+mj-ea"/>
                <a:ea typeface="+mj-ea"/>
              </a:endParaRPr>
            </a:p>
          </p:txBody>
        </p:sp>
        <p:pic>
          <p:nvPicPr>
            <p:cNvPr id="15" name="그림 14">
              <a:extLst>
                <a:ext uri="{FF2B5EF4-FFF2-40B4-BE49-F238E27FC236}">
                  <a16:creationId xmlns:a16="http://schemas.microsoft.com/office/drawing/2014/main" id="{06AE6895-3D09-4D36-2077-B326383A0E6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28074" y="7694701"/>
              <a:ext cx="1478278" cy="2072352"/>
            </a:xfrm>
            <a:prstGeom prst="rect">
              <a:avLst/>
            </a:prstGeom>
          </p:spPr>
        </p:pic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2E7EB2F5-28D7-11C3-5711-488F8FFC3853}"/>
              </a:ext>
            </a:extLst>
          </p:cNvPr>
          <p:cNvGrpSpPr/>
          <p:nvPr/>
        </p:nvGrpSpPr>
        <p:grpSpPr>
          <a:xfrm>
            <a:off x="9387390" y="3705012"/>
            <a:ext cx="3308346" cy="2585092"/>
            <a:chOff x="184957" y="5302178"/>
            <a:chExt cx="3308346" cy="2585092"/>
          </a:xfrm>
        </p:grpSpPr>
        <p:pic>
          <p:nvPicPr>
            <p:cNvPr id="17" name="그림 16" descr="만화 영화, 텍스트, 아니메, 인간의 얼굴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D7E850D2-444E-DCF4-3D64-69C601C05F7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94471" y="5743822"/>
              <a:ext cx="1296329" cy="2044363"/>
            </a:xfrm>
            <a:prstGeom prst="rect">
              <a:avLst/>
            </a:prstGeom>
          </p:spPr>
        </p:pic>
        <p:pic>
          <p:nvPicPr>
            <p:cNvPr id="18" name="그림 17" descr="만화 영화, 텍스트, 아니메, 인간의 얼굴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2CD3ABCA-5A87-E48C-C9BA-F5C1B22EDC6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76288" b="83733"/>
            <a:stretch>
              <a:fillRect/>
            </a:stretch>
          </p:blipFill>
          <p:spPr>
            <a:xfrm>
              <a:off x="407728" y="5302178"/>
              <a:ext cx="532668" cy="576313"/>
            </a:xfrm>
            <a:prstGeom prst="rect">
              <a:avLst/>
            </a:prstGeom>
            <a:ln>
              <a:solidFill>
                <a:srgbClr val="FF0000"/>
              </a:solidFill>
            </a:ln>
          </p:spPr>
        </p:pic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3FD6FC64-6AA4-D6FC-C715-8C56A8131DD6}"/>
                </a:ext>
              </a:extLst>
            </p:cNvPr>
            <p:cNvSpPr/>
            <p:nvPr/>
          </p:nvSpPr>
          <p:spPr>
            <a:xfrm>
              <a:off x="1312069" y="5771110"/>
              <a:ext cx="273844" cy="30266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20" name="연결선: 꺾임 19">
              <a:extLst>
                <a:ext uri="{FF2B5EF4-FFF2-40B4-BE49-F238E27FC236}">
                  <a16:creationId xmlns:a16="http://schemas.microsoft.com/office/drawing/2014/main" id="{1CE10ABC-DD83-78AF-C102-C43C79DD585B}"/>
                </a:ext>
              </a:extLst>
            </p:cNvPr>
            <p:cNvCxnSpPr>
              <a:cxnSpLocks/>
              <a:stCxn id="19" idx="1"/>
              <a:endCxn id="18" idx="3"/>
            </p:cNvCxnSpPr>
            <p:nvPr/>
          </p:nvCxnSpPr>
          <p:spPr>
            <a:xfrm rot="10800000">
              <a:off x="940397" y="5590335"/>
              <a:ext cx="371673" cy="332108"/>
            </a:xfrm>
            <a:prstGeom prst="bentConnector3">
              <a:avLst>
                <a:gd name="adj1" fmla="val 50000"/>
              </a:avLst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16E3BE7D-2560-E86B-8781-201483F556C9}"/>
                </a:ext>
              </a:extLst>
            </p:cNvPr>
            <p:cNvSpPr txBox="1"/>
            <p:nvPr/>
          </p:nvSpPr>
          <p:spPr>
            <a:xfrm>
              <a:off x="226754" y="5879533"/>
              <a:ext cx="91916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dirty="0"/>
                <a:t>*</a:t>
              </a:r>
              <a:r>
                <a:rPr lang="ko-KR" altLang="en-US" sz="800" dirty="0"/>
                <a:t>필요 </a:t>
              </a:r>
              <a:r>
                <a:rPr lang="ko-KR" altLang="en-US" sz="800" dirty="0" err="1"/>
                <a:t>청휘석</a:t>
              </a:r>
              <a:r>
                <a:rPr lang="ko-KR" altLang="en-US" sz="800" dirty="0"/>
                <a:t> </a:t>
              </a:r>
              <a:r>
                <a:rPr lang="ko-KR" altLang="en-US" sz="800" dirty="0" err="1"/>
                <a:t>갯수</a:t>
              </a:r>
              <a:endParaRPr lang="ko-KR" altLang="en-US" sz="800" dirty="0"/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ED49163A-80BC-D421-43B7-5F8A92E22CF2}"/>
                </a:ext>
              </a:extLst>
            </p:cNvPr>
            <p:cNvSpPr/>
            <p:nvPr/>
          </p:nvSpPr>
          <p:spPr>
            <a:xfrm>
              <a:off x="1585913" y="5857354"/>
              <a:ext cx="842963" cy="130175"/>
            </a:xfrm>
            <a:prstGeom prst="rect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23" name="그림 22" descr="만화 영화, 텍스트, 아니메, 인간의 얼굴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A2ABEA08-C941-D997-567D-A32BB25EA5E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762" t="5142" r="10673" b="86877"/>
            <a:stretch>
              <a:fillRect/>
            </a:stretch>
          </p:blipFill>
          <p:spPr>
            <a:xfrm>
              <a:off x="1717798" y="5392904"/>
              <a:ext cx="1231472" cy="226104"/>
            </a:xfrm>
            <a:prstGeom prst="rect">
              <a:avLst/>
            </a:prstGeom>
            <a:ln>
              <a:solidFill>
                <a:srgbClr val="00B050"/>
              </a:solidFill>
            </a:ln>
          </p:spPr>
        </p:pic>
        <p:cxnSp>
          <p:nvCxnSpPr>
            <p:cNvPr id="24" name="연결선: 꺾임 23">
              <a:extLst>
                <a:ext uri="{FF2B5EF4-FFF2-40B4-BE49-F238E27FC236}">
                  <a16:creationId xmlns:a16="http://schemas.microsoft.com/office/drawing/2014/main" id="{80BA9197-012E-371A-10C8-EED12ECC1CCF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1776349" y="5682268"/>
              <a:ext cx="238346" cy="111826"/>
            </a:xfrm>
            <a:prstGeom prst="bentConnector3">
              <a:avLst/>
            </a:prstGeom>
            <a:ln>
              <a:solidFill>
                <a:srgbClr val="00B05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DDBA35E9-C6BB-214A-6B2C-1BF0E5E5E04C}"/>
                </a:ext>
              </a:extLst>
            </p:cNvPr>
            <p:cNvSpPr txBox="1"/>
            <p:nvPr/>
          </p:nvSpPr>
          <p:spPr>
            <a:xfrm>
              <a:off x="2025712" y="5599276"/>
              <a:ext cx="91916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dirty="0"/>
                <a:t>*</a:t>
              </a:r>
              <a:r>
                <a:rPr lang="ko-KR" altLang="en-US" sz="800" dirty="0"/>
                <a:t>카드 이름</a:t>
              </a:r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3E05242D-468A-BA0C-C745-85B447EFAFD6}"/>
                </a:ext>
              </a:extLst>
            </p:cNvPr>
            <p:cNvSpPr/>
            <p:nvPr/>
          </p:nvSpPr>
          <p:spPr>
            <a:xfrm>
              <a:off x="1390652" y="6790498"/>
              <a:ext cx="195262" cy="194718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pic>
          <p:nvPicPr>
            <p:cNvPr id="27" name="그림 26" descr="만화 영화, 텍스트, 아니메, 인간의 얼굴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C4E4429B-4D9F-BF2F-DBB0-DDCCC710899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983" t="49888" r="76288" b="37333"/>
            <a:stretch>
              <a:fillRect/>
            </a:stretch>
          </p:blipFill>
          <p:spPr>
            <a:xfrm>
              <a:off x="438149" y="6294124"/>
              <a:ext cx="476041" cy="573492"/>
            </a:xfrm>
            <a:prstGeom prst="rect">
              <a:avLst/>
            </a:prstGeom>
            <a:ln>
              <a:solidFill>
                <a:srgbClr val="FF0000"/>
              </a:solidFill>
            </a:ln>
          </p:spPr>
        </p:pic>
        <p:cxnSp>
          <p:nvCxnSpPr>
            <p:cNvPr id="28" name="연결선: 꺾임 27">
              <a:extLst>
                <a:ext uri="{FF2B5EF4-FFF2-40B4-BE49-F238E27FC236}">
                  <a16:creationId xmlns:a16="http://schemas.microsoft.com/office/drawing/2014/main" id="{2015A20B-DB3C-CB14-814D-2F9C62777943}"/>
                </a:ext>
              </a:extLst>
            </p:cNvPr>
            <p:cNvCxnSpPr>
              <a:stCxn id="26" idx="1"/>
              <a:endCxn id="27" idx="3"/>
            </p:cNvCxnSpPr>
            <p:nvPr/>
          </p:nvCxnSpPr>
          <p:spPr>
            <a:xfrm rot="10800000">
              <a:off x="914190" y="6580871"/>
              <a:ext cx="476462" cy="306987"/>
            </a:xfrm>
            <a:prstGeom prst="bentConnector3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F0F54CAE-DC35-F82F-8ADF-5FF181CB386F}"/>
                </a:ext>
              </a:extLst>
            </p:cNvPr>
            <p:cNvSpPr txBox="1"/>
            <p:nvPr/>
          </p:nvSpPr>
          <p:spPr>
            <a:xfrm>
              <a:off x="184957" y="6867616"/>
              <a:ext cx="91916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dirty="0"/>
                <a:t>*</a:t>
              </a:r>
              <a:r>
                <a:rPr lang="ko-KR" altLang="en-US" sz="800" dirty="0"/>
                <a:t>카드 종류</a:t>
              </a:r>
            </a:p>
          </p:txBody>
        </p:sp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68DAD91B-D896-3BEB-1A7C-F5158C551A7F}"/>
                </a:ext>
              </a:extLst>
            </p:cNvPr>
            <p:cNvSpPr/>
            <p:nvPr/>
          </p:nvSpPr>
          <p:spPr>
            <a:xfrm>
              <a:off x="1607345" y="6853238"/>
              <a:ext cx="195262" cy="130175"/>
            </a:xfrm>
            <a:prstGeom prst="rect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31" name="그림 30" descr="만화 영화, 텍스트, 아니메, 인간의 얼굴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606B7961-554E-EC08-63C5-C2A37782D32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3392" t="54428" r="59879" b="38842"/>
            <a:stretch>
              <a:fillRect/>
            </a:stretch>
          </p:blipFill>
          <p:spPr>
            <a:xfrm>
              <a:off x="2641425" y="6348461"/>
              <a:ext cx="476041" cy="301994"/>
            </a:xfrm>
            <a:prstGeom prst="rect">
              <a:avLst/>
            </a:prstGeom>
            <a:ln>
              <a:solidFill>
                <a:srgbClr val="00B050"/>
              </a:solidFill>
            </a:ln>
          </p:spPr>
        </p:pic>
        <p:cxnSp>
          <p:nvCxnSpPr>
            <p:cNvPr id="32" name="연결선: 꺾임 31">
              <a:extLst>
                <a:ext uri="{FF2B5EF4-FFF2-40B4-BE49-F238E27FC236}">
                  <a16:creationId xmlns:a16="http://schemas.microsoft.com/office/drawing/2014/main" id="{E7B74CAB-9408-F293-FCD5-B4199C3C446E}"/>
                </a:ext>
              </a:extLst>
            </p:cNvPr>
            <p:cNvCxnSpPr>
              <a:cxnSpLocks/>
              <a:stCxn id="30" idx="0"/>
              <a:endCxn id="31" idx="2"/>
            </p:cNvCxnSpPr>
            <p:nvPr/>
          </p:nvCxnSpPr>
          <p:spPr>
            <a:xfrm rot="5400000" flipH="1" flipV="1">
              <a:off x="2190820" y="6164612"/>
              <a:ext cx="202783" cy="1174470"/>
            </a:xfrm>
            <a:prstGeom prst="bentConnector3">
              <a:avLst>
                <a:gd name="adj1" fmla="val 50000"/>
              </a:avLst>
            </a:prstGeom>
            <a:ln>
              <a:solidFill>
                <a:srgbClr val="00B05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C023A721-32AF-9D2D-3011-889D9C2CCF8D}"/>
                </a:ext>
              </a:extLst>
            </p:cNvPr>
            <p:cNvSpPr txBox="1"/>
            <p:nvPr/>
          </p:nvSpPr>
          <p:spPr>
            <a:xfrm>
              <a:off x="2574140" y="6141417"/>
              <a:ext cx="91916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dirty="0"/>
                <a:t>*</a:t>
              </a:r>
              <a:r>
                <a:rPr lang="ko-KR" altLang="en-US" sz="800" dirty="0"/>
                <a:t>공격 사거리</a:t>
              </a:r>
              <a:r>
                <a:rPr lang="en-US" altLang="ko-KR" sz="800" dirty="0"/>
                <a:t>[</a:t>
              </a:r>
              <a:r>
                <a:rPr lang="ko-KR" altLang="en-US" sz="800" dirty="0"/>
                <a:t>칸수</a:t>
              </a:r>
              <a:r>
                <a:rPr lang="en-US" altLang="ko-KR" sz="800" dirty="0"/>
                <a:t>]</a:t>
              </a:r>
              <a:endParaRPr lang="ko-KR" altLang="en-US" sz="800" dirty="0"/>
            </a:p>
          </p:txBody>
        </p:sp>
        <p:sp>
          <p:nvSpPr>
            <p:cNvPr id="34" name="직사각형 33">
              <a:extLst>
                <a:ext uri="{FF2B5EF4-FFF2-40B4-BE49-F238E27FC236}">
                  <a16:creationId xmlns:a16="http://schemas.microsoft.com/office/drawing/2014/main" id="{AB04D519-00F6-46D0-2F6F-D623B8FE2E0F}"/>
                </a:ext>
              </a:extLst>
            </p:cNvPr>
            <p:cNvSpPr/>
            <p:nvPr/>
          </p:nvSpPr>
          <p:spPr>
            <a:xfrm>
              <a:off x="1409701" y="7427926"/>
              <a:ext cx="195262" cy="252298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4BABBBCF-0DAE-392B-567B-026BB8DE8EB3}"/>
                </a:ext>
              </a:extLst>
            </p:cNvPr>
            <p:cNvSpPr/>
            <p:nvPr/>
          </p:nvSpPr>
          <p:spPr>
            <a:xfrm>
              <a:off x="2236042" y="7412153"/>
              <a:ext cx="240458" cy="252298"/>
            </a:xfrm>
            <a:prstGeom prst="rect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36" name="그림 35" descr="만화 영화, 텍스트, 아니메, 인간의 얼굴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8C1873CC-A246-5300-9E2D-CAD50FBC669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150" t="82055" r="76121" b="5166"/>
            <a:stretch>
              <a:fillRect/>
            </a:stretch>
          </p:blipFill>
          <p:spPr>
            <a:xfrm>
              <a:off x="439403" y="7101966"/>
              <a:ext cx="476041" cy="573492"/>
            </a:xfrm>
            <a:prstGeom prst="rect">
              <a:avLst/>
            </a:prstGeom>
            <a:ln>
              <a:solidFill>
                <a:srgbClr val="FF0000"/>
              </a:solidFill>
            </a:ln>
          </p:spPr>
        </p:pic>
        <p:cxnSp>
          <p:nvCxnSpPr>
            <p:cNvPr id="37" name="연결선: 꺾임 36">
              <a:extLst>
                <a:ext uri="{FF2B5EF4-FFF2-40B4-BE49-F238E27FC236}">
                  <a16:creationId xmlns:a16="http://schemas.microsoft.com/office/drawing/2014/main" id="{6820B86A-C866-CE27-6A1E-2FB24746EF72}"/>
                </a:ext>
              </a:extLst>
            </p:cNvPr>
            <p:cNvCxnSpPr>
              <a:cxnSpLocks/>
              <a:stCxn id="34" idx="1"/>
              <a:endCxn id="36" idx="3"/>
            </p:cNvCxnSpPr>
            <p:nvPr/>
          </p:nvCxnSpPr>
          <p:spPr>
            <a:xfrm rot="10800000">
              <a:off x="915445" y="7388713"/>
              <a:ext cx="494257" cy="165363"/>
            </a:xfrm>
            <a:prstGeom prst="bentConnector3">
              <a:avLst>
                <a:gd name="adj1" fmla="val 50000"/>
              </a:avLst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4E582B7C-710A-63FE-7BE3-2369F87B4BCD}"/>
                </a:ext>
              </a:extLst>
            </p:cNvPr>
            <p:cNvSpPr txBox="1"/>
            <p:nvPr/>
          </p:nvSpPr>
          <p:spPr>
            <a:xfrm>
              <a:off x="203810" y="7671826"/>
              <a:ext cx="91916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dirty="0"/>
                <a:t>*</a:t>
              </a:r>
              <a:r>
                <a:rPr lang="ko-KR" altLang="en-US" sz="800" dirty="0"/>
                <a:t>카드 공격력</a:t>
              </a:r>
            </a:p>
          </p:txBody>
        </p:sp>
        <p:cxnSp>
          <p:nvCxnSpPr>
            <p:cNvPr id="39" name="연결선: 꺾임 38">
              <a:extLst>
                <a:ext uri="{FF2B5EF4-FFF2-40B4-BE49-F238E27FC236}">
                  <a16:creationId xmlns:a16="http://schemas.microsoft.com/office/drawing/2014/main" id="{30CBB750-858B-F360-5E82-9FDCCB77C3F5}"/>
                </a:ext>
              </a:extLst>
            </p:cNvPr>
            <p:cNvCxnSpPr>
              <a:cxnSpLocks/>
              <a:stCxn id="35" idx="3"/>
              <a:endCxn id="40" idx="1"/>
            </p:cNvCxnSpPr>
            <p:nvPr/>
          </p:nvCxnSpPr>
          <p:spPr>
            <a:xfrm flipV="1">
              <a:off x="2476500" y="7186669"/>
              <a:ext cx="164925" cy="351633"/>
            </a:xfrm>
            <a:prstGeom prst="bentConnector3">
              <a:avLst>
                <a:gd name="adj1" fmla="val 50000"/>
              </a:avLst>
            </a:prstGeom>
            <a:ln>
              <a:solidFill>
                <a:srgbClr val="00B05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40" name="그림 39" descr="만화 영화, 텍스트, 아니메, 인간의 얼굴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801E54D5-DC89-1221-4FB1-BB0F5064827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2503" t="81588" r="9262" b="5631"/>
            <a:stretch>
              <a:fillRect/>
            </a:stretch>
          </p:blipFill>
          <p:spPr>
            <a:xfrm>
              <a:off x="2641425" y="6899923"/>
              <a:ext cx="518895" cy="573491"/>
            </a:xfrm>
            <a:prstGeom prst="rect">
              <a:avLst/>
            </a:prstGeom>
            <a:ln>
              <a:solidFill>
                <a:srgbClr val="00B050"/>
              </a:solidFill>
            </a:ln>
          </p:spPr>
        </p:pic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5E59721F-9F6C-1C5D-4679-68E2C6CBD791}"/>
                </a:ext>
              </a:extLst>
            </p:cNvPr>
            <p:cNvSpPr txBox="1"/>
            <p:nvPr/>
          </p:nvSpPr>
          <p:spPr>
            <a:xfrm>
              <a:off x="2433040" y="7476803"/>
              <a:ext cx="91916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dirty="0"/>
                <a:t>*</a:t>
              </a:r>
              <a:r>
                <a:rPr lang="ko-KR" altLang="en-US" sz="800" dirty="0"/>
                <a:t>카드 </a:t>
              </a:r>
              <a:r>
                <a:rPr lang="en-US" altLang="ko-KR" sz="800" dirty="0"/>
                <a:t>HP</a:t>
              </a:r>
              <a:endParaRPr lang="ko-KR" altLang="en-US" sz="800" dirty="0"/>
            </a:p>
          </p:txBody>
        </p:sp>
      </p:grpSp>
      <p:grpSp>
        <p:nvGrpSpPr>
          <p:cNvPr id="63" name="그룹 62">
            <a:extLst>
              <a:ext uri="{FF2B5EF4-FFF2-40B4-BE49-F238E27FC236}">
                <a16:creationId xmlns:a16="http://schemas.microsoft.com/office/drawing/2014/main" id="{D307BA76-46C7-20F1-5885-8E08C93D785C}"/>
              </a:ext>
            </a:extLst>
          </p:cNvPr>
          <p:cNvGrpSpPr/>
          <p:nvPr/>
        </p:nvGrpSpPr>
        <p:grpSpPr>
          <a:xfrm>
            <a:off x="8612024" y="6840045"/>
            <a:ext cx="7365950" cy="4366634"/>
            <a:chOff x="-240888" y="6113017"/>
            <a:chExt cx="7365950" cy="4366634"/>
          </a:xfrm>
        </p:grpSpPr>
        <p:grpSp>
          <p:nvGrpSpPr>
            <p:cNvPr id="64" name="그룹 63">
              <a:extLst>
                <a:ext uri="{FF2B5EF4-FFF2-40B4-BE49-F238E27FC236}">
                  <a16:creationId xmlns:a16="http://schemas.microsoft.com/office/drawing/2014/main" id="{F14E0B7F-30CD-5105-3FBD-FDE81259DB3A}"/>
                </a:ext>
              </a:extLst>
            </p:cNvPr>
            <p:cNvGrpSpPr/>
            <p:nvPr/>
          </p:nvGrpSpPr>
          <p:grpSpPr>
            <a:xfrm>
              <a:off x="535730" y="6113017"/>
              <a:ext cx="5786536" cy="3950325"/>
              <a:chOff x="535730" y="5391605"/>
              <a:chExt cx="5786536" cy="3950325"/>
            </a:xfrm>
          </p:grpSpPr>
          <p:pic>
            <p:nvPicPr>
              <p:cNvPr id="85" name="그림 84">
                <a:extLst>
                  <a:ext uri="{FF2B5EF4-FFF2-40B4-BE49-F238E27FC236}">
                    <a16:creationId xmlns:a16="http://schemas.microsoft.com/office/drawing/2014/main" id="{543CEC72-B0D3-45C0-3A90-658591729CB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35730" y="6096000"/>
                <a:ext cx="5786536" cy="3245930"/>
              </a:xfrm>
              <a:prstGeom prst="rect">
                <a:avLst/>
              </a:prstGeom>
            </p:spPr>
          </p:pic>
          <p:sp>
            <p:nvSpPr>
              <p:cNvPr id="86" name="직사각형 85">
                <a:extLst>
                  <a:ext uri="{FF2B5EF4-FFF2-40B4-BE49-F238E27FC236}">
                    <a16:creationId xmlns:a16="http://schemas.microsoft.com/office/drawing/2014/main" id="{20E1552A-6937-A6C1-71B9-743C8BFB198A}"/>
                  </a:ext>
                </a:extLst>
              </p:cNvPr>
              <p:cNvSpPr/>
              <p:nvPr/>
            </p:nvSpPr>
            <p:spPr>
              <a:xfrm>
                <a:off x="1828800" y="7555135"/>
                <a:ext cx="3230880" cy="327660"/>
              </a:xfrm>
              <a:prstGeom prst="rect">
                <a:avLst/>
              </a:prstGeom>
              <a:solidFill>
                <a:srgbClr val="FFFF00">
                  <a:alpha val="45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400" dirty="0">
                    <a:solidFill>
                      <a:sysClr val="windowText" lastClr="000000"/>
                    </a:solidFill>
                  </a:rPr>
                  <a:t>중립 타일</a:t>
                </a:r>
              </a:p>
            </p:txBody>
          </p:sp>
          <p:sp>
            <p:nvSpPr>
              <p:cNvPr id="87" name="직사각형 86">
                <a:extLst>
                  <a:ext uri="{FF2B5EF4-FFF2-40B4-BE49-F238E27FC236}">
                    <a16:creationId xmlns:a16="http://schemas.microsoft.com/office/drawing/2014/main" id="{FD50EB21-A532-E15F-D39B-D5FAF0C0F978}"/>
                  </a:ext>
                </a:extLst>
              </p:cNvPr>
              <p:cNvSpPr/>
              <p:nvPr/>
            </p:nvSpPr>
            <p:spPr>
              <a:xfrm>
                <a:off x="2728910" y="8122763"/>
                <a:ext cx="1400175" cy="29305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  <a:alpha val="62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400" dirty="0">
                    <a:solidFill>
                      <a:sysClr val="windowText" lastClr="000000"/>
                    </a:solidFill>
                  </a:rPr>
                  <a:t>실외 타일</a:t>
                </a:r>
              </a:p>
            </p:txBody>
          </p:sp>
          <p:sp>
            <p:nvSpPr>
              <p:cNvPr id="88" name="직사각형 87">
                <a:extLst>
                  <a:ext uri="{FF2B5EF4-FFF2-40B4-BE49-F238E27FC236}">
                    <a16:creationId xmlns:a16="http://schemas.microsoft.com/office/drawing/2014/main" id="{461873CF-07D5-697B-93FF-1F809F7E1608}"/>
                  </a:ext>
                </a:extLst>
              </p:cNvPr>
              <p:cNvSpPr/>
              <p:nvPr/>
            </p:nvSpPr>
            <p:spPr>
              <a:xfrm>
                <a:off x="2728910" y="7022117"/>
                <a:ext cx="1400175" cy="29305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  <a:alpha val="62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400" dirty="0">
                    <a:solidFill>
                      <a:sysClr val="windowText" lastClr="000000"/>
                    </a:solidFill>
                  </a:rPr>
                  <a:t>실외 타일</a:t>
                </a:r>
              </a:p>
            </p:txBody>
          </p:sp>
          <p:sp>
            <p:nvSpPr>
              <p:cNvPr id="89" name="막힌 원호 88">
                <a:extLst>
                  <a:ext uri="{FF2B5EF4-FFF2-40B4-BE49-F238E27FC236}">
                    <a16:creationId xmlns:a16="http://schemas.microsoft.com/office/drawing/2014/main" id="{DAA5C925-6200-1EDE-8F8D-26C6881327C0}"/>
                  </a:ext>
                </a:extLst>
              </p:cNvPr>
              <p:cNvSpPr/>
              <p:nvPr/>
            </p:nvSpPr>
            <p:spPr>
              <a:xfrm>
                <a:off x="2065336" y="6509863"/>
                <a:ext cx="2727328" cy="1759424"/>
              </a:xfrm>
              <a:prstGeom prst="blockArc">
                <a:avLst>
                  <a:gd name="adj1" fmla="val 10800000"/>
                  <a:gd name="adj2" fmla="val 36777"/>
                  <a:gd name="adj3" fmla="val 12272"/>
                </a:avLst>
              </a:prstGeom>
              <a:solidFill>
                <a:schemeClr val="accent2">
                  <a:alpha val="86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90" name="막힌 원호 89">
                <a:extLst>
                  <a:ext uri="{FF2B5EF4-FFF2-40B4-BE49-F238E27FC236}">
                    <a16:creationId xmlns:a16="http://schemas.microsoft.com/office/drawing/2014/main" id="{EDCE38B6-7EE8-E74D-C57F-CD362653A6FF}"/>
                  </a:ext>
                </a:extLst>
              </p:cNvPr>
              <p:cNvSpPr/>
              <p:nvPr/>
            </p:nvSpPr>
            <p:spPr>
              <a:xfrm rot="10800000">
                <a:off x="2065333" y="7142945"/>
                <a:ext cx="2727328" cy="1805318"/>
              </a:xfrm>
              <a:prstGeom prst="blockArc">
                <a:avLst>
                  <a:gd name="adj1" fmla="val 10800000"/>
                  <a:gd name="adj2" fmla="val 36777"/>
                  <a:gd name="adj3" fmla="val 12272"/>
                </a:avLst>
              </a:prstGeom>
              <a:solidFill>
                <a:schemeClr val="accent2">
                  <a:alpha val="86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ADA5E1CB-DE8B-CB51-061D-B03F38A06348}"/>
                  </a:ext>
                </a:extLst>
              </p:cNvPr>
              <p:cNvSpPr txBox="1"/>
              <p:nvPr/>
            </p:nvSpPr>
            <p:spPr>
              <a:xfrm>
                <a:off x="2830672" y="6489504"/>
                <a:ext cx="1227135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1100" dirty="0"/>
                  <a:t>실내 타일</a:t>
                </a:r>
              </a:p>
            </p:txBody>
          </p:sp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D488E95C-1427-82CE-355D-6A4113904D86}"/>
                  </a:ext>
                </a:extLst>
              </p:cNvPr>
              <p:cNvSpPr txBox="1"/>
              <p:nvPr/>
            </p:nvSpPr>
            <p:spPr>
              <a:xfrm>
                <a:off x="2815429" y="8686653"/>
                <a:ext cx="1227135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1100" dirty="0"/>
                  <a:t>실내 타일</a:t>
                </a:r>
              </a:p>
            </p:txBody>
          </p:sp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F158CC6D-A933-820E-FF82-6E9FF4554BA2}"/>
                  </a:ext>
                </a:extLst>
              </p:cNvPr>
              <p:cNvSpPr txBox="1"/>
              <p:nvPr/>
            </p:nvSpPr>
            <p:spPr>
              <a:xfrm>
                <a:off x="780867" y="5391605"/>
                <a:ext cx="532674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2400" dirty="0">
                    <a:latin typeface="+mj-ea"/>
                    <a:ea typeface="+mj-ea"/>
                  </a:rPr>
                  <a:t>필드 구조 간단 소개</a:t>
                </a:r>
              </a:p>
            </p:txBody>
          </p:sp>
        </p:grp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1B30A7C5-E1B2-AB8E-DE82-88D217534F12}"/>
                </a:ext>
              </a:extLst>
            </p:cNvPr>
            <p:cNvSpPr txBox="1"/>
            <p:nvPr/>
          </p:nvSpPr>
          <p:spPr>
            <a:xfrm>
              <a:off x="982983" y="7683007"/>
              <a:ext cx="140017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rgbClr val="FF0000"/>
                  </a:solidFill>
                </a:rPr>
                <a:t>*</a:t>
              </a:r>
              <a:r>
                <a:rPr lang="ko-KR" altLang="en-US" sz="1200" dirty="0">
                  <a:solidFill>
                    <a:srgbClr val="FF0000"/>
                  </a:solidFill>
                </a:rPr>
                <a:t>적 필드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1186A8BB-63A0-EABC-D6FF-8B2BFE6F8158}"/>
                </a:ext>
              </a:extLst>
            </p:cNvPr>
            <p:cNvSpPr txBox="1"/>
            <p:nvPr/>
          </p:nvSpPr>
          <p:spPr>
            <a:xfrm>
              <a:off x="982984" y="8793370"/>
              <a:ext cx="140017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rgbClr val="0070C0"/>
                  </a:solidFill>
                </a:rPr>
                <a:t>*</a:t>
              </a:r>
              <a:r>
                <a:rPr lang="ko-KR" altLang="en-US" sz="1200" dirty="0">
                  <a:solidFill>
                    <a:srgbClr val="0070C0"/>
                  </a:solidFill>
                </a:rPr>
                <a:t>자신의 필드</a:t>
              </a:r>
            </a:p>
          </p:txBody>
        </p:sp>
        <p:sp>
          <p:nvSpPr>
            <p:cNvPr id="67" name="직사각형 66">
              <a:extLst>
                <a:ext uri="{FF2B5EF4-FFF2-40B4-BE49-F238E27FC236}">
                  <a16:creationId xmlns:a16="http://schemas.microsoft.com/office/drawing/2014/main" id="{C608D4FE-DD59-CE32-8D2C-DE6DB2EF927A}"/>
                </a:ext>
              </a:extLst>
            </p:cNvPr>
            <p:cNvSpPr/>
            <p:nvPr/>
          </p:nvSpPr>
          <p:spPr>
            <a:xfrm>
              <a:off x="566214" y="7934236"/>
              <a:ext cx="386286" cy="997634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8" name="직사각형 67">
              <a:extLst>
                <a:ext uri="{FF2B5EF4-FFF2-40B4-BE49-F238E27FC236}">
                  <a16:creationId xmlns:a16="http://schemas.microsoft.com/office/drawing/2014/main" id="{E277ABD0-885B-C0D8-E9C4-ADC0BAEC7DEF}"/>
                </a:ext>
              </a:extLst>
            </p:cNvPr>
            <p:cNvSpPr/>
            <p:nvPr/>
          </p:nvSpPr>
          <p:spPr>
            <a:xfrm>
              <a:off x="5899228" y="7934236"/>
              <a:ext cx="386286" cy="997634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65F463EF-6EF0-EDB2-3103-E0A606E33BDA}"/>
                </a:ext>
              </a:extLst>
            </p:cNvPr>
            <p:cNvSpPr txBox="1"/>
            <p:nvPr/>
          </p:nvSpPr>
          <p:spPr>
            <a:xfrm>
              <a:off x="6079222" y="8337181"/>
              <a:ext cx="104584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/>
                <a:t>적 동아리 </a:t>
              </a:r>
              <a:endParaRPr lang="en-US" altLang="ko-KR" sz="1000" dirty="0"/>
            </a:p>
            <a:p>
              <a:pPr algn="ctr"/>
              <a:r>
                <a:rPr lang="ko-KR" altLang="en-US" sz="1000" dirty="0"/>
                <a:t>시너지</a:t>
              </a:r>
            </a:p>
          </p:txBody>
        </p:sp>
        <p:cxnSp>
          <p:nvCxnSpPr>
            <p:cNvPr id="70" name="직선 연결선 69">
              <a:extLst>
                <a:ext uri="{FF2B5EF4-FFF2-40B4-BE49-F238E27FC236}">
                  <a16:creationId xmlns:a16="http://schemas.microsoft.com/office/drawing/2014/main" id="{1222C9E4-51BA-7B91-13AE-870421703E4B}"/>
                </a:ext>
              </a:extLst>
            </p:cNvPr>
            <p:cNvCxnSpPr>
              <a:cxnSpLocks/>
            </p:cNvCxnSpPr>
            <p:nvPr/>
          </p:nvCxnSpPr>
          <p:spPr>
            <a:xfrm>
              <a:off x="6285514" y="8540720"/>
              <a:ext cx="88804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27AF8907-A50E-099E-B21F-F0C2B89D498A}"/>
                </a:ext>
              </a:extLst>
            </p:cNvPr>
            <p:cNvSpPr txBox="1"/>
            <p:nvPr/>
          </p:nvSpPr>
          <p:spPr>
            <a:xfrm>
              <a:off x="-240888" y="8290177"/>
              <a:ext cx="1045840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/>
                <a:t>플레이어</a:t>
              </a:r>
              <a:endParaRPr lang="en-US" altLang="ko-KR" sz="1000" dirty="0"/>
            </a:p>
            <a:p>
              <a:pPr algn="ctr"/>
              <a:r>
                <a:rPr lang="ko-KR" altLang="en-US" sz="1000" dirty="0"/>
                <a:t>동아리 </a:t>
              </a:r>
              <a:endParaRPr lang="en-US" altLang="ko-KR" sz="1000" dirty="0"/>
            </a:p>
            <a:p>
              <a:pPr algn="ctr"/>
              <a:r>
                <a:rPr lang="ko-KR" altLang="en-US" sz="1000" dirty="0"/>
                <a:t>시너지</a:t>
              </a:r>
            </a:p>
          </p:txBody>
        </p:sp>
        <p:cxnSp>
          <p:nvCxnSpPr>
            <p:cNvPr id="72" name="직선 연결선 71">
              <a:extLst>
                <a:ext uri="{FF2B5EF4-FFF2-40B4-BE49-F238E27FC236}">
                  <a16:creationId xmlns:a16="http://schemas.microsoft.com/office/drawing/2014/main" id="{9BDE7901-57F2-E938-7F95-154F62B210C8}"/>
                </a:ext>
              </a:extLst>
            </p:cNvPr>
            <p:cNvCxnSpPr>
              <a:cxnSpLocks/>
            </p:cNvCxnSpPr>
            <p:nvPr/>
          </p:nvCxnSpPr>
          <p:spPr>
            <a:xfrm>
              <a:off x="477410" y="8567176"/>
              <a:ext cx="88804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직사각형 72">
              <a:extLst>
                <a:ext uri="{FF2B5EF4-FFF2-40B4-BE49-F238E27FC236}">
                  <a16:creationId xmlns:a16="http://schemas.microsoft.com/office/drawing/2014/main" id="{76DD4FF7-15C7-8FBF-7ECF-25B233B98A08}"/>
                </a:ext>
              </a:extLst>
            </p:cNvPr>
            <p:cNvSpPr/>
            <p:nvPr/>
          </p:nvSpPr>
          <p:spPr>
            <a:xfrm>
              <a:off x="566214" y="9807803"/>
              <a:ext cx="2113486" cy="22279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4" name="직사각형 73">
              <a:extLst>
                <a:ext uri="{FF2B5EF4-FFF2-40B4-BE49-F238E27FC236}">
                  <a16:creationId xmlns:a16="http://schemas.microsoft.com/office/drawing/2014/main" id="{6DA6A5E5-5486-2644-C8B5-7C511B83380E}"/>
                </a:ext>
              </a:extLst>
            </p:cNvPr>
            <p:cNvSpPr/>
            <p:nvPr/>
          </p:nvSpPr>
          <p:spPr>
            <a:xfrm>
              <a:off x="4356100" y="6850213"/>
              <a:ext cx="1973816" cy="22279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C49170EA-5762-ACB0-148A-FF75B7603A21}"/>
                </a:ext>
              </a:extLst>
            </p:cNvPr>
            <p:cNvSpPr txBox="1"/>
            <p:nvPr/>
          </p:nvSpPr>
          <p:spPr>
            <a:xfrm>
              <a:off x="4991100" y="6644143"/>
              <a:ext cx="126555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 dirty="0"/>
                <a:t>적 보유 </a:t>
              </a:r>
              <a:r>
                <a:rPr lang="ko-KR" altLang="en-US" sz="800" dirty="0" err="1"/>
                <a:t>청휘석</a:t>
              </a:r>
              <a:r>
                <a:rPr lang="ko-KR" altLang="en-US" sz="800" dirty="0"/>
                <a:t> </a:t>
              </a:r>
              <a:r>
                <a:rPr lang="en-US" altLang="ko-KR" sz="800" dirty="0"/>
                <a:t>UI</a:t>
              </a:r>
              <a:endParaRPr lang="ko-KR" altLang="en-US" sz="800" dirty="0"/>
            </a:p>
          </p:txBody>
        </p:sp>
        <p:cxnSp>
          <p:nvCxnSpPr>
            <p:cNvPr id="76" name="연결선: 꺾임 75">
              <a:extLst>
                <a:ext uri="{FF2B5EF4-FFF2-40B4-BE49-F238E27FC236}">
                  <a16:creationId xmlns:a16="http://schemas.microsoft.com/office/drawing/2014/main" id="{C1C8E1E2-760E-D010-FE42-A585731324A0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4904419" y="6706720"/>
              <a:ext cx="98348" cy="188639"/>
            </a:xfrm>
            <a:prstGeom prst="bentConnector2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EA414781-5EDA-30DB-0358-B5E299F5B450}"/>
                </a:ext>
              </a:extLst>
            </p:cNvPr>
            <p:cNvSpPr txBox="1"/>
            <p:nvPr/>
          </p:nvSpPr>
          <p:spPr>
            <a:xfrm>
              <a:off x="1050294" y="10054390"/>
              <a:ext cx="126555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 dirty="0"/>
                <a:t>플레이어 보유 </a:t>
              </a:r>
              <a:r>
                <a:rPr lang="ko-KR" altLang="en-US" sz="800" dirty="0" err="1"/>
                <a:t>청휘석</a:t>
              </a:r>
              <a:r>
                <a:rPr lang="ko-KR" altLang="en-US" sz="800" dirty="0"/>
                <a:t> </a:t>
              </a:r>
              <a:r>
                <a:rPr lang="en-US" altLang="ko-KR" sz="800" dirty="0"/>
                <a:t>UI</a:t>
              </a:r>
              <a:endParaRPr lang="ko-KR" altLang="en-US" sz="800" dirty="0"/>
            </a:p>
          </p:txBody>
        </p:sp>
        <p:cxnSp>
          <p:nvCxnSpPr>
            <p:cNvPr id="78" name="연결선: 꺾임 77">
              <a:extLst>
                <a:ext uri="{FF2B5EF4-FFF2-40B4-BE49-F238E27FC236}">
                  <a16:creationId xmlns:a16="http://schemas.microsoft.com/office/drawing/2014/main" id="{6E5FE6FF-AB4B-501F-271C-6D6FC85AE139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951557" y="9993431"/>
              <a:ext cx="131517" cy="205843"/>
            </a:xfrm>
            <a:prstGeom prst="bentConnector2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직사각형 78">
              <a:extLst>
                <a:ext uri="{FF2B5EF4-FFF2-40B4-BE49-F238E27FC236}">
                  <a16:creationId xmlns:a16="http://schemas.microsoft.com/office/drawing/2014/main" id="{BD61BF87-675F-F6EF-661E-48CFBE7BCED3}"/>
                </a:ext>
              </a:extLst>
            </p:cNvPr>
            <p:cNvSpPr/>
            <p:nvPr/>
          </p:nvSpPr>
          <p:spPr>
            <a:xfrm>
              <a:off x="5663776" y="8960554"/>
              <a:ext cx="621738" cy="426496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cxnSp>
          <p:nvCxnSpPr>
            <p:cNvPr id="80" name="연결선: 꺾임 79">
              <a:extLst>
                <a:ext uri="{FF2B5EF4-FFF2-40B4-BE49-F238E27FC236}">
                  <a16:creationId xmlns:a16="http://schemas.microsoft.com/office/drawing/2014/main" id="{998D4937-2472-DD94-11A6-175D1CE9D616}"/>
                </a:ext>
              </a:extLst>
            </p:cNvPr>
            <p:cNvCxnSpPr>
              <a:cxnSpLocks/>
              <a:stCxn id="79" idx="3"/>
              <a:endCxn id="81" idx="0"/>
            </p:cNvCxnSpPr>
            <p:nvPr/>
          </p:nvCxnSpPr>
          <p:spPr>
            <a:xfrm>
              <a:off x="6285514" y="9173802"/>
              <a:ext cx="221573" cy="105520"/>
            </a:xfrm>
            <a:prstGeom prst="bentConnector2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AED9142C-3D1C-6038-6E86-A5A901660A5D}"/>
                </a:ext>
              </a:extLst>
            </p:cNvPr>
            <p:cNvSpPr txBox="1"/>
            <p:nvPr/>
          </p:nvSpPr>
          <p:spPr>
            <a:xfrm>
              <a:off x="6374318" y="9279322"/>
              <a:ext cx="265537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dirty="0"/>
                <a:t>턴 진행 상황 표시 </a:t>
              </a:r>
              <a:r>
                <a:rPr lang="en-US" altLang="ko-KR" sz="800" dirty="0"/>
                <a:t>UI</a:t>
              </a:r>
              <a:endParaRPr lang="ko-KR" altLang="en-US" sz="800" dirty="0"/>
            </a:p>
          </p:txBody>
        </p:sp>
        <p:sp>
          <p:nvSpPr>
            <p:cNvPr id="82" name="직사각형 81">
              <a:extLst>
                <a:ext uri="{FF2B5EF4-FFF2-40B4-BE49-F238E27FC236}">
                  <a16:creationId xmlns:a16="http://schemas.microsoft.com/office/drawing/2014/main" id="{997F4717-BB6E-B2BF-8D62-3702EAA201C4}"/>
                </a:ext>
              </a:extLst>
            </p:cNvPr>
            <p:cNvSpPr/>
            <p:nvPr/>
          </p:nvSpPr>
          <p:spPr>
            <a:xfrm>
              <a:off x="5542756" y="9428033"/>
              <a:ext cx="713895" cy="573433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cxnSp>
          <p:nvCxnSpPr>
            <p:cNvPr id="83" name="연결선: 꺾임 82">
              <a:extLst>
                <a:ext uri="{FF2B5EF4-FFF2-40B4-BE49-F238E27FC236}">
                  <a16:creationId xmlns:a16="http://schemas.microsoft.com/office/drawing/2014/main" id="{DA622148-5F5F-0929-E3C1-6961333FB227}"/>
                </a:ext>
              </a:extLst>
            </p:cNvPr>
            <p:cNvCxnSpPr>
              <a:cxnSpLocks/>
              <a:stCxn id="84" idx="0"/>
              <a:endCxn id="82" idx="1"/>
            </p:cNvCxnSpPr>
            <p:nvPr/>
          </p:nvCxnSpPr>
          <p:spPr>
            <a:xfrm rot="5400000" flipH="1" flipV="1">
              <a:off x="5284413" y="9855775"/>
              <a:ext cx="399367" cy="117319"/>
            </a:xfrm>
            <a:prstGeom prst="bentConnector2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A0B938B0-75AA-6C6A-9932-29925D8F69A4}"/>
                </a:ext>
              </a:extLst>
            </p:cNvPr>
            <p:cNvSpPr txBox="1"/>
            <p:nvPr/>
          </p:nvSpPr>
          <p:spPr>
            <a:xfrm>
              <a:off x="5113014" y="10114117"/>
              <a:ext cx="624846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 dirty="0"/>
                <a:t>턴 종료 </a:t>
              </a:r>
              <a:r>
                <a:rPr lang="en-US" altLang="ko-KR" sz="800" dirty="0"/>
                <a:t>UI</a:t>
              </a:r>
              <a:endParaRPr lang="ko-KR" altLang="en-US" sz="800" dirty="0"/>
            </a:p>
          </p:txBody>
        </p:sp>
      </p:grpSp>
    </p:spTree>
    <p:extLst>
      <p:ext uri="{BB962C8B-B14F-4D97-AF65-F5344CB8AC3E}">
        <p14:creationId xmlns:p14="http://schemas.microsoft.com/office/powerpoint/2010/main" val="21216687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F3B04E4A-E336-56F7-1502-CA240653BC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40A40062-4A1C-7B44-343A-AD42E88421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075" y="167800"/>
            <a:ext cx="6419850" cy="238125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441F5CE-1EDA-4BCC-94E5-2A4639CD6A0A}"/>
              </a:ext>
            </a:extLst>
          </p:cNvPr>
          <p:cNvSpPr txBox="1"/>
          <p:nvPr/>
        </p:nvSpPr>
        <p:spPr>
          <a:xfrm>
            <a:off x="2590800" y="0"/>
            <a:ext cx="42672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50" dirty="0"/>
              <a:t>*</a:t>
            </a:r>
            <a:r>
              <a:rPr lang="ko-KR" altLang="en-US" sz="1050" dirty="0"/>
              <a:t>블루 아카이브 </a:t>
            </a:r>
            <a:r>
              <a:rPr lang="ko-KR" altLang="en-US" sz="1050" dirty="0" err="1"/>
              <a:t>팬메이드</a:t>
            </a:r>
            <a:r>
              <a:rPr lang="ko-KR" altLang="en-US" sz="1050" dirty="0"/>
              <a:t> 카드 게임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A510716-2623-2C40-E691-BC3FE736B127}"/>
              </a:ext>
            </a:extLst>
          </p:cNvPr>
          <p:cNvSpPr txBox="1"/>
          <p:nvPr/>
        </p:nvSpPr>
        <p:spPr>
          <a:xfrm>
            <a:off x="765628" y="2488250"/>
            <a:ext cx="53267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dirty="0">
                <a:latin typeface="+mj-ea"/>
                <a:ea typeface="+mj-ea"/>
              </a:rPr>
              <a:t>학생들을 소환하고</a:t>
            </a:r>
            <a:r>
              <a:rPr lang="en-US" altLang="ko-KR" sz="2000" dirty="0">
                <a:latin typeface="+mj-ea"/>
                <a:ea typeface="+mj-ea"/>
              </a:rPr>
              <a:t>, </a:t>
            </a:r>
            <a:r>
              <a:rPr lang="ko-KR" altLang="en-US" sz="2000" dirty="0">
                <a:latin typeface="+mj-ea"/>
                <a:ea typeface="+mj-ea"/>
              </a:rPr>
              <a:t>동아리 시너지를 활용해</a:t>
            </a:r>
            <a:endParaRPr lang="en-US" altLang="ko-KR" sz="2000" dirty="0">
              <a:latin typeface="+mj-ea"/>
              <a:ea typeface="+mj-ea"/>
            </a:endParaRPr>
          </a:p>
          <a:p>
            <a:pPr algn="ctr"/>
            <a:r>
              <a:rPr lang="ko-KR" altLang="en-US" sz="2000" dirty="0">
                <a:latin typeface="+mj-ea"/>
                <a:ea typeface="+mj-ea"/>
              </a:rPr>
              <a:t>상대 선생님의 체력을 </a:t>
            </a:r>
            <a:r>
              <a:rPr lang="en-US" altLang="ko-KR" sz="2000" dirty="0">
                <a:latin typeface="+mj-ea"/>
                <a:ea typeface="+mj-ea"/>
              </a:rPr>
              <a:t>0</a:t>
            </a:r>
            <a:r>
              <a:rPr lang="ko-KR" altLang="en-US" sz="2000" dirty="0">
                <a:latin typeface="+mj-ea"/>
                <a:ea typeface="+mj-ea"/>
              </a:rPr>
              <a:t>으로 만들자</a:t>
            </a:r>
            <a:r>
              <a:rPr lang="en-US" altLang="ko-KR" sz="2000" dirty="0">
                <a:latin typeface="+mj-ea"/>
                <a:ea typeface="+mj-ea"/>
              </a:rPr>
              <a:t>!</a:t>
            </a:r>
            <a:endParaRPr lang="ko-KR" altLang="en-US" sz="2000" dirty="0">
              <a:latin typeface="+mj-ea"/>
              <a:ea typeface="+mj-ea"/>
            </a:endParaRPr>
          </a:p>
        </p:txBody>
      </p:sp>
      <p:graphicFrame>
        <p:nvGraphicFramePr>
          <p:cNvPr id="42" name="표 41">
            <a:extLst>
              <a:ext uri="{FF2B5EF4-FFF2-40B4-BE49-F238E27FC236}">
                <a16:creationId xmlns:a16="http://schemas.microsoft.com/office/drawing/2014/main" id="{3D7ED9E4-3B97-0E0D-4F1D-2B1C041651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1795508"/>
              </p:ext>
            </p:extLst>
          </p:nvPr>
        </p:nvGraphicFramePr>
        <p:xfrm>
          <a:off x="631824" y="3363963"/>
          <a:ext cx="5624828" cy="15055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4828">
                  <a:extLst>
                    <a:ext uri="{9D8B030D-6E8A-4147-A177-3AD203B41FA5}">
                      <a16:colId xmlns:a16="http://schemas.microsoft.com/office/drawing/2014/main" val="620431209"/>
                    </a:ext>
                  </a:extLst>
                </a:gridCol>
              </a:tblGrid>
              <a:tr h="613997"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24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게임 목표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4896928"/>
                  </a:ext>
                </a:extLst>
              </a:tr>
              <a:tr h="127123">
                <a:tc>
                  <a:txBody>
                    <a:bodyPr/>
                    <a:lstStyle/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플레이어는 학생</a:t>
                      </a:r>
                      <a:r>
                        <a:rPr lang="en-US" altLang="ko-KR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/</a:t>
                      </a:r>
                      <a:r>
                        <a:rPr lang="ko-KR" altLang="en-US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비학생</a:t>
                      </a:r>
                      <a:r>
                        <a:rPr lang="en-US" altLang="ko-KR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/</a:t>
                      </a:r>
                      <a:r>
                        <a:rPr lang="ko-KR" altLang="en-US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장소</a:t>
                      </a:r>
                      <a:r>
                        <a:rPr lang="en-US" altLang="ko-KR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/</a:t>
                      </a:r>
                      <a:r>
                        <a:rPr lang="ko-KR" altLang="en-US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이벤트 카드를 활용해 </a:t>
                      </a:r>
                      <a:r>
                        <a:rPr lang="ko-KR" altLang="en-US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덱을</a:t>
                      </a:r>
                      <a:r>
                        <a:rPr lang="ko-KR" altLang="en-US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 구성합니다</a:t>
                      </a:r>
                      <a:r>
                        <a:rPr lang="en-US" altLang="ko-KR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.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6027237"/>
                  </a:ext>
                </a:extLst>
              </a:tr>
              <a:tr h="127123">
                <a:tc>
                  <a:txBody>
                    <a:bodyPr/>
                    <a:lstStyle/>
                    <a:p>
                      <a:pPr marL="285750" marR="0" lvl="0" indent="-285750" algn="l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같은 동아리 학생</a:t>
                      </a:r>
                      <a:r>
                        <a:rPr lang="ko-KR" altLang="en-US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들이 모이면 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특별한 효과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(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시너지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)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가 발동</a:t>
                      </a:r>
                      <a:r>
                        <a:rPr lang="ko-KR" altLang="en-US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되어 강해집니다</a:t>
                      </a:r>
                      <a:r>
                        <a:rPr lang="en-US" altLang="ko-KR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!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329374"/>
                  </a:ext>
                </a:extLst>
              </a:tr>
              <a:tr h="171982">
                <a:tc>
                  <a:txBody>
                    <a:bodyPr/>
                    <a:lstStyle/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전투와 시너지를 활용해 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상대 선생님의 체력을 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0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으로 만들면 승리</a:t>
                      </a:r>
                      <a:r>
                        <a:rPr lang="ko-KR" altLang="en-US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합니다</a:t>
                      </a:r>
                      <a:r>
                        <a:rPr lang="en-US" altLang="ko-KR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.</a:t>
                      </a:r>
                      <a:endParaRPr lang="ko-KR" altLang="en-US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9337059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08E65288-660E-B3BF-052B-4ACCF678F5F3}"/>
              </a:ext>
            </a:extLst>
          </p:cNvPr>
          <p:cNvSpPr txBox="1"/>
          <p:nvPr/>
        </p:nvSpPr>
        <p:spPr>
          <a:xfrm>
            <a:off x="2707492" y="4844995"/>
            <a:ext cx="14779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dirty="0">
                <a:latin typeface="+mj-ea"/>
                <a:ea typeface="+mj-ea"/>
              </a:rPr>
              <a:t>카드 설명</a:t>
            </a:r>
          </a:p>
        </p:txBody>
      </p:sp>
      <p:graphicFrame>
        <p:nvGraphicFramePr>
          <p:cNvPr id="20" name="표 19">
            <a:extLst>
              <a:ext uri="{FF2B5EF4-FFF2-40B4-BE49-F238E27FC236}">
                <a16:creationId xmlns:a16="http://schemas.microsoft.com/office/drawing/2014/main" id="{3D649BF0-B642-F2F8-E378-C050EB90ED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047605"/>
              </p:ext>
            </p:extLst>
          </p:nvPr>
        </p:nvGraphicFramePr>
        <p:xfrm>
          <a:off x="765628" y="10458820"/>
          <a:ext cx="5280341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3143">
                  <a:extLst>
                    <a:ext uri="{9D8B030D-6E8A-4147-A177-3AD203B41FA5}">
                      <a16:colId xmlns:a16="http://schemas.microsoft.com/office/drawing/2014/main" val="2591183677"/>
                    </a:ext>
                  </a:extLst>
                </a:gridCol>
                <a:gridCol w="1013143">
                  <a:extLst>
                    <a:ext uri="{9D8B030D-6E8A-4147-A177-3AD203B41FA5}">
                      <a16:colId xmlns:a16="http://schemas.microsoft.com/office/drawing/2014/main" val="2360100868"/>
                    </a:ext>
                  </a:extLst>
                </a:gridCol>
                <a:gridCol w="3254055">
                  <a:extLst>
                    <a:ext uri="{9D8B030D-6E8A-4147-A177-3AD203B41FA5}">
                      <a16:colId xmlns:a16="http://schemas.microsoft.com/office/drawing/2014/main" val="620431209"/>
                    </a:ext>
                  </a:extLst>
                </a:gridCol>
              </a:tblGrid>
              <a:tr h="127123">
                <a:tc rowSpan="2"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j-ea"/>
                          <a:ea typeface="+mj-ea"/>
                        </a:rPr>
                        <a:t>공격 </a:t>
                      </a:r>
                      <a:endParaRPr lang="en-US" altLang="ko-KR" sz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j-ea"/>
                        <a:ea typeface="+mj-ea"/>
                      </a:endParaRPr>
                    </a:p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j-ea"/>
                          <a:ea typeface="+mj-ea"/>
                        </a:rPr>
                        <a:t>가능 카드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j-ea"/>
                          <a:ea typeface="+mj-ea"/>
                        </a:rPr>
                        <a:t>학생 카드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12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공격 가능한 유닛 카드</a:t>
                      </a:r>
                      <a:endParaRPr lang="en-US" altLang="ko-KR" sz="12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90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r>
                        <a:rPr lang="ko-KR" altLang="en-US" sz="90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동아리에 소속되어</a:t>
                      </a:r>
                      <a:r>
                        <a:rPr lang="en-US" altLang="ko-KR" sz="90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90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같은 동아리와 함께하면 시너지 발동</a:t>
                      </a:r>
                      <a:endParaRPr lang="en-US" altLang="ko-KR" sz="900" b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6027237"/>
                  </a:ext>
                </a:extLst>
              </a:tr>
              <a:tr h="127123">
                <a:tc vMerge="1">
                  <a:txBody>
                    <a:bodyPr/>
                    <a:lstStyle/>
                    <a:p>
                      <a:pPr marL="0" marR="0" lvl="0" indent="0" algn="l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20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j-ea"/>
                          <a:ea typeface="+mj-ea"/>
                        </a:rPr>
                        <a:t>비학생</a:t>
                      </a:r>
                      <a:r>
                        <a:rPr lang="ko-KR" altLang="en-US"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j-ea"/>
                          <a:ea typeface="+mj-ea"/>
                        </a:rPr>
                        <a:t> 카드</a:t>
                      </a:r>
                      <a:endParaRPr lang="en-US" altLang="ko-KR" sz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2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공격 가능한 유닛 카드</a:t>
                      </a:r>
                      <a:endParaRPr lang="en-US" altLang="ko-KR" sz="12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r>
                        <a:rPr lang="ko-KR" altLang="en-US" sz="90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동아리에 속하지 않는 카드</a:t>
                      </a:r>
                      <a:r>
                        <a:rPr lang="en-US" altLang="ko-KR" sz="90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[</a:t>
                      </a:r>
                      <a:r>
                        <a:rPr lang="ko-KR" altLang="en-US" sz="90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시너지 </a:t>
                      </a:r>
                      <a:r>
                        <a:rPr lang="en-US" altLang="ko-KR" sz="90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x]</a:t>
                      </a: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329374"/>
                  </a:ext>
                </a:extLst>
              </a:tr>
              <a:tr h="171982">
                <a:tc rowSpan="2"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j-ea"/>
                          <a:ea typeface="+mj-ea"/>
                        </a:rPr>
                        <a:t>공격</a:t>
                      </a:r>
                      <a:endParaRPr lang="en-US" altLang="ko-KR" sz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j-ea"/>
                        <a:ea typeface="+mj-ea"/>
                      </a:endParaRPr>
                    </a:p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j-ea"/>
                          <a:ea typeface="+mj-ea"/>
                        </a:rPr>
                        <a:t>불가능 카드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j-ea"/>
                          <a:ea typeface="+mj-ea"/>
                        </a:rPr>
                        <a:t>장소 카드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특정 위치에만 배치 가능한 카드</a:t>
                      </a:r>
                      <a:endParaRPr lang="en-US" altLang="ko-KR" sz="12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90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r>
                        <a:rPr lang="ko-KR" altLang="en-US" sz="90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파괴 전까지 지속되는 효과 보유</a:t>
                      </a: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9337059"/>
                  </a:ext>
                </a:extLst>
              </a:tr>
              <a:tr h="171982">
                <a:tc vMerge="1"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endParaRPr lang="ko-KR" altLang="en-US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j-ea"/>
                          <a:ea typeface="+mj-ea"/>
                        </a:rPr>
                        <a:t>이벤트 카드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즉시 발동 후 버려지는 일회성 카드</a:t>
                      </a:r>
                      <a:endParaRPr lang="en-US" altLang="ko-KR" sz="12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90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r>
                        <a:rPr lang="ko-KR" altLang="en-US" sz="90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드래그 해서 사용하며</a:t>
                      </a:r>
                      <a:r>
                        <a:rPr lang="en-US" altLang="ko-KR" sz="90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90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사용 시 효과가 즉시 적용됨</a:t>
                      </a:r>
                      <a:endParaRPr lang="en-US" altLang="ko-KR" sz="900" b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2898723"/>
                  </a:ext>
                </a:extLst>
              </a:tr>
            </a:tbl>
          </a:graphicData>
        </a:graphic>
      </p:graphicFrame>
      <p:pic>
        <p:nvPicPr>
          <p:cNvPr id="23" name="그림 22" descr="만화 영화, 텍스트, 휴대 전화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5B5DD9A-6033-F986-2DA5-C1B00F8E2D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5627" y="8277863"/>
            <a:ext cx="5280341" cy="2180957"/>
          </a:xfrm>
          <a:prstGeom prst="rect">
            <a:avLst/>
          </a:prstGeom>
        </p:spPr>
      </p:pic>
      <p:grpSp>
        <p:nvGrpSpPr>
          <p:cNvPr id="1097" name="그룹 1096">
            <a:extLst>
              <a:ext uri="{FF2B5EF4-FFF2-40B4-BE49-F238E27FC236}">
                <a16:creationId xmlns:a16="http://schemas.microsoft.com/office/drawing/2014/main" id="{0B22F5E5-07AF-1529-C703-A987B3028378}"/>
              </a:ext>
            </a:extLst>
          </p:cNvPr>
          <p:cNvGrpSpPr/>
          <p:nvPr/>
        </p:nvGrpSpPr>
        <p:grpSpPr>
          <a:xfrm>
            <a:off x="1790065" y="5377093"/>
            <a:ext cx="3308346" cy="2585092"/>
            <a:chOff x="184957" y="5302178"/>
            <a:chExt cx="3308346" cy="2585092"/>
          </a:xfrm>
        </p:grpSpPr>
        <p:pic>
          <p:nvPicPr>
            <p:cNvPr id="29" name="그림 28" descr="만화 영화, 텍스트, 아니메, 인간의 얼굴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7E13D96C-5356-4A2E-7D3D-B1372CFC812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94471" y="5743822"/>
              <a:ext cx="1296329" cy="2044363"/>
            </a:xfrm>
            <a:prstGeom prst="rect">
              <a:avLst/>
            </a:prstGeom>
          </p:spPr>
        </p:pic>
        <p:pic>
          <p:nvPicPr>
            <p:cNvPr id="63" name="그림 62" descr="만화 영화, 텍스트, 아니메, 인간의 얼굴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FF19BB76-2A63-225C-F748-63042012411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76288" b="83733"/>
            <a:stretch>
              <a:fillRect/>
            </a:stretch>
          </p:blipFill>
          <p:spPr>
            <a:xfrm>
              <a:off x="407728" y="5302178"/>
              <a:ext cx="532668" cy="576313"/>
            </a:xfrm>
            <a:prstGeom prst="rect">
              <a:avLst/>
            </a:prstGeom>
            <a:ln>
              <a:solidFill>
                <a:srgbClr val="FF0000"/>
              </a:solidFill>
            </a:ln>
          </p:spPr>
        </p:pic>
        <p:sp>
          <p:nvSpPr>
            <p:cNvPr id="1031" name="직사각형 1030">
              <a:extLst>
                <a:ext uri="{FF2B5EF4-FFF2-40B4-BE49-F238E27FC236}">
                  <a16:creationId xmlns:a16="http://schemas.microsoft.com/office/drawing/2014/main" id="{0CC4C28F-6D61-2188-DD20-818570C813AE}"/>
                </a:ext>
              </a:extLst>
            </p:cNvPr>
            <p:cNvSpPr/>
            <p:nvPr/>
          </p:nvSpPr>
          <p:spPr>
            <a:xfrm>
              <a:off x="1312069" y="5771110"/>
              <a:ext cx="273844" cy="30266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033" name="연결선: 꺾임 1032">
              <a:extLst>
                <a:ext uri="{FF2B5EF4-FFF2-40B4-BE49-F238E27FC236}">
                  <a16:creationId xmlns:a16="http://schemas.microsoft.com/office/drawing/2014/main" id="{009F49D3-39C0-DEC3-673F-0610BFC36277}"/>
                </a:ext>
              </a:extLst>
            </p:cNvPr>
            <p:cNvCxnSpPr>
              <a:cxnSpLocks/>
              <a:stCxn id="1031" idx="1"/>
              <a:endCxn id="63" idx="3"/>
            </p:cNvCxnSpPr>
            <p:nvPr/>
          </p:nvCxnSpPr>
          <p:spPr>
            <a:xfrm rot="10800000">
              <a:off x="940397" y="5590335"/>
              <a:ext cx="371673" cy="332108"/>
            </a:xfrm>
            <a:prstGeom prst="bentConnector3">
              <a:avLst>
                <a:gd name="adj1" fmla="val 50000"/>
              </a:avLst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39" name="TextBox 1038">
              <a:extLst>
                <a:ext uri="{FF2B5EF4-FFF2-40B4-BE49-F238E27FC236}">
                  <a16:creationId xmlns:a16="http://schemas.microsoft.com/office/drawing/2014/main" id="{AA9F8D91-E7CD-C3F9-8FAD-67F11531C61F}"/>
                </a:ext>
              </a:extLst>
            </p:cNvPr>
            <p:cNvSpPr txBox="1"/>
            <p:nvPr/>
          </p:nvSpPr>
          <p:spPr>
            <a:xfrm>
              <a:off x="226754" y="5879533"/>
              <a:ext cx="91916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dirty="0"/>
                <a:t>*</a:t>
              </a:r>
              <a:r>
                <a:rPr lang="ko-KR" altLang="en-US" sz="800" dirty="0"/>
                <a:t>필요 </a:t>
              </a:r>
              <a:r>
                <a:rPr lang="ko-KR" altLang="en-US" sz="800" dirty="0" err="1"/>
                <a:t>청휘석</a:t>
              </a:r>
              <a:r>
                <a:rPr lang="ko-KR" altLang="en-US" sz="800" dirty="0"/>
                <a:t> </a:t>
              </a:r>
              <a:r>
                <a:rPr lang="ko-KR" altLang="en-US" sz="800" dirty="0" err="1"/>
                <a:t>갯수</a:t>
              </a:r>
              <a:endParaRPr lang="ko-KR" altLang="en-US" sz="800" dirty="0"/>
            </a:p>
          </p:txBody>
        </p:sp>
        <p:sp>
          <p:nvSpPr>
            <p:cNvPr id="1043" name="직사각형 1042">
              <a:extLst>
                <a:ext uri="{FF2B5EF4-FFF2-40B4-BE49-F238E27FC236}">
                  <a16:creationId xmlns:a16="http://schemas.microsoft.com/office/drawing/2014/main" id="{CBA6684A-9601-FEED-010D-87318EA7A4FD}"/>
                </a:ext>
              </a:extLst>
            </p:cNvPr>
            <p:cNvSpPr/>
            <p:nvPr/>
          </p:nvSpPr>
          <p:spPr>
            <a:xfrm>
              <a:off x="1585913" y="5857354"/>
              <a:ext cx="842963" cy="130175"/>
            </a:xfrm>
            <a:prstGeom prst="rect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045" name="그림 1044" descr="만화 영화, 텍스트, 아니메, 인간의 얼굴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17C2D4A5-E8B1-92F6-9B17-FB5486A9435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762" t="5142" r="10673" b="86877"/>
            <a:stretch>
              <a:fillRect/>
            </a:stretch>
          </p:blipFill>
          <p:spPr>
            <a:xfrm>
              <a:off x="1717798" y="5392904"/>
              <a:ext cx="1231472" cy="226104"/>
            </a:xfrm>
            <a:prstGeom prst="rect">
              <a:avLst/>
            </a:prstGeom>
            <a:ln>
              <a:solidFill>
                <a:srgbClr val="00B050"/>
              </a:solidFill>
            </a:ln>
          </p:spPr>
        </p:pic>
        <p:cxnSp>
          <p:nvCxnSpPr>
            <p:cNvPr id="1048" name="연결선: 꺾임 1047">
              <a:extLst>
                <a:ext uri="{FF2B5EF4-FFF2-40B4-BE49-F238E27FC236}">
                  <a16:creationId xmlns:a16="http://schemas.microsoft.com/office/drawing/2014/main" id="{0C9CAB24-0C08-8DA9-5811-051A53AFBEE1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1776349" y="5682268"/>
              <a:ext cx="238346" cy="111826"/>
            </a:xfrm>
            <a:prstGeom prst="bentConnector3">
              <a:avLst/>
            </a:prstGeom>
            <a:ln>
              <a:solidFill>
                <a:srgbClr val="00B05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52" name="TextBox 1051">
              <a:extLst>
                <a:ext uri="{FF2B5EF4-FFF2-40B4-BE49-F238E27FC236}">
                  <a16:creationId xmlns:a16="http://schemas.microsoft.com/office/drawing/2014/main" id="{B819BE91-B973-099F-2FF0-2CF751AEFC13}"/>
                </a:ext>
              </a:extLst>
            </p:cNvPr>
            <p:cNvSpPr txBox="1"/>
            <p:nvPr/>
          </p:nvSpPr>
          <p:spPr>
            <a:xfrm>
              <a:off x="2025712" y="5599276"/>
              <a:ext cx="91916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dirty="0"/>
                <a:t>*</a:t>
              </a:r>
              <a:r>
                <a:rPr lang="ko-KR" altLang="en-US" sz="800" dirty="0"/>
                <a:t>카드 이름</a:t>
              </a:r>
            </a:p>
          </p:txBody>
        </p:sp>
        <p:sp>
          <p:nvSpPr>
            <p:cNvPr id="1053" name="직사각형 1052">
              <a:extLst>
                <a:ext uri="{FF2B5EF4-FFF2-40B4-BE49-F238E27FC236}">
                  <a16:creationId xmlns:a16="http://schemas.microsoft.com/office/drawing/2014/main" id="{766188BA-41A8-FE92-C62E-E3391B929512}"/>
                </a:ext>
              </a:extLst>
            </p:cNvPr>
            <p:cNvSpPr/>
            <p:nvPr/>
          </p:nvSpPr>
          <p:spPr>
            <a:xfrm>
              <a:off x="1390652" y="6790498"/>
              <a:ext cx="195262" cy="194718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pic>
          <p:nvPicPr>
            <p:cNvPr id="1054" name="그림 1053" descr="만화 영화, 텍스트, 아니메, 인간의 얼굴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6A8370ED-AF70-F25E-7BD7-8D3E12F08FA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983" t="49888" r="76288" b="37333"/>
            <a:stretch>
              <a:fillRect/>
            </a:stretch>
          </p:blipFill>
          <p:spPr>
            <a:xfrm>
              <a:off x="438149" y="6294124"/>
              <a:ext cx="476041" cy="573492"/>
            </a:xfrm>
            <a:prstGeom prst="rect">
              <a:avLst/>
            </a:prstGeom>
            <a:ln>
              <a:solidFill>
                <a:srgbClr val="FF0000"/>
              </a:solidFill>
            </a:ln>
          </p:spPr>
        </p:pic>
        <p:cxnSp>
          <p:nvCxnSpPr>
            <p:cNvPr id="1056" name="연결선: 꺾임 1055">
              <a:extLst>
                <a:ext uri="{FF2B5EF4-FFF2-40B4-BE49-F238E27FC236}">
                  <a16:creationId xmlns:a16="http://schemas.microsoft.com/office/drawing/2014/main" id="{FBC25AF5-86D7-89F0-5D21-B49AC68C4B64}"/>
                </a:ext>
              </a:extLst>
            </p:cNvPr>
            <p:cNvCxnSpPr>
              <a:stCxn id="1053" idx="1"/>
              <a:endCxn id="1054" idx="3"/>
            </p:cNvCxnSpPr>
            <p:nvPr/>
          </p:nvCxnSpPr>
          <p:spPr>
            <a:xfrm rot="10800000">
              <a:off x="914190" y="6580871"/>
              <a:ext cx="476462" cy="306987"/>
            </a:xfrm>
            <a:prstGeom prst="bentConnector3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58" name="TextBox 1057">
              <a:extLst>
                <a:ext uri="{FF2B5EF4-FFF2-40B4-BE49-F238E27FC236}">
                  <a16:creationId xmlns:a16="http://schemas.microsoft.com/office/drawing/2014/main" id="{68C1AF57-3A51-9822-D1CE-F63A0334D322}"/>
                </a:ext>
              </a:extLst>
            </p:cNvPr>
            <p:cNvSpPr txBox="1"/>
            <p:nvPr/>
          </p:nvSpPr>
          <p:spPr>
            <a:xfrm>
              <a:off x="184957" y="6867616"/>
              <a:ext cx="91916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dirty="0"/>
                <a:t>*</a:t>
              </a:r>
              <a:r>
                <a:rPr lang="ko-KR" altLang="en-US" sz="800" dirty="0"/>
                <a:t>카드 종류</a:t>
              </a:r>
            </a:p>
          </p:txBody>
        </p:sp>
        <p:sp>
          <p:nvSpPr>
            <p:cNvPr id="1059" name="직사각형 1058">
              <a:extLst>
                <a:ext uri="{FF2B5EF4-FFF2-40B4-BE49-F238E27FC236}">
                  <a16:creationId xmlns:a16="http://schemas.microsoft.com/office/drawing/2014/main" id="{CE778E6B-7BD9-B811-3C1C-7F3A7D4AF34F}"/>
                </a:ext>
              </a:extLst>
            </p:cNvPr>
            <p:cNvSpPr/>
            <p:nvPr/>
          </p:nvSpPr>
          <p:spPr>
            <a:xfrm>
              <a:off x="1607345" y="6853238"/>
              <a:ext cx="195262" cy="130175"/>
            </a:xfrm>
            <a:prstGeom prst="rect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060" name="그림 1059" descr="만화 영화, 텍스트, 아니메, 인간의 얼굴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E73C197C-88EE-D763-01E3-AFACF38FDBB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3392" t="54428" r="59879" b="38842"/>
            <a:stretch>
              <a:fillRect/>
            </a:stretch>
          </p:blipFill>
          <p:spPr>
            <a:xfrm>
              <a:off x="2641425" y="6348461"/>
              <a:ext cx="476041" cy="301994"/>
            </a:xfrm>
            <a:prstGeom prst="rect">
              <a:avLst/>
            </a:prstGeom>
            <a:ln>
              <a:solidFill>
                <a:srgbClr val="00B050"/>
              </a:solidFill>
            </a:ln>
          </p:spPr>
        </p:pic>
        <p:cxnSp>
          <p:nvCxnSpPr>
            <p:cNvPr id="1061" name="연결선: 꺾임 1060">
              <a:extLst>
                <a:ext uri="{FF2B5EF4-FFF2-40B4-BE49-F238E27FC236}">
                  <a16:creationId xmlns:a16="http://schemas.microsoft.com/office/drawing/2014/main" id="{884E4253-6FEA-8071-BE15-4106334C50C0}"/>
                </a:ext>
              </a:extLst>
            </p:cNvPr>
            <p:cNvCxnSpPr>
              <a:cxnSpLocks/>
              <a:stCxn id="1059" idx="0"/>
              <a:endCxn id="1060" idx="2"/>
            </p:cNvCxnSpPr>
            <p:nvPr/>
          </p:nvCxnSpPr>
          <p:spPr>
            <a:xfrm rot="5400000" flipH="1" flipV="1">
              <a:off x="2190820" y="6164612"/>
              <a:ext cx="202783" cy="1174470"/>
            </a:xfrm>
            <a:prstGeom prst="bentConnector3">
              <a:avLst>
                <a:gd name="adj1" fmla="val 50000"/>
              </a:avLst>
            </a:prstGeom>
            <a:ln>
              <a:solidFill>
                <a:srgbClr val="00B05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67" name="TextBox 1066">
              <a:extLst>
                <a:ext uri="{FF2B5EF4-FFF2-40B4-BE49-F238E27FC236}">
                  <a16:creationId xmlns:a16="http://schemas.microsoft.com/office/drawing/2014/main" id="{E9D84DA2-64ED-FBD2-3FA5-4BDED60F800A}"/>
                </a:ext>
              </a:extLst>
            </p:cNvPr>
            <p:cNvSpPr txBox="1"/>
            <p:nvPr/>
          </p:nvSpPr>
          <p:spPr>
            <a:xfrm>
              <a:off x="2574140" y="6141417"/>
              <a:ext cx="91916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dirty="0"/>
                <a:t>*</a:t>
              </a:r>
              <a:r>
                <a:rPr lang="ko-KR" altLang="en-US" sz="800" dirty="0"/>
                <a:t>공격 사거리</a:t>
              </a:r>
              <a:r>
                <a:rPr lang="en-US" altLang="ko-KR" sz="800" dirty="0"/>
                <a:t>[</a:t>
              </a:r>
              <a:r>
                <a:rPr lang="ko-KR" altLang="en-US" sz="800" dirty="0"/>
                <a:t>칸수</a:t>
              </a:r>
              <a:r>
                <a:rPr lang="en-US" altLang="ko-KR" sz="800" dirty="0"/>
                <a:t>]</a:t>
              </a:r>
              <a:endParaRPr lang="ko-KR" altLang="en-US" sz="800" dirty="0"/>
            </a:p>
          </p:txBody>
        </p:sp>
        <p:sp>
          <p:nvSpPr>
            <p:cNvPr id="1069" name="직사각형 1068">
              <a:extLst>
                <a:ext uri="{FF2B5EF4-FFF2-40B4-BE49-F238E27FC236}">
                  <a16:creationId xmlns:a16="http://schemas.microsoft.com/office/drawing/2014/main" id="{7A7401B1-940E-A017-765B-1067F8143C58}"/>
                </a:ext>
              </a:extLst>
            </p:cNvPr>
            <p:cNvSpPr/>
            <p:nvPr/>
          </p:nvSpPr>
          <p:spPr>
            <a:xfrm>
              <a:off x="1409701" y="7427926"/>
              <a:ext cx="195262" cy="252298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070" name="직사각형 1069">
              <a:extLst>
                <a:ext uri="{FF2B5EF4-FFF2-40B4-BE49-F238E27FC236}">
                  <a16:creationId xmlns:a16="http://schemas.microsoft.com/office/drawing/2014/main" id="{EB60693E-BCB4-D249-D2F3-764E5159015B}"/>
                </a:ext>
              </a:extLst>
            </p:cNvPr>
            <p:cNvSpPr/>
            <p:nvPr/>
          </p:nvSpPr>
          <p:spPr>
            <a:xfrm>
              <a:off x="2236042" y="7412153"/>
              <a:ext cx="240458" cy="252298"/>
            </a:xfrm>
            <a:prstGeom prst="rect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071" name="그림 1070" descr="만화 영화, 텍스트, 아니메, 인간의 얼굴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F35CBA8F-A32F-536E-9A90-CA524EC1267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150" t="82055" r="76121" b="5166"/>
            <a:stretch>
              <a:fillRect/>
            </a:stretch>
          </p:blipFill>
          <p:spPr>
            <a:xfrm>
              <a:off x="439403" y="7101966"/>
              <a:ext cx="476041" cy="573492"/>
            </a:xfrm>
            <a:prstGeom prst="rect">
              <a:avLst/>
            </a:prstGeom>
            <a:ln>
              <a:solidFill>
                <a:srgbClr val="FF0000"/>
              </a:solidFill>
            </a:ln>
          </p:spPr>
        </p:pic>
        <p:cxnSp>
          <p:nvCxnSpPr>
            <p:cNvPr id="1072" name="연결선: 꺾임 1071">
              <a:extLst>
                <a:ext uri="{FF2B5EF4-FFF2-40B4-BE49-F238E27FC236}">
                  <a16:creationId xmlns:a16="http://schemas.microsoft.com/office/drawing/2014/main" id="{C704BA94-DFFF-FB8A-25FD-D01900A2D891}"/>
                </a:ext>
              </a:extLst>
            </p:cNvPr>
            <p:cNvCxnSpPr>
              <a:cxnSpLocks/>
              <a:stCxn id="1069" idx="1"/>
              <a:endCxn id="1071" idx="3"/>
            </p:cNvCxnSpPr>
            <p:nvPr/>
          </p:nvCxnSpPr>
          <p:spPr>
            <a:xfrm rot="10800000">
              <a:off x="915445" y="7388713"/>
              <a:ext cx="494257" cy="165363"/>
            </a:xfrm>
            <a:prstGeom prst="bentConnector3">
              <a:avLst>
                <a:gd name="adj1" fmla="val 50000"/>
              </a:avLst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79" name="TextBox 1078">
              <a:extLst>
                <a:ext uri="{FF2B5EF4-FFF2-40B4-BE49-F238E27FC236}">
                  <a16:creationId xmlns:a16="http://schemas.microsoft.com/office/drawing/2014/main" id="{33D91EF3-8F96-5B30-D762-06EA8872A5D3}"/>
                </a:ext>
              </a:extLst>
            </p:cNvPr>
            <p:cNvSpPr txBox="1"/>
            <p:nvPr/>
          </p:nvSpPr>
          <p:spPr>
            <a:xfrm>
              <a:off x="203810" y="7671826"/>
              <a:ext cx="91916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dirty="0"/>
                <a:t>*</a:t>
              </a:r>
              <a:r>
                <a:rPr lang="ko-KR" altLang="en-US" sz="800" dirty="0"/>
                <a:t>카드 공격력</a:t>
              </a:r>
            </a:p>
          </p:txBody>
        </p:sp>
        <p:cxnSp>
          <p:nvCxnSpPr>
            <p:cNvPr id="1080" name="연결선: 꺾임 1079">
              <a:extLst>
                <a:ext uri="{FF2B5EF4-FFF2-40B4-BE49-F238E27FC236}">
                  <a16:creationId xmlns:a16="http://schemas.microsoft.com/office/drawing/2014/main" id="{C1228817-1E4E-14DA-7703-A6DDF087FCDE}"/>
                </a:ext>
              </a:extLst>
            </p:cNvPr>
            <p:cNvCxnSpPr>
              <a:cxnSpLocks/>
              <a:stCxn id="1070" idx="3"/>
              <a:endCxn id="1081" idx="1"/>
            </p:cNvCxnSpPr>
            <p:nvPr/>
          </p:nvCxnSpPr>
          <p:spPr>
            <a:xfrm flipV="1">
              <a:off x="2476500" y="7186669"/>
              <a:ext cx="164925" cy="351633"/>
            </a:xfrm>
            <a:prstGeom prst="bentConnector3">
              <a:avLst>
                <a:gd name="adj1" fmla="val 50000"/>
              </a:avLst>
            </a:prstGeom>
            <a:ln>
              <a:solidFill>
                <a:srgbClr val="00B05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1081" name="그림 1080" descr="만화 영화, 텍스트, 아니메, 인간의 얼굴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ABE842C9-5824-AF9C-6051-48FED9CD7D1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2503" t="81588" r="9262" b="5631"/>
            <a:stretch>
              <a:fillRect/>
            </a:stretch>
          </p:blipFill>
          <p:spPr>
            <a:xfrm>
              <a:off x="2641425" y="6899923"/>
              <a:ext cx="518895" cy="573491"/>
            </a:xfrm>
            <a:prstGeom prst="rect">
              <a:avLst/>
            </a:prstGeom>
            <a:ln>
              <a:solidFill>
                <a:srgbClr val="00B050"/>
              </a:solidFill>
            </a:ln>
          </p:spPr>
        </p:pic>
        <p:sp>
          <p:nvSpPr>
            <p:cNvPr id="1088" name="TextBox 1087">
              <a:extLst>
                <a:ext uri="{FF2B5EF4-FFF2-40B4-BE49-F238E27FC236}">
                  <a16:creationId xmlns:a16="http://schemas.microsoft.com/office/drawing/2014/main" id="{29819AA8-06B4-1307-7487-285C6834D3C9}"/>
                </a:ext>
              </a:extLst>
            </p:cNvPr>
            <p:cNvSpPr txBox="1"/>
            <p:nvPr/>
          </p:nvSpPr>
          <p:spPr>
            <a:xfrm>
              <a:off x="2433040" y="7476803"/>
              <a:ext cx="91916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dirty="0"/>
                <a:t>*</a:t>
              </a:r>
              <a:r>
                <a:rPr lang="ko-KR" altLang="en-US" sz="800" dirty="0"/>
                <a:t>카드 </a:t>
              </a:r>
              <a:r>
                <a:rPr lang="en-US" altLang="ko-KR" sz="800" dirty="0"/>
                <a:t>HP</a:t>
              </a:r>
              <a:endParaRPr lang="ko-KR" altLang="en-US" sz="800" dirty="0"/>
            </a:p>
          </p:txBody>
        </p:sp>
      </p:grpSp>
    </p:spTree>
    <p:extLst>
      <p:ext uri="{BB962C8B-B14F-4D97-AF65-F5344CB8AC3E}">
        <p14:creationId xmlns:p14="http://schemas.microsoft.com/office/powerpoint/2010/main" val="28032413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B6665615-A6C6-807B-B6B5-B73EC87341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075" y="167800"/>
            <a:ext cx="6419850" cy="238125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87469CC-ED33-F442-446D-E18AC9BB1C87}"/>
              </a:ext>
            </a:extLst>
          </p:cNvPr>
          <p:cNvSpPr txBox="1"/>
          <p:nvPr/>
        </p:nvSpPr>
        <p:spPr>
          <a:xfrm>
            <a:off x="2590800" y="0"/>
            <a:ext cx="42672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50" dirty="0"/>
              <a:t>*</a:t>
            </a:r>
            <a:r>
              <a:rPr lang="ko-KR" altLang="en-US" sz="1050" dirty="0"/>
              <a:t>블루 아카이브 </a:t>
            </a:r>
            <a:r>
              <a:rPr lang="ko-KR" altLang="en-US" sz="1050" dirty="0" err="1"/>
              <a:t>팬메이드</a:t>
            </a:r>
            <a:r>
              <a:rPr lang="ko-KR" altLang="en-US" sz="1050" dirty="0"/>
              <a:t> 카드 게임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5D8743E-E16A-1AE2-6AE1-E9CDF20C7C4D}"/>
              </a:ext>
            </a:extLst>
          </p:cNvPr>
          <p:cNvSpPr txBox="1"/>
          <p:nvPr/>
        </p:nvSpPr>
        <p:spPr>
          <a:xfrm>
            <a:off x="765628" y="2716850"/>
            <a:ext cx="53267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latin typeface="+mj-ea"/>
                <a:ea typeface="+mj-ea"/>
              </a:rPr>
              <a:t>학생들을 소환하고</a:t>
            </a:r>
            <a:r>
              <a:rPr lang="en-US" altLang="ko-KR" dirty="0">
                <a:latin typeface="+mj-ea"/>
                <a:ea typeface="+mj-ea"/>
              </a:rPr>
              <a:t>, </a:t>
            </a:r>
            <a:r>
              <a:rPr lang="ko-KR" altLang="en-US" dirty="0">
                <a:latin typeface="+mj-ea"/>
                <a:ea typeface="+mj-ea"/>
              </a:rPr>
              <a:t>동아리 시너지를 활용해</a:t>
            </a:r>
            <a:endParaRPr lang="en-US" altLang="ko-KR" dirty="0">
              <a:latin typeface="+mj-ea"/>
              <a:ea typeface="+mj-ea"/>
            </a:endParaRPr>
          </a:p>
          <a:p>
            <a:pPr algn="ctr"/>
            <a:r>
              <a:rPr lang="ko-KR" altLang="en-US" dirty="0">
                <a:latin typeface="+mj-ea"/>
                <a:ea typeface="+mj-ea"/>
              </a:rPr>
              <a:t>상대 </a:t>
            </a:r>
            <a:r>
              <a:rPr lang="ko-KR" altLang="en-US">
                <a:latin typeface="+mj-ea"/>
                <a:ea typeface="+mj-ea"/>
              </a:rPr>
              <a:t>선생님과의 대전에서 </a:t>
            </a:r>
            <a:r>
              <a:rPr lang="ko-KR" altLang="en-US" dirty="0">
                <a:latin typeface="+mj-ea"/>
                <a:ea typeface="+mj-ea"/>
              </a:rPr>
              <a:t>승리하자</a:t>
            </a:r>
            <a:r>
              <a:rPr lang="en-US" altLang="ko-KR" dirty="0">
                <a:latin typeface="+mj-ea"/>
                <a:ea typeface="+mj-ea"/>
              </a:rPr>
              <a:t>!</a:t>
            </a:r>
            <a:endParaRPr lang="ko-KR" altLang="en-US" dirty="0">
              <a:latin typeface="+mj-ea"/>
              <a:ea typeface="+mj-ea"/>
            </a:endParaRPr>
          </a:p>
        </p:txBody>
      </p:sp>
      <p:graphicFrame>
        <p:nvGraphicFramePr>
          <p:cNvPr id="42" name="표 41">
            <a:extLst>
              <a:ext uri="{FF2B5EF4-FFF2-40B4-BE49-F238E27FC236}">
                <a16:creationId xmlns:a16="http://schemas.microsoft.com/office/drawing/2014/main" id="{B4B4C495-207D-8E8E-EDB8-6B32AE687A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0918101"/>
              </p:ext>
            </p:extLst>
          </p:nvPr>
        </p:nvGraphicFramePr>
        <p:xfrm>
          <a:off x="631824" y="3994962"/>
          <a:ext cx="5624828" cy="15055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4828">
                  <a:extLst>
                    <a:ext uri="{9D8B030D-6E8A-4147-A177-3AD203B41FA5}">
                      <a16:colId xmlns:a16="http://schemas.microsoft.com/office/drawing/2014/main" val="620431209"/>
                    </a:ext>
                  </a:extLst>
                </a:gridCol>
              </a:tblGrid>
              <a:tr h="613997"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24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게임 목표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4896928"/>
                  </a:ext>
                </a:extLst>
              </a:tr>
              <a:tr h="127123">
                <a:tc>
                  <a:txBody>
                    <a:bodyPr/>
                    <a:lstStyle/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플레이어는 학생</a:t>
                      </a:r>
                      <a:r>
                        <a:rPr lang="en-US" altLang="ko-KR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/</a:t>
                      </a:r>
                      <a:r>
                        <a:rPr lang="ko-KR" altLang="en-US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비학생</a:t>
                      </a:r>
                      <a:r>
                        <a:rPr lang="en-US" altLang="ko-KR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/</a:t>
                      </a:r>
                      <a:r>
                        <a:rPr lang="ko-KR" altLang="en-US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장소</a:t>
                      </a:r>
                      <a:r>
                        <a:rPr lang="en-US" altLang="ko-KR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/</a:t>
                      </a:r>
                      <a:r>
                        <a:rPr lang="ko-KR" altLang="en-US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이벤트 카드를 활용해 </a:t>
                      </a:r>
                      <a:r>
                        <a:rPr lang="ko-KR" altLang="en-US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덱을</a:t>
                      </a:r>
                      <a:r>
                        <a:rPr lang="ko-KR" altLang="en-US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 구성합니다</a:t>
                      </a:r>
                      <a:r>
                        <a:rPr lang="en-US" altLang="ko-KR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.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6027237"/>
                  </a:ext>
                </a:extLst>
              </a:tr>
              <a:tr h="127123">
                <a:tc>
                  <a:txBody>
                    <a:bodyPr/>
                    <a:lstStyle/>
                    <a:p>
                      <a:pPr marL="285750" marR="0" lvl="0" indent="-285750" algn="l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같은 동아리 학생</a:t>
                      </a:r>
                      <a:r>
                        <a:rPr lang="ko-KR" altLang="en-US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들이 모이면 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특별한 효과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(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시너지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)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가 발동</a:t>
                      </a:r>
                      <a:r>
                        <a:rPr lang="ko-KR" altLang="en-US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되어 강해집니다</a:t>
                      </a:r>
                      <a:r>
                        <a:rPr lang="en-US" altLang="ko-KR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!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329374"/>
                  </a:ext>
                </a:extLst>
              </a:tr>
              <a:tr h="216489">
                <a:tc>
                  <a:txBody>
                    <a:bodyPr/>
                    <a:lstStyle/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전투와 시너지를 활용해 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상대 선생님의 체력을 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0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으로 만들면 승리</a:t>
                      </a:r>
                      <a:r>
                        <a:rPr lang="ko-KR" altLang="en-US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합니다</a:t>
                      </a:r>
                      <a:r>
                        <a:rPr lang="en-US" altLang="ko-KR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.</a:t>
                      </a:r>
                      <a:endParaRPr lang="ko-KR" altLang="en-US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9337059"/>
                  </a:ext>
                </a:extLst>
              </a:tr>
            </a:tbl>
          </a:graphicData>
        </a:graphic>
      </p:graphicFrame>
      <p:graphicFrame>
        <p:nvGraphicFramePr>
          <p:cNvPr id="44" name="표 43">
            <a:extLst>
              <a:ext uri="{FF2B5EF4-FFF2-40B4-BE49-F238E27FC236}">
                <a16:creationId xmlns:a16="http://schemas.microsoft.com/office/drawing/2014/main" id="{FD697E5A-3084-2A0A-5C3B-9A6D7BB38F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6489658"/>
              </p:ext>
            </p:extLst>
          </p:nvPr>
        </p:nvGraphicFramePr>
        <p:xfrm>
          <a:off x="535730" y="10279017"/>
          <a:ext cx="5786535" cy="8915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6436">
                  <a:extLst>
                    <a:ext uri="{9D8B030D-6E8A-4147-A177-3AD203B41FA5}">
                      <a16:colId xmlns:a16="http://schemas.microsoft.com/office/drawing/2014/main" val="2360100868"/>
                    </a:ext>
                  </a:extLst>
                </a:gridCol>
                <a:gridCol w="4930099">
                  <a:extLst>
                    <a:ext uri="{9D8B030D-6E8A-4147-A177-3AD203B41FA5}">
                      <a16:colId xmlns:a16="http://schemas.microsoft.com/office/drawing/2014/main" val="620431209"/>
                    </a:ext>
                  </a:extLst>
                </a:gridCol>
              </a:tblGrid>
              <a:tr h="127123">
                <a:tc>
                  <a:txBody>
                    <a:bodyPr/>
                    <a:lstStyle/>
                    <a:p>
                      <a:pPr marL="0" indent="0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j-ea"/>
                          <a:ea typeface="+mj-ea"/>
                        </a:rPr>
                        <a:t>중립 타일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양 플레이어 모두 배치 가능</a:t>
                      </a:r>
                      <a:r>
                        <a:rPr lang="en-US" altLang="ko-KR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r>
                        <a:rPr lang="ko-KR" altLang="en-US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특정 카드</a:t>
                      </a:r>
                      <a:r>
                        <a:rPr lang="en-US" altLang="ko-KR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장소 카드</a:t>
                      </a:r>
                      <a:r>
                        <a:rPr lang="en-US" altLang="ko-KR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 배치 불가능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6027237"/>
                  </a:ext>
                </a:extLst>
              </a:tr>
              <a:tr h="127123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j-ea"/>
                          <a:ea typeface="+mj-ea"/>
                        </a:rPr>
                        <a:t>실외 타일</a:t>
                      </a:r>
                      <a:endParaRPr lang="en-US" altLang="ko-KR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모든 유닛 배치 가능</a:t>
                      </a:r>
                      <a:endParaRPr lang="en-US" altLang="ko-KR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3293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j-ea"/>
                          <a:ea typeface="+mj-ea"/>
                        </a:rPr>
                        <a:t>실내 타일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r>
                        <a:rPr lang="ko-KR" altLang="en-US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특정 카드</a:t>
                      </a:r>
                      <a:r>
                        <a:rPr lang="en-US" altLang="ko-KR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장소 카드</a:t>
                      </a:r>
                      <a:r>
                        <a:rPr lang="en-US" altLang="ko-KR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를 제외한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모든 카드 배치 가능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9337059"/>
                  </a:ext>
                </a:extLst>
              </a:tr>
            </a:tbl>
          </a:graphicData>
        </a:graphic>
      </p:graphicFrame>
      <p:grpSp>
        <p:nvGrpSpPr>
          <p:cNvPr id="1088" name="그룹 1087">
            <a:extLst>
              <a:ext uri="{FF2B5EF4-FFF2-40B4-BE49-F238E27FC236}">
                <a16:creationId xmlns:a16="http://schemas.microsoft.com/office/drawing/2014/main" id="{EA2BFC32-877C-78CC-E95A-ACEC45FF9679}"/>
              </a:ext>
            </a:extLst>
          </p:cNvPr>
          <p:cNvGrpSpPr/>
          <p:nvPr/>
        </p:nvGrpSpPr>
        <p:grpSpPr>
          <a:xfrm>
            <a:off x="-240888" y="5844822"/>
            <a:ext cx="7365950" cy="4156817"/>
            <a:chOff x="-240888" y="6113017"/>
            <a:chExt cx="7365950" cy="4156817"/>
          </a:xfrm>
        </p:grpSpPr>
        <p:grpSp>
          <p:nvGrpSpPr>
            <p:cNvPr id="43" name="그룹 42">
              <a:extLst>
                <a:ext uri="{FF2B5EF4-FFF2-40B4-BE49-F238E27FC236}">
                  <a16:creationId xmlns:a16="http://schemas.microsoft.com/office/drawing/2014/main" id="{ED55982D-68F0-422E-C6D2-8EDEF5833C58}"/>
                </a:ext>
              </a:extLst>
            </p:cNvPr>
            <p:cNvGrpSpPr/>
            <p:nvPr/>
          </p:nvGrpSpPr>
          <p:grpSpPr>
            <a:xfrm>
              <a:off x="535730" y="6113017"/>
              <a:ext cx="5786536" cy="3950325"/>
              <a:chOff x="535730" y="5391605"/>
              <a:chExt cx="5786536" cy="3950325"/>
            </a:xfrm>
          </p:grpSpPr>
          <p:pic>
            <p:nvPicPr>
              <p:cNvPr id="28" name="그림 27">
                <a:extLst>
                  <a:ext uri="{FF2B5EF4-FFF2-40B4-BE49-F238E27FC236}">
                    <a16:creationId xmlns:a16="http://schemas.microsoft.com/office/drawing/2014/main" id="{4494A1C2-BA13-985C-C3C8-33A38994D06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35730" y="6096000"/>
                <a:ext cx="5786536" cy="3245930"/>
              </a:xfrm>
              <a:prstGeom prst="rect">
                <a:avLst/>
              </a:prstGeom>
            </p:spPr>
          </p:pic>
          <p:sp>
            <p:nvSpPr>
              <p:cNvPr id="32" name="직사각형 31">
                <a:extLst>
                  <a:ext uri="{FF2B5EF4-FFF2-40B4-BE49-F238E27FC236}">
                    <a16:creationId xmlns:a16="http://schemas.microsoft.com/office/drawing/2014/main" id="{E04D72F2-7829-E56E-BB04-7B4F41072C54}"/>
                  </a:ext>
                </a:extLst>
              </p:cNvPr>
              <p:cNvSpPr/>
              <p:nvPr/>
            </p:nvSpPr>
            <p:spPr>
              <a:xfrm>
                <a:off x="1828800" y="7555135"/>
                <a:ext cx="3230880" cy="327660"/>
              </a:xfrm>
              <a:prstGeom prst="rect">
                <a:avLst/>
              </a:prstGeom>
              <a:solidFill>
                <a:srgbClr val="FFFF00">
                  <a:alpha val="45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400" dirty="0">
                    <a:solidFill>
                      <a:sysClr val="windowText" lastClr="000000"/>
                    </a:solidFill>
                  </a:rPr>
                  <a:t>중립 타일</a:t>
                </a:r>
              </a:p>
            </p:txBody>
          </p:sp>
          <p:sp>
            <p:nvSpPr>
              <p:cNvPr id="33" name="직사각형 32">
                <a:extLst>
                  <a:ext uri="{FF2B5EF4-FFF2-40B4-BE49-F238E27FC236}">
                    <a16:creationId xmlns:a16="http://schemas.microsoft.com/office/drawing/2014/main" id="{8F3F4E5D-FB2D-99B7-0222-15FB5C38ABB8}"/>
                  </a:ext>
                </a:extLst>
              </p:cNvPr>
              <p:cNvSpPr/>
              <p:nvPr/>
            </p:nvSpPr>
            <p:spPr>
              <a:xfrm>
                <a:off x="2728910" y="8122763"/>
                <a:ext cx="1400175" cy="29305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  <a:alpha val="62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400" dirty="0">
                    <a:solidFill>
                      <a:sysClr val="windowText" lastClr="000000"/>
                    </a:solidFill>
                  </a:rPr>
                  <a:t>실외 타일</a:t>
                </a:r>
              </a:p>
            </p:txBody>
          </p:sp>
          <p:sp>
            <p:nvSpPr>
              <p:cNvPr id="34" name="직사각형 33">
                <a:extLst>
                  <a:ext uri="{FF2B5EF4-FFF2-40B4-BE49-F238E27FC236}">
                    <a16:creationId xmlns:a16="http://schemas.microsoft.com/office/drawing/2014/main" id="{1D3B173B-E2B1-0B6A-2049-752C2CEFF749}"/>
                  </a:ext>
                </a:extLst>
              </p:cNvPr>
              <p:cNvSpPr/>
              <p:nvPr/>
            </p:nvSpPr>
            <p:spPr>
              <a:xfrm>
                <a:off x="2728910" y="7022117"/>
                <a:ext cx="1400175" cy="29305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  <a:alpha val="62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400" dirty="0">
                    <a:solidFill>
                      <a:sysClr val="windowText" lastClr="000000"/>
                    </a:solidFill>
                  </a:rPr>
                  <a:t>실외 타일</a:t>
                </a:r>
              </a:p>
            </p:txBody>
          </p:sp>
          <p:sp>
            <p:nvSpPr>
              <p:cNvPr id="35" name="막힌 원호 34">
                <a:extLst>
                  <a:ext uri="{FF2B5EF4-FFF2-40B4-BE49-F238E27FC236}">
                    <a16:creationId xmlns:a16="http://schemas.microsoft.com/office/drawing/2014/main" id="{606817F0-7CC2-88C4-1CEC-D03CBE52AC41}"/>
                  </a:ext>
                </a:extLst>
              </p:cNvPr>
              <p:cNvSpPr/>
              <p:nvPr/>
            </p:nvSpPr>
            <p:spPr>
              <a:xfrm>
                <a:off x="2065336" y="6509863"/>
                <a:ext cx="2727328" cy="1759424"/>
              </a:xfrm>
              <a:prstGeom prst="blockArc">
                <a:avLst>
                  <a:gd name="adj1" fmla="val 10800000"/>
                  <a:gd name="adj2" fmla="val 36777"/>
                  <a:gd name="adj3" fmla="val 12272"/>
                </a:avLst>
              </a:prstGeom>
              <a:solidFill>
                <a:schemeClr val="accent2">
                  <a:alpha val="86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6" name="막힌 원호 35">
                <a:extLst>
                  <a:ext uri="{FF2B5EF4-FFF2-40B4-BE49-F238E27FC236}">
                    <a16:creationId xmlns:a16="http://schemas.microsoft.com/office/drawing/2014/main" id="{072CD242-5E32-23F9-C890-5268B1BCC73A}"/>
                  </a:ext>
                </a:extLst>
              </p:cNvPr>
              <p:cNvSpPr/>
              <p:nvPr/>
            </p:nvSpPr>
            <p:spPr>
              <a:xfrm rot="10800000">
                <a:off x="2065333" y="7142945"/>
                <a:ext cx="2727328" cy="1805318"/>
              </a:xfrm>
              <a:prstGeom prst="blockArc">
                <a:avLst>
                  <a:gd name="adj1" fmla="val 10800000"/>
                  <a:gd name="adj2" fmla="val 36777"/>
                  <a:gd name="adj3" fmla="val 12272"/>
                </a:avLst>
              </a:prstGeom>
              <a:solidFill>
                <a:schemeClr val="accent2">
                  <a:alpha val="86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E5BC91E5-FDE8-9636-3C38-19B11580E4B4}"/>
                  </a:ext>
                </a:extLst>
              </p:cNvPr>
              <p:cNvSpPr txBox="1"/>
              <p:nvPr/>
            </p:nvSpPr>
            <p:spPr>
              <a:xfrm>
                <a:off x="2830672" y="6489504"/>
                <a:ext cx="1227135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1100" dirty="0"/>
                  <a:t>실내 타일</a:t>
                </a:r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D1585A50-C930-2AAF-EE32-397185764F6C}"/>
                  </a:ext>
                </a:extLst>
              </p:cNvPr>
              <p:cNvSpPr txBox="1"/>
              <p:nvPr/>
            </p:nvSpPr>
            <p:spPr>
              <a:xfrm>
                <a:off x="2815429" y="8686653"/>
                <a:ext cx="1227135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1100" dirty="0"/>
                  <a:t>실내 타일</a:t>
                </a:r>
              </a:p>
            </p:txBody>
          </p: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1FFF46B8-C74A-152C-C7E7-D5A4D79810CB}"/>
                  </a:ext>
                </a:extLst>
              </p:cNvPr>
              <p:cNvSpPr txBox="1"/>
              <p:nvPr/>
            </p:nvSpPr>
            <p:spPr>
              <a:xfrm>
                <a:off x="780867" y="5391605"/>
                <a:ext cx="532674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2400" dirty="0">
                    <a:latin typeface="+mj-ea"/>
                    <a:ea typeface="+mj-ea"/>
                  </a:rPr>
                  <a:t>필드 구조 간단 소개</a:t>
                </a:r>
              </a:p>
            </p:txBody>
          </p:sp>
        </p:grp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641E2E14-B061-E2E0-D70B-EC5B96C13021}"/>
                </a:ext>
              </a:extLst>
            </p:cNvPr>
            <p:cNvSpPr txBox="1"/>
            <p:nvPr/>
          </p:nvSpPr>
          <p:spPr>
            <a:xfrm>
              <a:off x="982983" y="7683007"/>
              <a:ext cx="140017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rgbClr val="FF0000"/>
                  </a:solidFill>
                </a:rPr>
                <a:t>*</a:t>
              </a:r>
              <a:r>
                <a:rPr lang="ko-KR" altLang="en-US" sz="1200" dirty="0">
                  <a:solidFill>
                    <a:srgbClr val="FF0000"/>
                  </a:solidFill>
                </a:rPr>
                <a:t>적 필드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EB1E51CC-39C6-F346-DA84-4FA62BD4992E}"/>
                </a:ext>
              </a:extLst>
            </p:cNvPr>
            <p:cNvSpPr txBox="1"/>
            <p:nvPr/>
          </p:nvSpPr>
          <p:spPr>
            <a:xfrm>
              <a:off x="982984" y="8793370"/>
              <a:ext cx="140017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rgbClr val="0070C0"/>
                  </a:solidFill>
                </a:rPr>
                <a:t>*</a:t>
              </a:r>
              <a:r>
                <a:rPr lang="ko-KR" altLang="en-US" sz="1200" dirty="0">
                  <a:solidFill>
                    <a:srgbClr val="0070C0"/>
                  </a:solidFill>
                </a:rPr>
                <a:t>자신의 필드</a:t>
              </a:r>
            </a:p>
          </p:txBody>
        </p:sp>
        <p:sp>
          <p:nvSpPr>
            <p:cNvPr id="48" name="직사각형 47">
              <a:extLst>
                <a:ext uri="{FF2B5EF4-FFF2-40B4-BE49-F238E27FC236}">
                  <a16:creationId xmlns:a16="http://schemas.microsoft.com/office/drawing/2014/main" id="{DCFC7807-9CC4-6DCA-4605-0481EFD11021}"/>
                </a:ext>
              </a:extLst>
            </p:cNvPr>
            <p:cNvSpPr/>
            <p:nvPr/>
          </p:nvSpPr>
          <p:spPr>
            <a:xfrm>
              <a:off x="566214" y="7934236"/>
              <a:ext cx="386286" cy="997634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F1A8A509-0E84-1ACC-DF34-BB8CF32E228F}"/>
                </a:ext>
              </a:extLst>
            </p:cNvPr>
            <p:cNvSpPr/>
            <p:nvPr/>
          </p:nvSpPr>
          <p:spPr>
            <a:xfrm>
              <a:off x="5899228" y="7934236"/>
              <a:ext cx="386286" cy="997634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cxnSp>
          <p:nvCxnSpPr>
            <p:cNvPr id="52" name="직선 연결선 51">
              <a:extLst>
                <a:ext uri="{FF2B5EF4-FFF2-40B4-BE49-F238E27FC236}">
                  <a16:creationId xmlns:a16="http://schemas.microsoft.com/office/drawing/2014/main" id="{1F320682-D897-0078-AE87-0503462B9ADE}"/>
                </a:ext>
              </a:extLst>
            </p:cNvPr>
            <p:cNvCxnSpPr>
              <a:cxnSpLocks/>
            </p:cNvCxnSpPr>
            <p:nvPr/>
          </p:nvCxnSpPr>
          <p:spPr>
            <a:xfrm>
              <a:off x="6285514" y="8564857"/>
              <a:ext cx="88804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64CFA86F-CCC3-8AAA-33CD-6D0FEDDEE096}"/>
                </a:ext>
              </a:extLst>
            </p:cNvPr>
            <p:cNvSpPr txBox="1"/>
            <p:nvPr/>
          </p:nvSpPr>
          <p:spPr>
            <a:xfrm>
              <a:off x="-240888" y="8290177"/>
              <a:ext cx="1045840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/>
                <a:t>플레이어</a:t>
              </a:r>
              <a:endParaRPr lang="en-US" altLang="ko-KR" sz="1000" dirty="0"/>
            </a:p>
            <a:p>
              <a:pPr algn="ctr"/>
              <a:r>
                <a:rPr lang="ko-KR" altLang="en-US" sz="1000" dirty="0"/>
                <a:t>동아리 </a:t>
              </a:r>
              <a:endParaRPr lang="en-US" altLang="ko-KR" sz="1000" dirty="0"/>
            </a:p>
            <a:p>
              <a:pPr algn="ctr"/>
              <a:r>
                <a:rPr lang="ko-KR" altLang="en-US" sz="1000" dirty="0"/>
                <a:t>시너지</a:t>
              </a:r>
            </a:p>
          </p:txBody>
        </p:sp>
        <p:cxnSp>
          <p:nvCxnSpPr>
            <p:cNvPr id="55" name="직선 연결선 54">
              <a:extLst>
                <a:ext uri="{FF2B5EF4-FFF2-40B4-BE49-F238E27FC236}">
                  <a16:creationId xmlns:a16="http://schemas.microsoft.com/office/drawing/2014/main" id="{14828DD6-4701-74FE-CD2E-D773BF956C9E}"/>
                </a:ext>
              </a:extLst>
            </p:cNvPr>
            <p:cNvCxnSpPr>
              <a:cxnSpLocks/>
            </p:cNvCxnSpPr>
            <p:nvPr/>
          </p:nvCxnSpPr>
          <p:spPr>
            <a:xfrm>
              <a:off x="477410" y="8567176"/>
              <a:ext cx="88804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직사각형 56">
              <a:extLst>
                <a:ext uri="{FF2B5EF4-FFF2-40B4-BE49-F238E27FC236}">
                  <a16:creationId xmlns:a16="http://schemas.microsoft.com/office/drawing/2014/main" id="{D93E81A6-E5FC-C939-2F0A-E19D57686556}"/>
                </a:ext>
              </a:extLst>
            </p:cNvPr>
            <p:cNvSpPr/>
            <p:nvPr/>
          </p:nvSpPr>
          <p:spPr>
            <a:xfrm>
              <a:off x="566214" y="9807803"/>
              <a:ext cx="2113486" cy="22279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8" name="직사각형 57">
              <a:extLst>
                <a:ext uri="{FF2B5EF4-FFF2-40B4-BE49-F238E27FC236}">
                  <a16:creationId xmlns:a16="http://schemas.microsoft.com/office/drawing/2014/main" id="{0B3B3DAB-45F9-0072-F600-49EAAC76E5C1}"/>
                </a:ext>
              </a:extLst>
            </p:cNvPr>
            <p:cNvSpPr/>
            <p:nvPr/>
          </p:nvSpPr>
          <p:spPr>
            <a:xfrm>
              <a:off x="4356100" y="6850213"/>
              <a:ext cx="1973816" cy="22279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40FB97FE-3C34-27EB-C264-89B626B22076}"/>
                </a:ext>
              </a:extLst>
            </p:cNvPr>
            <p:cNvSpPr txBox="1"/>
            <p:nvPr/>
          </p:nvSpPr>
          <p:spPr>
            <a:xfrm>
              <a:off x="4991100" y="6644143"/>
              <a:ext cx="126555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 dirty="0"/>
                <a:t>적 보유 </a:t>
              </a:r>
              <a:r>
                <a:rPr lang="ko-KR" altLang="en-US" sz="800" dirty="0" err="1"/>
                <a:t>청휘석</a:t>
              </a:r>
              <a:endParaRPr lang="ko-KR" altLang="en-US" sz="800" dirty="0"/>
            </a:p>
          </p:txBody>
        </p:sp>
        <p:cxnSp>
          <p:nvCxnSpPr>
            <p:cNvPr id="61" name="연결선: 꺾임 60">
              <a:extLst>
                <a:ext uri="{FF2B5EF4-FFF2-40B4-BE49-F238E27FC236}">
                  <a16:creationId xmlns:a16="http://schemas.microsoft.com/office/drawing/2014/main" id="{F90ADDCE-D697-D9E7-A3AF-1667B1B4A74A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4904419" y="6706720"/>
              <a:ext cx="98348" cy="188639"/>
            </a:xfrm>
            <a:prstGeom prst="bentConnector2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25" name="TextBox 1024">
              <a:extLst>
                <a:ext uri="{FF2B5EF4-FFF2-40B4-BE49-F238E27FC236}">
                  <a16:creationId xmlns:a16="http://schemas.microsoft.com/office/drawing/2014/main" id="{A407BFC3-BA8C-033C-CCCE-974819DB4721}"/>
                </a:ext>
              </a:extLst>
            </p:cNvPr>
            <p:cNvSpPr txBox="1"/>
            <p:nvPr/>
          </p:nvSpPr>
          <p:spPr>
            <a:xfrm>
              <a:off x="1050294" y="10054390"/>
              <a:ext cx="126555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 dirty="0"/>
                <a:t>플레이어 보유 </a:t>
              </a:r>
              <a:r>
                <a:rPr lang="ko-KR" altLang="en-US" sz="800" dirty="0" err="1"/>
                <a:t>청휘석</a:t>
              </a:r>
              <a:endParaRPr lang="ko-KR" altLang="en-US" sz="800" dirty="0"/>
            </a:p>
          </p:txBody>
        </p:sp>
        <p:cxnSp>
          <p:nvCxnSpPr>
            <p:cNvPr id="1027" name="연결선: 꺾임 1026">
              <a:extLst>
                <a:ext uri="{FF2B5EF4-FFF2-40B4-BE49-F238E27FC236}">
                  <a16:creationId xmlns:a16="http://schemas.microsoft.com/office/drawing/2014/main" id="{60AECFEF-7554-8B13-C9F4-F47AE986CFC5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951557" y="9993431"/>
              <a:ext cx="131517" cy="205843"/>
            </a:xfrm>
            <a:prstGeom prst="bentConnector2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34" name="직사각형 1033">
              <a:extLst>
                <a:ext uri="{FF2B5EF4-FFF2-40B4-BE49-F238E27FC236}">
                  <a16:creationId xmlns:a16="http://schemas.microsoft.com/office/drawing/2014/main" id="{C3308FF4-374D-12F4-3028-B2C3FBE1FFEF}"/>
                </a:ext>
              </a:extLst>
            </p:cNvPr>
            <p:cNvSpPr/>
            <p:nvPr/>
          </p:nvSpPr>
          <p:spPr>
            <a:xfrm>
              <a:off x="5663776" y="8960554"/>
              <a:ext cx="621738" cy="426496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cxnSp>
          <p:nvCxnSpPr>
            <p:cNvPr id="1035" name="연결선: 꺾임 1034">
              <a:extLst>
                <a:ext uri="{FF2B5EF4-FFF2-40B4-BE49-F238E27FC236}">
                  <a16:creationId xmlns:a16="http://schemas.microsoft.com/office/drawing/2014/main" id="{C036F176-2FDB-A20A-4578-3BA293FF6828}"/>
                </a:ext>
              </a:extLst>
            </p:cNvPr>
            <p:cNvCxnSpPr>
              <a:cxnSpLocks/>
              <a:stCxn id="1034" idx="1"/>
              <a:endCxn id="1037" idx="0"/>
            </p:cNvCxnSpPr>
            <p:nvPr/>
          </p:nvCxnSpPr>
          <p:spPr>
            <a:xfrm rot="10800000" flipV="1">
              <a:off x="5084594" y="9173801"/>
              <a:ext cx="579183" cy="880375"/>
            </a:xfrm>
            <a:prstGeom prst="bentConnector2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37" name="TextBox 1036">
              <a:extLst>
                <a:ext uri="{FF2B5EF4-FFF2-40B4-BE49-F238E27FC236}">
                  <a16:creationId xmlns:a16="http://schemas.microsoft.com/office/drawing/2014/main" id="{5A05D49B-9225-2419-CB0F-B06E30D1B8C4}"/>
                </a:ext>
              </a:extLst>
            </p:cNvPr>
            <p:cNvSpPr txBox="1"/>
            <p:nvPr/>
          </p:nvSpPr>
          <p:spPr>
            <a:xfrm>
              <a:off x="4554202" y="10054177"/>
              <a:ext cx="1060781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dirty="0"/>
                <a:t>턴 진행 상황 표시</a:t>
              </a:r>
            </a:p>
          </p:txBody>
        </p:sp>
        <p:sp>
          <p:nvSpPr>
            <p:cNvPr id="1042" name="직사각형 1041">
              <a:extLst>
                <a:ext uri="{FF2B5EF4-FFF2-40B4-BE49-F238E27FC236}">
                  <a16:creationId xmlns:a16="http://schemas.microsoft.com/office/drawing/2014/main" id="{666B2882-F8B9-C705-2FC6-1ED996391474}"/>
                </a:ext>
              </a:extLst>
            </p:cNvPr>
            <p:cNvSpPr/>
            <p:nvPr/>
          </p:nvSpPr>
          <p:spPr>
            <a:xfrm>
              <a:off x="5542756" y="9428033"/>
              <a:ext cx="713895" cy="573433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cxnSp>
          <p:nvCxnSpPr>
            <p:cNvPr id="1044" name="연결선: 꺾임 1043">
              <a:extLst>
                <a:ext uri="{FF2B5EF4-FFF2-40B4-BE49-F238E27FC236}">
                  <a16:creationId xmlns:a16="http://schemas.microsoft.com/office/drawing/2014/main" id="{0717821B-DAD9-5202-AEAD-FA7DF2846B60}"/>
                </a:ext>
              </a:extLst>
            </p:cNvPr>
            <p:cNvCxnSpPr>
              <a:cxnSpLocks/>
              <a:stCxn id="1046" idx="0"/>
            </p:cNvCxnSpPr>
            <p:nvPr/>
          </p:nvCxnSpPr>
          <p:spPr>
            <a:xfrm rot="5400000" flipH="1" flipV="1">
              <a:off x="5952727" y="9987318"/>
              <a:ext cx="53031" cy="81115"/>
            </a:xfrm>
            <a:prstGeom prst="bentConnector2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46" name="TextBox 1045">
              <a:extLst>
                <a:ext uri="{FF2B5EF4-FFF2-40B4-BE49-F238E27FC236}">
                  <a16:creationId xmlns:a16="http://schemas.microsoft.com/office/drawing/2014/main" id="{135EE055-3432-21C8-4A1B-D84913851C71}"/>
                </a:ext>
              </a:extLst>
            </p:cNvPr>
            <p:cNvSpPr txBox="1"/>
            <p:nvPr/>
          </p:nvSpPr>
          <p:spPr>
            <a:xfrm>
              <a:off x="5626262" y="10054390"/>
              <a:ext cx="624846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dirty="0"/>
                <a:t>턴 종료</a:t>
              </a:r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6914957A-2653-DE6C-2A7F-A9C82C0B0E1A}"/>
                </a:ext>
              </a:extLst>
            </p:cNvPr>
            <p:cNvSpPr txBox="1"/>
            <p:nvPr/>
          </p:nvSpPr>
          <p:spPr>
            <a:xfrm>
              <a:off x="6079222" y="8290177"/>
              <a:ext cx="1045840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/>
                <a:t>적 </a:t>
              </a:r>
              <a:endParaRPr lang="en-US" altLang="ko-KR" sz="1000" dirty="0"/>
            </a:p>
            <a:p>
              <a:pPr algn="ctr"/>
              <a:r>
                <a:rPr lang="ko-KR" altLang="en-US" sz="1000" dirty="0"/>
                <a:t>동아리 </a:t>
              </a:r>
              <a:endParaRPr lang="en-US" altLang="ko-KR" sz="1000" dirty="0"/>
            </a:p>
            <a:p>
              <a:pPr algn="ctr"/>
              <a:r>
                <a:rPr lang="ko-KR" altLang="en-US" sz="1000" dirty="0"/>
                <a:t>시너지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930870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B41B73-C186-C981-3A65-77675EFC0C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409535B-CEDF-3E81-C4C4-F8367670EAED}"/>
              </a:ext>
            </a:extLst>
          </p:cNvPr>
          <p:cNvSpPr txBox="1"/>
          <p:nvPr/>
        </p:nvSpPr>
        <p:spPr>
          <a:xfrm>
            <a:off x="1231117" y="359692"/>
            <a:ext cx="14779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dirty="0">
                <a:latin typeface="+mj-ea"/>
                <a:ea typeface="+mj-ea"/>
              </a:rPr>
              <a:t>카드 설명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C72675E8-4E8E-3DD0-94A2-1F95F39343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9819900"/>
              </p:ext>
            </p:extLst>
          </p:nvPr>
        </p:nvGraphicFramePr>
        <p:xfrm>
          <a:off x="765628" y="6455109"/>
          <a:ext cx="5280341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3143">
                  <a:extLst>
                    <a:ext uri="{9D8B030D-6E8A-4147-A177-3AD203B41FA5}">
                      <a16:colId xmlns:a16="http://schemas.microsoft.com/office/drawing/2014/main" val="2591183677"/>
                    </a:ext>
                  </a:extLst>
                </a:gridCol>
                <a:gridCol w="1013143">
                  <a:extLst>
                    <a:ext uri="{9D8B030D-6E8A-4147-A177-3AD203B41FA5}">
                      <a16:colId xmlns:a16="http://schemas.microsoft.com/office/drawing/2014/main" val="2360100868"/>
                    </a:ext>
                  </a:extLst>
                </a:gridCol>
                <a:gridCol w="3254055">
                  <a:extLst>
                    <a:ext uri="{9D8B030D-6E8A-4147-A177-3AD203B41FA5}">
                      <a16:colId xmlns:a16="http://schemas.microsoft.com/office/drawing/2014/main" val="620431209"/>
                    </a:ext>
                  </a:extLst>
                </a:gridCol>
              </a:tblGrid>
              <a:tr h="127123">
                <a:tc rowSpan="2"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j-ea"/>
                          <a:ea typeface="+mj-ea"/>
                        </a:rPr>
                        <a:t>공격 </a:t>
                      </a:r>
                      <a:endParaRPr lang="en-US" altLang="ko-KR" sz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j-ea"/>
                        <a:ea typeface="+mj-ea"/>
                      </a:endParaRPr>
                    </a:p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j-ea"/>
                          <a:ea typeface="+mj-ea"/>
                        </a:rPr>
                        <a:t>가능 카드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j-ea"/>
                          <a:ea typeface="+mj-ea"/>
                        </a:rPr>
                        <a:t>학생 카드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12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공격 가능한 유닛 카드</a:t>
                      </a:r>
                      <a:endParaRPr lang="en-US" altLang="ko-KR" sz="12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90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r>
                        <a:rPr lang="ko-KR" altLang="en-US" sz="90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동아리에 소속되어 시너지를 발동시킬 수 있는 카드</a:t>
                      </a:r>
                      <a:endParaRPr lang="en-US" altLang="ko-KR" sz="900" b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6027237"/>
                  </a:ext>
                </a:extLst>
              </a:tr>
              <a:tr h="127123">
                <a:tc vMerge="1">
                  <a:txBody>
                    <a:bodyPr/>
                    <a:lstStyle/>
                    <a:p>
                      <a:pPr marL="0" marR="0" lvl="0" indent="0" algn="l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20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j-ea"/>
                          <a:ea typeface="+mj-ea"/>
                        </a:rPr>
                        <a:t>비학생</a:t>
                      </a:r>
                      <a:r>
                        <a:rPr lang="ko-KR" altLang="en-US"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j-ea"/>
                          <a:ea typeface="+mj-ea"/>
                        </a:rPr>
                        <a:t> 카드</a:t>
                      </a:r>
                      <a:endParaRPr lang="en-US" altLang="ko-KR" sz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2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공격 가능한 유닛 카드</a:t>
                      </a:r>
                      <a:endParaRPr lang="en-US" altLang="ko-KR" sz="12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r>
                        <a:rPr lang="ko-KR" altLang="en-US" sz="90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동아리에 소속되지 않은 카드</a:t>
                      </a:r>
                      <a:endParaRPr lang="en-US" altLang="ko-KR" sz="900" b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329374"/>
                  </a:ext>
                </a:extLst>
              </a:tr>
              <a:tr h="171982">
                <a:tc rowSpan="2"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j-ea"/>
                          <a:ea typeface="+mj-ea"/>
                        </a:rPr>
                        <a:t>공격</a:t>
                      </a:r>
                      <a:endParaRPr lang="en-US" altLang="ko-KR" sz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j-ea"/>
                        <a:ea typeface="+mj-ea"/>
                      </a:endParaRPr>
                    </a:p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j-ea"/>
                          <a:ea typeface="+mj-ea"/>
                        </a:rPr>
                        <a:t>불가능 카드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j-ea"/>
                          <a:ea typeface="+mj-ea"/>
                        </a:rPr>
                        <a:t>장소 카드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실외 타일에만 배치 가능한 카드</a:t>
                      </a:r>
                      <a:endParaRPr lang="en-US" altLang="ko-KR" sz="12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90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r>
                        <a:rPr lang="ko-KR" altLang="en-US" sz="90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가장 먼저 공격 받아 유닛을 보호하는 카드</a:t>
                      </a: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9337059"/>
                  </a:ext>
                </a:extLst>
              </a:tr>
              <a:tr h="171982">
                <a:tc vMerge="1"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endParaRPr lang="ko-KR" altLang="en-US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j-ea"/>
                          <a:ea typeface="+mj-ea"/>
                        </a:rPr>
                        <a:t>이벤트 카드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즉시 발동 후 버려지는 일회성 카드</a:t>
                      </a:r>
                      <a:endParaRPr lang="en-US" altLang="ko-KR" sz="12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2898723"/>
                  </a:ext>
                </a:extLst>
              </a:tr>
            </a:tbl>
          </a:graphicData>
        </a:graphic>
      </p:graphicFrame>
      <p:pic>
        <p:nvPicPr>
          <p:cNvPr id="5" name="그림 4" descr="만화 영화, 텍스트, 휴대 전화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8CBCF9F-B8C5-E0ED-A146-5D884EE1E4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5627" y="4274152"/>
            <a:ext cx="5280341" cy="2180957"/>
          </a:xfrm>
          <a:prstGeom prst="rect">
            <a:avLst/>
          </a:prstGeom>
        </p:spPr>
      </p:pic>
      <p:grpSp>
        <p:nvGrpSpPr>
          <p:cNvPr id="6" name="그룹 5">
            <a:extLst>
              <a:ext uri="{FF2B5EF4-FFF2-40B4-BE49-F238E27FC236}">
                <a16:creationId xmlns:a16="http://schemas.microsoft.com/office/drawing/2014/main" id="{E53B67F3-3233-5E43-E5E4-504FC1BB81FD}"/>
              </a:ext>
            </a:extLst>
          </p:cNvPr>
          <p:cNvGrpSpPr/>
          <p:nvPr/>
        </p:nvGrpSpPr>
        <p:grpSpPr>
          <a:xfrm>
            <a:off x="313690" y="891790"/>
            <a:ext cx="3210409" cy="2587565"/>
            <a:chOff x="184957" y="5302178"/>
            <a:chExt cx="3210409" cy="2587565"/>
          </a:xfrm>
        </p:grpSpPr>
        <p:pic>
          <p:nvPicPr>
            <p:cNvPr id="10" name="그림 9" descr="만화 영화, 텍스트, 아니메, 인간의 얼굴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82875F2A-F5E5-EA03-115E-625F44279C9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94471" y="5743822"/>
              <a:ext cx="1296329" cy="2044363"/>
            </a:xfrm>
            <a:prstGeom prst="rect">
              <a:avLst/>
            </a:prstGeom>
          </p:spPr>
        </p:pic>
        <p:pic>
          <p:nvPicPr>
            <p:cNvPr id="11" name="그림 10" descr="만화 영화, 텍스트, 아니메, 인간의 얼굴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1E310F58-D2B1-C0CF-C543-C3A62974696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76288" b="83733"/>
            <a:stretch>
              <a:fillRect/>
            </a:stretch>
          </p:blipFill>
          <p:spPr>
            <a:xfrm>
              <a:off x="407728" y="5302178"/>
              <a:ext cx="532668" cy="576313"/>
            </a:xfrm>
            <a:prstGeom prst="rect">
              <a:avLst/>
            </a:prstGeom>
            <a:ln>
              <a:solidFill>
                <a:srgbClr val="FF0000"/>
              </a:solidFill>
            </a:ln>
          </p:spPr>
        </p:pic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18833471-99CD-2B99-3CC0-66DD2F6217CE}"/>
                </a:ext>
              </a:extLst>
            </p:cNvPr>
            <p:cNvSpPr/>
            <p:nvPr/>
          </p:nvSpPr>
          <p:spPr>
            <a:xfrm>
              <a:off x="1312069" y="5771110"/>
              <a:ext cx="273844" cy="30266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3" name="연결선: 꺾임 12">
              <a:extLst>
                <a:ext uri="{FF2B5EF4-FFF2-40B4-BE49-F238E27FC236}">
                  <a16:creationId xmlns:a16="http://schemas.microsoft.com/office/drawing/2014/main" id="{7180B6A5-CBB9-81F2-1B40-65AEAD706F57}"/>
                </a:ext>
              </a:extLst>
            </p:cNvPr>
            <p:cNvCxnSpPr>
              <a:cxnSpLocks/>
              <a:stCxn id="12" idx="1"/>
              <a:endCxn id="11" idx="3"/>
            </p:cNvCxnSpPr>
            <p:nvPr/>
          </p:nvCxnSpPr>
          <p:spPr>
            <a:xfrm rot="10800000">
              <a:off x="940397" y="5590335"/>
              <a:ext cx="371673" cy="332108"/>
            </a:xfrm>
            <a:prstGeom prst="bentConnector3">
              <a:avLst>
                <a:gd name="adj1" fmla="val 50000"/>
              </a:avLst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A1917272-FB57-95E1-B05E-98CEC3B2CE47}"/>
                </a:ext>
              </a:extLst>
            </p:cNvPr>
            <p:cNvSpPr txBox="1"/>
            <p:nvPr/>
          </p:nvSpPr>
          <p:spPr>
            <a:xfrm>
              <a:off x="226754" y="5879533"/>
              <a:ext cx="91916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dirty="0"/>
                <a:t>*</a:t>
              </a:r>
              <a:r>
                <a:rPr lang="ko-KR" altLang="en-US" sz="800" dirty="0"/>
                <a:t>필요 </a:t>
              </a:r>
              <a:r>
                <a:rPr lang="ko-KR" altLang="en-US" sz="800" dirty="0" err="1"/>
                <a:t>청휘석</a:t>
              </a:r>
              <a:r>
                <a:rPr lang="ko-KR" altLang="en-US" sz="800" dirty="0"/>
                <a:t> </a:t>
              </a:r>
              <a:r>
                <a:rPr lang="ko-KR" altLang="en-US" sz="800" dirty="0" err="1"/>
                <a:t>갯수</a:t>
              </a:r>
              <a:endParaRPr lang="ko-KR" altLang="en-US" sz="800" dirty="0"/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C4B88C5B-E9EA-1C25-8F41-25A021F5D587}"/>
                </a:ext>
              </a:extLst>
            </p:cNvPr>
            <p:cNvSpPr/>
            <p:nvPr/>
          </p:nvSpPr>
          <p:spPr>
            <a:xfrm>
              <a:off x="1585913" y="5857354"/>
              <a:ext cx="842963" cy="130175"/>
            </a:xfrm>
            <a:prstGeom prst="rect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22" name="그림 21" descr="만화 영화, 텍스트, 아니메, 인간의 얼굴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DFE7BF46-8F10-DDB5-6112-B4B84416A9F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762" t="5142" r="10673" b="86877"/>
            <a:stretch>
              <a:fillRect/>
            </a:stretch>
          </p:blipFill>
          <p:spPr>
            <a:xfrm>
              <a:off x="1717798" y="5392904"/>
              <a:ext cx="1231472" cy="226104"/>
            </a:xfrm>
            <a:prstGeom prst="rect">
              <a:avLst/>
            </a:prstGeom>
            <a:ln>
              <a:solidFill>
                <a:srgbClr val="00B050"/>
              </a:solidFill>
            </a:ln>
          </p:spPr>
        </p:pic>
        <p:cxnSp>
          <p:nvCxnSpPr>
            <p:cNvPr id="23" name="연결선: 꺾임 22">
              <a:extLst>
                <a:ext uri="{FF2B5EF4-FFF2-40B4-BE49-F238E27FC236}">
                  <a16:creationId xmlns:a16="http://schemas.microsoft.com/office/drawing/2014/main" id="{73A741BB-E979-B929-F976-57D1AA216C6B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1776349" y="5682268"/>
              <a:ext cx="238346" cy="111826"/>
            </a:xfrm>
            <a:prstGeom prst="bentConnector3">
              <a:avLst/>
            </a:prstGeom>
            <a:ln>
              <a:solidFill>
                <a:srgbClr val="00B05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0B6F4316-C1A0-D3F3-212D-1CA86B4362AA}"/>
                </a:ext>
              </a:extLst>
            </p:cNvPr>
            <p:cNvSpPr txBox="1"/>
            <p:nvPr/>
          </p:nvSpPr>
          <p:spPr>
            <a:xfrm>
              <a:off x="2025712" y="5599276"/>
              <a:ext cx="91916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dirty="0"/>
                <a:t>*</a:t>
              </a:r>
              <a:r>
                <a:rPr lang="ko-KR" altLang="en-US" sz="800" dirty="0"/>
                <a:t>카드 이름</a:t>
              </a:r>
            </a:p>
          </p:txBody>
        </p: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2DBE7579-07B3-AE97-2BF2-347DC9CE7F01}"/>
                </a:ext>
              </a:extLst>
            </p:cNvPr>
            <p:cNvSpPr/>
            <p:nvPr/>
          </p:nvSpPr>
          <p:spPr>
            <a:xfrm>
              <a:off x="1390652" y="6790498"/>
              <a:ext cx="195262" cy="194718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pic>
          <p:nvPicPr>
            <p:cNvPr id="30" name="그림 29" descr="만화 영화, 텍스트, 아니메, 인간의 얼굴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2BA0DC67-86A0-2B52-1C9A-8DAA1BAFE24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983" t="49888" r="76288" b="37333"/>
            <a:stretch>
              <a:fillRect/>
            </a:stretch>
          </p:blipFill>
          <p:spPr>
            <a:xfrm>
              <a:off x="438149" y="6294124"/>
              <a:ext cx="476041" cy="573492"/>
            </a:xfrm>
            <a:prstGeom prst="rect">
              <a:avLst/>
            </a:prstGeom>
            <a:ln>
              <a:solidFill>
                <a:srgbClr val="FF0000"/>
              </a:solidFill>
            </a:ln>
          </p:spPr>
        </p:pic>
        <p:cxnSp>
          <p:nvCxnSpPr>
            <p:cNvPr id="31" name="연결선: 꺾임 30">
              <a:extLst>
                <a:ext uri="{FF2B5EF4-FFF2-40B4-BE49-F238E27FC236}">
                  <a16:creationId xmlns:a16="http://schemas.microsoft.com/office/drawing/2014/main" id="{BA225EEE-FE1A-77C0-BB02-975FC704AD0E}"/>
                </a:ext>
              </a:extLst>
            </p:cNvPr>
            <p:cNvCxnSpPr>
              <a:stCxn id="29" idx="1"/>
              <a:endCxn id="30" idx="3"/>
            </p:cNvCxnSpPr>
            <p:nvPr/>
          </p:nvCxnSpPr>
          <p:spPr>
            <a:xfrm rot="10800000">
              <a:off x="914190" y="6580871"/>
              <a:ext cx="476462" cy="306987"/>
            </a:xfrm>
            <a:prstGeom prst="bentConnector3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2399D1D6-3523-B77F-A984-EAE23878D41D}"/>
                </a:ext>
              </a:extLst>
            </p:cNvPr>
            <p:cNvSpPr txBox="1"/>
            <p:nvPr/>
          </p:nvSpPr>
          <p:spPr>
            <a:xfrm>
              <a:off x="184957" y="6867616"/>
              <a:ext cx="91916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dirty="0"/>
                <a:t>*</a:t>
              </a:r>
              <a:r>
                <a:rPr lang="ko-KR" altLang="en-US" sz="800" dirty="0"/>
                <a:t>카드 종류</a:t>
              </a:r>
            </a:p>
          </p:txBody>
        </p:sp>
        <p:sp>
          <p:nvSpPr>
            <p:cNvPr id="33" name="직사각형 32">
              <a:extLst>
                <a:ext uri="{FF2B5EF4-FFF2-40B4-BE49-F238E27FC236}">
                  <a16:creationId xmlns:a16="http://schemas.microsoft.com/office/drawing/2014/main" id="{B2C962EB-5F16-ADC1-4D83-CBDFC24201C6}"/>
                </a:ext>
              </a:extLst>
            </p:cNvPr>
            <p:cNvSpPr/>
            <p:nvPr/>
          </p:nvSpPr>
          <p:spPr>
            <a:xfrm>
              <a:off x="1607345" y="6853238"/>
              <a:ext cx="195262" cy="130175"/>
            </a:xfrm>
            <a:prstGeom prst="rect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34" name="그림 33" descr="만화 영화, 텍스트, 아니메, 인간의 얼굴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5B76237F-C843-653F-074F-AB2EC5880AE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3392" t="54428" r="59879" b="38842"/>
            <a:stretch>
              <a:fillRect/>
            </a:stretch>
          </p:blipFill>
          <p:spPr>
            <a:xfrm>
              <a:off x="2641425" y="6348461"/>
              <a:ext cx="476041" cy="301994"/>
            </a:xfrm>
            <a:prstGeom prst="rect">
              <a:avLst/>
            </a:prstGeom>
            <a:ln>
              <a:solidFill>
                <a:srgbClr val="00B050"/>
              </a:solidFill>
            </a:ln>
          </p:spPr>
        </p:pic>
        <p:cxnSp>
          <p:nvCxnSpPr>
            <p:cNvPr id="35" name="연결선: 꺾임 34">
              <a:extLst>
                <a:ext uri="{FF2B5EF4-FFF2-40B4-BE49-F238E27FC236}">
                  <a16:creationId xmlns:a16="http://schemas.microsoft.com/office/drawing/2014/main" id="{DC0224F1-B37D-6231-5DEE-91AF98BCB09F}"/>
                </a:ext>
              </a:extLst>
            </p:cNvPr>
            <p:cNvCxnSpPr>
              <a:cxnSpLocks/>
              <a:stCxn id="33" idx="0"/>
              <a:endCxn id="34" idx="2"/>
            </p:cNvCxnSpPr>
            <p:nvPr/>
          </p:nvCxnSpPr>
          <p:spPr>
            <a:xfrm rot="5400000" flipH="1" flipV="1">
              <a:off x="2190820" y="6164612"/>
              <a:ext cx="202783" cy="1174470"/>
            </a:xfrm>
            <a:prstGeom prst="bentConnector3">
              <a:avLst>
                <a:gd name="adj1" fmla="val 50000"/>
              </a:avLst>
            </a:prstGeom>
            <a:ln>
              <a:solidFill>
                <a:srgbClr val="00B05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5B5A8BF6-7141-6F15-5D0A-83ED519F6DEB}"/>
                </a:ext>
              </a:extLst>
            </p:cNvPr>
            <p:cNvSpPr txBox="1"/>
            <p:nvPr/>
          </p:nvSpPr>
          <p:spPr>
            <a:xfrm>
              <a:off x="2476203" y="6141417"/>
              <a:ext cx="91916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dirty="0"/>
                <a:t>*</a:t>
              </a:r>
              <a:r>
                <a:rPr lang="ko-KR" altLang="en-US" sz="800" dirty="0"/>
                <a:t>공격 사거리</a:t>
              </a:r>
              <a:r>
                <a:rPr lang="en-US" altLang="ko-KR" sz="800" dirty="0"/>
                <a:t>[</a:t>
              </a:r>
              <a:r>
                <a:rPr lang="ko-KR" altLang="en-US" sz="800" dirty="0"/>
                <a:t>칸수</a:t>
              </a:r>
              <a:r>
                <a:rPr lang="en-US" altLang="ko-KR" sz="800" dirty="0"/>
                <a:t>]</a:t>
              </a:r>
              <a:endParaRPr lang="ko-KR" altLang="en-US" sz="800" dirty="0"/>
            </a:p>
          </p:txBody>
        </p:sp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7262ACB3-4A30-6650-0860-4A2C49A8B88F}"/>
                </a:ext>
              </a:extLst>
            </p:cNvPr>
            <p:cNvSpPr/>
            <p:nvPr/>
          </p:nvSpPr>
          <p:spPr>
            <a:xfrm>
              <a:off x="1409701" y="7427926"/>
              <a:ext cx="195262" cy="252298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8" name="직사각형 37">
              <a:extLst>
                <a:ext uri="{FF2B5EF4-FFF2-40B4-BE49-F238E27FC236}">
                  <a16:creationId xmlns:a16="http://schemas.microsoft.com/office/drawing/2014/main" id="{EB7A51B2-E65A-CF50-A9AA-C847706B09EA}"/>
                </a:ext>
              </a:extLst>
            </p:cNvPr>
            <p:cNvSpPr/>
            <p:nvPr/>
          </p:nvSpPr>
          <p:spPr>
            <a:xfrm>
              <a:off x="2236042" y="7412153"/>
              <a:ext cx="240458" cy="252298"/>
            </a:xfrm>
            <a:prstGeom prst="rect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39" name="그림 38" descr="만화 영화, 텍스트, 아니메, 인간의 얼굴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B3B1FCA5-DC84-9570-A181-2EC11FC706F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150" t="82055" r="76121" b="5166"/>
            <a:stretch>
              <a:fillRect/>
            </a:stretch>
          </p:blipFill>
          <p:spPr>
            <a:xfrm>
              <a:off x="439403" y="7101966"/>
              <a:ext cx="476041" cy="573492"/>
            </a:xfrm>
            <a:prstGeom prst="rect">
              <a:avLst/>
            </a:prstGeom>
            <a:ln>
              <a:solidFill>
                <a:srgbClr val="FF0000"/>
              </a:solidFill>
            </a:ln>
          </p:spPr>
        </p:pic>
        <p:cxnSp>
          <p:nvCxnSpPr>
            <p:cNvPr id="40" name="연결선: 꺾임 39">
              <a:extLst>
                <a:ext uri="{FF2B5EF4-FFF2-40B4-BE49-F238E27FC236}">
                  <a16:creationId xmlns:a16="http://schemas.microsoft.com/office/drawing/2014/main" id="{DDF8876B-48AC-8CC4-7E58-2890F1A05CF2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922618" y="7539884"/>
              <a:ext cx="487085" cy="1"/>
            </a:xfrm>
            <a:prstGeom prst="bentConnector3">
              <a:avLst>
                <a:gd name="adj1" fmla="val 50000"/>
              </a:avLst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6223DCDB-918A-7EFC-F8BE-48F1A0F630BB}"/>
                </a:ext>
              </a:extLst>
            </p:cNvPr>
            <p:cNvSpPr txBox="1"/>
            <p:nvPr/>
          </p:nvSpPr>
          <p:spPr>
            <a:xfrm>
              <a:off x="203810" y="7671826"/>
              <a:ext cx="91916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dirty="0"/>
                <a:t>*</a:t>
              </a:r>
              <a:r>
                <a:rPr lang="ko-KR" altLang="en-US" sz="800" dirty="0"/>
                <a:t>카드 공격력</a:t>
              </a:r>
            </a:p>
          </p:txBody>
        </p:sp>
        <p:pic>
          <p:nvPicPr>
            <p:cNvPr id="43" name="그림 42" descr="만화 영화, 텍스트, 아니메, 인간의 얼굴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AA7CA9F1-5C12-AC5A-4733-77FAFE6D784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2503" t="81588" r="9262" b="5631"/>
            <a:stretch>
              <a:fillRect/>
            </a:stretch>
          </p:blipFill>
          <p:spPr>
            <a:xfrm>
              <a:off x="2635859" y="7097419"/>
              <a:ext cx="518895" cy="573491"/>
            </a:xfrm>
            <a:prstGeom prst="rect">
              <a:avLst/>
            </a:prstGeom>
            <a:ln>
              <a:solidFill>
                <a:srgbClr val="00B050"/>
              </a:solidFill>
            </a:ln>
          </p:spPr>
        </p:pic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8DC6A5BD-9C15-5EB7-4DB6-5F44A8F512BF}"/>
                </a:ext>
              </a:extLst>
            </p:cNvPr>
            <p:cNvSpPr txBox="1"/>
            <p:nvPr/>
          </p:nvSpPr>
          <p:spPr>
            <a:xfrm>
              <a:off x="2427474" y="7674299"/>
              <a:ext cx="91916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dirty="0"/>
                <a:t>*</a:t>
              </a:r>
              <a:r>
                <a:rPr lang="ko-KR" altLang="en-US" sz="800" dirty="0"/>
                <a:t>카드 </a:t>
              </a:r>
              <a:r>
                <a:rPr lang="en-US" altLang="ko-KR" sz="800" dirty="0"/>
                <a:t>HP</a:t>
              </a:r>
              <a:endParaRPr lang="ko-KR" altLang="en-US" sz="800" dirty="0"/>
            </a:p>
          </p:txBody>
        </p:sp>
      </p:grpSp>
      <p:pic>
        <p:nvPicPr>
          <p:cNvPr id="45" name="그림 44">
            <a:extLst>
              <a:ext uri="{FF2B5EF4-FFF2-40B4-BE49-F238E27FC236}">
                <a16:creationId xmlns:a16="http://schemas.microsoft.com/office/drawing/2014/main" id="{EE865B7F-6B64-F403-7309-D8BDD18F4B6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4099" y="11656428"/>
            <a:ext cx="1443901" cy="535572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A1B53ADE-7290-D260-4232-7C5E8639593A}"/>
              </a:ext>
            </a:extLst>
          </p:cNvPr>
          <p:cNvSpPr txBox="1"/>
          <p:nvPr/>
        </p:nvSpPr>
        <p:spPr>
          <a:xfrm>
            <a:off x="2089019" y="8332805"/>
            <a:ext cx="26335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dirty="0">
                <a:latin typeface="+mj-ea"/>
                <a:ea typeface="+mj-ea"/>
              </a:rPr>
              <a:t>동아리 시너지</a:t>
            </a:r>
          </a:p>
        </p:txBody>
      </p:sp>
      <p:graphicFrame>
        <p:nvGraphicFramePr>
          <p:cNvPr id="48" name="표 47">
            <a:extLst>
              <a:ext uri="{FF2B5EF4-FFF2-40B4-BE49-F238E27FC236}">
                <a16:creationId xmlns:a16="http://schemas.microsoft.com/office/drawing/2014/main" id="{AE52433D-D774-F1DD-9905-B4F147AD88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6043004"/>
              </p:ext>
            </p:extLst>
          </p:nvPr>
        </p:nvGraphicFramePr>
        <p:xfrm>
          <a:off x="989013" y="9022603"/>
          <a:ext cx="4953000" cy="25748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53000">
                  <a:extLst>
                    <a:ext uri="{9D8B030D-6E8A-4147-A177-3AD203B41FA5}">
                      <a16:colId xmlns:a16="http://schemas.microsoft.com/office/drawing/2014/main" val="1057239759"/>
                    </a:ext>
                  </a:extLst>
                </a:gridCol>
              </a:tblGrid>
              <a:tr h="2071883">
                <a:tc>
                  <a:txBody>
                    <a:bodyPr/>
                    <a:lstStyle/>
                    <a:p>
                      <a:pPr lvl="1" latinLnBrk="1"/>
                      <a:r>
                        <a:rPr lang="ko-KR" altLang="en-US" sz="1800" b="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동아리 시너지란</a:t>
                      </a:r>
                      <a:r>
                        <a:rPr lang="en-US" altLang="ko-KR" sz="1800" b="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?</a:t>
                      </a:r>
                    </a:p>
                    <a:p>
                      <a:pPr latinLnBrk="1"/>
                      <a:endParaRPr lang="en-US" altLang="ko-KR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[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카드 아카이브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]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에서 </a:t>
                      </a:r>
                      <a:endParaRPr lang="en-US" altLang="ko-KR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lvl="1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블루 아카이브 원작의</a:t>
                      </a:r>
                      <a:endParaRPr lang="en-US" altLang="ko-KR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lvl="2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매력을 반영하기 위한 핵심 시스템 입니다</a:t>
                      </a: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.</a:t>
                      </a: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 </a:t>
                      </a:r>
                      <a:endParaRPr lang="en-US" altLang="ko-KR" sz="1000" b="1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marL="165600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09934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[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학생 카드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]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는 반드시 하나 이상의 동아리에 소속되어 있습니다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99808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학생을 필드에 배치하면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,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해당 학생이 속한 동아리의 특별한 시너지 효과가 발동합니다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4214263"/>
                  </a:ext>
                </a:extLst>
              </a:tr>
            </a:tbl>
          </a:graphicData>
        </a:graphic>
      </p:graphicFrame>
      <p:pic>
        <p:nvPicPr>
          <p:cNvPr id="47" name="그림 46">
            <a:extLst>
              <a:ext uri="{FF2B5EF4-FFF2-40B4-BE49-F238E27FC236}">
                <a16:creationId xmlns:a16="http://schemas.microsoft.com/office/drawing/2014/main" id="{4BA3DC30-D542-7F30-C39A-E90586C0C26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0476" y="9078341"/>
            <a:ext cx="1175731" cy="1982949"/>
          </a:xfrm>
          <a:prstGeom prst="rect">
            <a:avLst/>
          </a:prstGeom>
        </p:spPr>
      </p:pic>
      <p:sp>
        <p:nvSpPr>
          <p:cNvPr id="49" name="TextBox 48">
            <a:extLst>
              <a:ext uri="{FF2B5EF4-FFF2-40B4-BE49-F238E27FC236}">
                <a16:creationId xmlns:a16="http://schemas.microsoft.com/office/drawing/2014/main" id="{00AEDD7A-0972-0C7A-2A3B-D89B5770180C}"/>
              </a:ext>
            </a:extLst>
          </p:cNvPr>
          <p:cNvSpPr txBox="1"/>
          <p:nvPr/>
        </p:nvSpPr>
        <p:spPr>
          <a:xfrm>
            <a:off x="1002230" y="8736985"/>
            <a:ext cx="504373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“</a:t>
            </a:r>
            <a:r>
              <a:rPr lang="ko-KR" altLang="en-US" sz="10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내가 좋아하는 동아리 학생들을 모아</a:t>
            </a:r>
            <a:r>
              <a:rPr lang="en-US" altLang="ko-KR" sz="10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ko-KR" altLang="en-US" sz="10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나만의 전술 만들기</a:t>
            </a:r>
            <a:r>
              <a:rPr lang="en-US" altLang="ko-KR" sz="10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!”</a:t>
            </a:r>
            <a:endParaRPr lang="ko-KR" altLang="en-US" sz="105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24" name="그림 23" descr="스크린샷, 예술, 만화 영화, 원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B63D96A-7759-195A-EA16-C1725DF4A49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744"/>
          <a:stretch>
            <a:fillRect/>
          </a:stretch>
        </p:blipFill>
        <p:spPr>
          <a:xfrm>
            <a:off x="4226791" y="315237"/>
            <a:ext cx="1641987" cy="1184259"/>
          </a:xfrm>
          <a:prstGeom prst="rect">
            <a:avLst/>
          </a:prstGeom>
        </p:spPr>
      </p:pic>
      <p:cxnSp>
        <p:nvCxnSpPr>
          <p:cNvPr id="26" name="연결선: 꺾임 25">
            <a:extLst>
              <a:ext uri="{FF2B5EF4-FFF2-40B4-BE49-F238E27FC236}">
                <a16:creationId xmlns:a16="http://schemas.microsoft.com/office/drawing/2014/main" id="{0865CF9F-82C1-6B75-C248-CA33AAC2F97F}"/>
              </a:ext>
            </a:extLst>
          </p:cNvPr>
          <p:cNvCxnSpPr>
            <a:cxnSpLocks/>
            <a:stCxn id="36" idx="0"/>
            <a:endCxn id="24" idx="2"/>
          </p:cNvCxnSpPr>
          <p:nvPr/>
        </p:nvCxnSpPr>
        <p:spPr>
          <a:xfrm rot="5400000" flipH="1" flipV="1">
            <a:off x="3940385" y="623630"/>
            <a:ext cx="231533" cy="1983267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7" name="표 56">
            <a:extLst>
              <a:ext uri="{FF2B5EF4-FFF2-40B4-BE49-F238E27FC236}">
                <a16:creationId xmlns:a16="http://schemas.microsoft.com/office/drawing/2014/main" id="{1ADF59FF-28BB-23D0-2F76-BAFEB51C62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2829523"/>
              </p:ext>
            </p:extLst>
          </p:nvPr>
        </p:nvGraphicFramePr>
        <p:xfrm>
          <a:off x="3532939" y="1981323"/>
          <a:ext cx="3128505" cy="1562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5897">
                  <a:extLst>
                    <a:ext uri="{9D8B030D-6E8A-4147-A177-3AD203B41FA5}">
                      <a16:colId xmlns:a16="http://schemas.microsoft.com/office/drawing/2014/main" val="2360100868"/>
                    </a:ext>
                  </a:extLst>
                </a:gridCol>
                <a:gridCol w="1652608">
                  <a:extLst>
                    <a:ext uri="{9D8B030D-6E8A-4147-A177-3AD203B41FA5}">
                      <a16:colId xmlns:a16="http://schemas.microsoft.com/office/drawing/2014/main" val="620431209"/>
                    </a:ext>
                  </a:extLst>
                </a:gridCol>
              </a:tblGrid>
              <a:tr h="210186">
                <a:tc gridSpan="2">
                  <a:txBody>
                    <a:bodyPr/>
                    <a:lstStyle/>
                    <a:p>
                      <a:pPr marL="0" indent="0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18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j-ea"/>
                          <a:ea typeface="+mj-ea"/>
                        </a:rPr>
                        <a:t>공격 타입 정의</a:t>
                      </a:r>
                      <a:endParaRPr lang="en-US" altLang="ko-KR" sz="18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j-ea"/>
                        <a:ea typeface="+mj-ea"/>
                      </a:endParaRPr>
                    </a:p>
                    <a:p>
                      <a:pPr marL="0" indent="0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1000" b="0" dirty="0">
                          <a:solidFill>
                            <a:srgbClr val="002060"/>
                          </a:solidFill>
                          <a:latin typeface="+mn-ea"/>
                          <a:ea typeface="+mn-ea"/>
                        </a:rPr>
                        <a:t>모든 공격 가능한 유닛은 공격 타입을 가지며</a:t>
                      </a:r>
                      <a:r>
                        <a:rPr lang="en-US" altLang="ko-KR" sz="1000" b="0" dirty="0">
                          <a:solidFill>
                            <a:srgbClr val="002060"/>
                          </a:solidFill>
                          <a:latin typeface="+mn-ea"/>
                          <a:ea typeface="+mn-ea"/>
                        </a:rPr>
                        <a:t>, </a:t>
                      </a:r>
                    </a:p>
                    <a:p>
                      <a:pPr marL="0" indent="0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1000" b="0" dirty="0">
                          <a:solidFill>
                            <a:srgbClr val="002060"/>
                          </a:solidFill>
                          <a:latin typeface="+mn-ea"/>
                          <a:ea typeface="+mn-ea"/>
                        </a:rPr>
                        <a:t>공격 타입에 따라 사거리와 전투 방식이 달라집니다</a:t>
                      </a:r>
                      <a:r>
                        <a:rPr lang="en-US" altLang="ko-KR" sz="1000" b="0" dirty="0">
                          <a:solidFill>
                            <a:srgbClr val="002060"/>
                          </a:solidFill>
                          <a:latin typeface="+mn-ea"/>
                          <a:ea typeface="+mn-ea"/>
                        </a:rPr>
                        <a:t>.</a:t>
                      </a:r>
                      <a:r>
                        <a:rPr lang="ko-KR" altLang="en-US" sz="1000" b="0" dirty="0">
                          <a:solidFill>
                            <a:srgbClr val="002060"/>
                          </a:solidFill>
                          <a:latin typeface="+mn-ea"/>
                          <a:ea typeface="+mn-ea"/>
                        </a:rPr>
                        <a:t> </a:t>
                      </a: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indent="0" latinLnBrk="1">
                        <a:buFont typeface="Arial" panose="020B0604020202020204" pitchFamily="34" charset="0"/>
                        <a:buNone/>
                      </a:pPr>
                      <a:endParaRPr lang="ko-KR" altLang="en-US" b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6027237"/>
                  </a:ext>
                </a:extLst>
              </a:tr>
              <a:tr h="127123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dirty="0">
                          <a:solidFill>
                            <a:srgbClr val="FF7D7D"/>
                          </a:solidFill>
                          <a:latin typeface="+mj-ea"/>
                          <a:ea typeface="+mj-ea"/>
                        </a:rPr>
                        <a:t>Front</a:t>
                      </a: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3293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dirty="0">
                          <a:solidFill>
                            <a:srgbClr val="FFB54E"/>
                          </a:solidFill>
                          <a:latin typeface="+mj-ea"/>
                          <a:ea typeface="+mj-ea"/>
                        </a:rPr>
                        <a:t>Middle</a:t>
                      </a: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 typeface="Arial" panose="020B0604020202020204" pitchFamily="34" charset="0"/>
                        <a:buNone/>
                      </a:pPr>
                      <a:endParaRPr lang="ko-KR" altLang="en-US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93370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dirty="0">
                          <a:solidFill>
                            <a:srgbClr val="9A45A8"/>
                          </a:solidFill>
                          <a:latin typeface="+mj-ea"/>
                          <a:ea typeface="+mj-ea"/>
                        </a:rPr>
                        <a:t>Back</a:t>
                      </a: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 typeface="Arial" panose="020B0604020202020204" pitchFamily="34" charset="0"/>
                        <a:buNone/>
                      </a:pPr>
                      <a:endParaRPr lang="ko-KR" altLang="en-US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1608082"/>
                  </a:ext>
                </a:extLst>
              </a:tr>
            </a:tbl>
          </a:graphicData>
        </a:graphic>
      </p:graphicFrame>
      <p:graphicFrame>
        <p:nvGraphicFramePr>
          <p:cNvPr id="60" name="표 59">
            <a:extLst>
              <a:ext uri="{FF2B5EF4-FFF2-40B4-BE49-F238E27FC236}">
                <a16:creationId xmlns:a16="http://schemas.microsoft.com/office/drawing/2014/main" id="{03CDEDE9-2AC2-94DA-0F10-3A40FD09C9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5319925"/>
              </p:ext>
            </p:extLst>
          </p:nvPr>
        </p:nvGraphicFramePr>
        <p:xfrm>
          <a:off x="4218141" y="2651671"/>
          <a:ext cx="2352795" cy="8915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2795">
                  <a:extLst>
                    <a:ext uri="{9D8B030D-6E8A-4147-A177-3AD203B41FA5}">
                      <a16:colId xmlns:a16="http://schemas.microsoft.com/office/drawing/2014/main" val="1413255104"/>
                    </a:ext>
                  </a:extLst>
                </a:gridCol>
              </a:tblGrid>
              <a:tr h="127123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: </a:t>
                      </a:r>
                      <a:r>
                        <a:rPr lang="ko-KR" altLang="en-US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사거리 </a:t>
                      </a:r>
                      <a:r>
                        <a:rPr lang="en-US" altLang="ko-KR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1 [*</a:t>
                      </a:r>
                      <a:r>
                        <a:rPr lang="ko-KR" altLang="en-US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데미지 교환 </a:t>
                      </a:r>
                      <a:r>
                        <a:rPr lang="en-US" altLang="ko-KR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O]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26135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: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사거리 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 </a:t>
                      </a:r>
                      <a:r>
                        <a:rPr lang="en-US" altLang="ko-KR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[*</a:t>
                      </a:r>
                      <a:r>
                        <a:rPr lang="ko-KR" altLang="en-US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데미지 교환</a:t>
                      </a:r>
                      <a:r>
                        <a:rPr lang="en-US" altLang="ko-KR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 X]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90202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: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사거리 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 </a:t>
                      </a:r>
                      <a:r>
                        <a:rPr lang="en-US" altLang="ko-KR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[*</a:t>
                      </a:r>
                      <a:r>
                        <a:rPr lang="ko-KR" altLang="en-US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데미지 교환 </a:t>
                      </a:r>
                      <a:r>
                        <a:rPr lang="en-US" altLang="ko-KR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X]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8857880"/>
                  </a:ext>
                </a:extLst>
              </a:tr>
            </a:tbl>
          </a:graphicData>
        </a:graphic>
      </p:graphicFrame>
      <p:sp>
        <p:nvSpPr>
          <p:cNvPr id="65" name="TextBox 64">
            <a:extLst>
              <a:ext uri="{FF2B5EF4-FFF2-40B4-BE49-F238E27FC236}">
                <a16:creationId xmlns:a16="http://schemas.microsoft.com/office/drawing/2014/main" id="{1879EB83-57EE-3CBB-D5FB-3E5DC903B71E}"/>
              </a:ext>
            </a:extLst>
          </p:cNvPr>
          <p:cNvSpPr txBox="1"/>
          <p:nvPr/>
        </p:nvSpPr>
        <p:spPr>
          <a:xfrm>
            <a:off x="3289053" y="1798012"/>
            <a:ext cx="3429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dirty="0"/>
              <a:t>💡</a:t>
            </a:r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64A08FB-D699-6CBE-7CCE-3E4168E1B966}"/>
              </a:ext>
            </a:extLst>
          </p:cNvPr>
          <p:cNvSpPr txBox="1"/>
          <p:nvPr/>
        </p:nvSpPr>
        <p:spPr>
          <a:xfrm>
            <a:off x="3565525" y="3546415"/>
            <a:ext cx="309766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700" dirty="0">
                <a:solidFill>
                  <a:srgbClr val="002060"/>
                </a:solidFill>
                <a:latin typeface="+mj-ea"/>
                <a:ea typeface="+mj-ea"/>
              </a:rPr>
              <a:t>*[Middle]</a:t>
            </a:r>
            <a:r>
              <a:rPr lang="ko-KR" altLang="en-US" sz="700" dirty="0">
                <a:solidFill>
                  <a:srgbClr val="002060"/>
                </a:solidFill>
                <a:latin typeface="+mj-ea"/>
                <a:ea typeface="+mj-ea"/>
              </a:rPr>
              <a:t>과 </a:t>
            </a:r>
            <a:r>
              <a:rPr lang="en-US" altLang="ko-KR" sz="700" dirty="0">
                <a:solidFill>
                  <a:srgbClr val="002060"/>
                </a:solidFill>
                <a:latin typeface="+mj-ea"/>
                <a:ea typeface="+mj-ea"/>
              </a:rPr>
              <a:t>[Back]</a:t>
            </a:r>
            <a:r>
              <a:rPr lang="ko-KR" altLang="en-US" sz="700" dirty="0">
                <a:solidFill>
                  <a:srgbClr val="002060"/>
                </a:solidFill>
                <a:latin typeface="+mj-ea"/>
                <a:ea typeface="+mj-ea"/>
              </a:rPr>
              <a:t>은 일방적으로 데미지를 입힙니다</a:t>
            </a:r>
            <a:r>
              <a:rPr lang="en-US" altLang="ko-KR" sz="700" dirty="0">
                <a:solidFill>
                  <a:srgbClr val="002060"/>
                </a:solidFill>
                <a:latin typeface="+mj-ea"/>
                <a:ea typeface="+mj-ea"/>
              </a:rPr>
              <a:t>.</a:t>
            </a:r>
            <a:endParaRPr lang="ko-KR" altLang="en-US" sz="700" dirty="0">
              <a:solidFill>
                <a:srgbClr val="002060"/>
              </a:solidFill>
              <a:latin typeface="+mj-ea"/>
              <a:ea typeface="+mj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9AB3ACA-91B5-9EAD-D0E9-7ED5E87931F4}"/>
              </a:ext>
            </a:extLst>
          </p:cNvPr>
          <p:cNvSpPr txBox="1"/>
          <p:nvPr/>
        </p:nvSpPr>
        <p:spPr>
          <a:xfrm>
            <a:off x="2136127" y="3746470"/>
            <a:ext cx="26335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dirty="0">
                <a:latin typeface="+mj-ea"/>
                <a:ea typeface="+mj-ea"/>
              </a:rPr>
              <a:t>카드 종류</a:t>
            </a:r>
          </a:p>
        </p:txBody>
      </p:sp>
      <p:cxnSp>
        <p:nvCxnSpPr>
          <p:cNvPr id="51" name="직선 연결선 50">
            <a:extLst>
              <a:ext uri="{FF2B5EF4-FFF2-40B4-BE49-F238E27FC236}">
                <a16:creationId xmlns:a16="http://schemas.microsoft.com/office/drawing/2014/main" id="{30756A92-7251-B050-929C-CB5CFC6C47BF}"/>
              </a:ext>
            </a:extLst>
          </p:cNvPr>
          <p:cNvCxnSpPr>
            <a:cxnSpLocks/>
            <a:stCxn id="38" idx="3"/>
          </p:cNvCxnSpPr>
          <p:nvPr/>
        </p:nvCxnSpPr>
        <p:spPr>
          <a:xfrm>
            <a:off x="2605233" y="3127914"/>
            <a:ext cx="159359" cy="0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28643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80B418-DD6F-73BC-F876-BC58B8F897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8217ACC3-7690-B1A9-DB5F-7F8DE14ED2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4099" y="11656428"/>
            <a:ext cx="1443901" cy="53557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43CF2F2-B5C7-8C6D-0B7A-B7DADC1F3E1A}"/>
              </a:ext>
            </a:extLst>
          </p:cNvPr>
          <p:cNvSpPr txBox="1"/>
          <p:nvPr/>
        </p:nvSpPr>
        <p:spPr>
          <a:xfrm>
            <a:off x="2707492" y="158695"/>
            <a:ext cx="14779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dirty="0">
                <a:latin typeface="+mj-ea"/>
                <a:ea typeface="+mj-ea"/>
              </a:rPr>
              <a:t>룰 설명</a:t>
            </a:r>
          </a:p>
        </p:txBody>
      </p:sp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1DC9FDA7-252C-67B3-E7F6-8AD2855C2D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0026372"/>
              </p:ext>
            </p:extLst>
          </p:nvPr>
        </p:nvGraphicFramePr>
        <p:xfrm>
          <a:off x="2795969" y="848860"/>
          <a:ext cx="3939540" cy="140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9540">
                  <a:extLst>
                    <a:ext uri="{9D8B030D-6E8A-4147-A177-3AD203B41FA5}">
                      <a16:colId xmlns:a16="http://schemas.microsoft.com/office/drawing/2014/main" val="169094954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800" b="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게임 시작</a:t>
                      </a: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66346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dirty="0"/>
                        <a:t>선공은 카드 </a:t>
                      </a:r>
                      <a:r>
                        <a:rPr lang="en-US" altLang="ko-KR" sz="1100" dirty="0"/>
                        <a:t>3</a:t>
                      </a:r>
                      <a:r>
                        <a:rPr lang="ko-KR" altLang="en-US" sz="1100" dirty="0"/>
                        <a:t>장</a:t>
                      </a:r>
                      <a:r>
                        <a:rPr lang="en-US" altLang="ko-KR" sz="1100" dirty="0"/>
                        <a:t>, </a:t>
                      </a:r>
                      <a:r>
                        <a:rPr lang="ko-KR" altLang="en-US" sz="1100" dirty="0" err="1"/>
                        <a:t>후공은</a:t>
                      </a:r>
                      <a:r>
                        <a:rPr lang="ko-KR" altLang="en-US" sz="1100" dirty="0"/>
                        <a:t> 카드 </a:t>
                      </a:r>
                      <a:r>
                        <a:rPr lang="en-US" altLang="ko-KR" sz="1100" dirty="0"/>
                        <a:t>4</a:t>
                      </a:r>
                      <a:r>
                        <a:rPr lang="ko-KR" altLang="en-US" sz="1100" dirty="0"/>
                        <a:t>장으로 시작합니다</a:t>
                      </a:r>
                      <a:r>
                        <a:rPr lang="en-US" altLang="ko-KR" sz="1100" dirty="0"/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04569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dirty="0"/>
                        <a:t>시작 전 원하지 않는 카드를 버리고 새로운 카드로 교체할 수 있습니다</a:t>
                      </a:r>
                      <a:r>
                        <a:rPr lang="en-US" altLang="ko-KR" sz="1100" dirty="0"/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86833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dirty="0"/>
                        <a:t>준비가 끝나면 선공부터 턴을 진행합니다</a:t>
                      </a:r>
                      <a:r>
                        <a:rPr lang="en-US" altLang="ko-KR" sz="1100" dirty="0"/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59434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dirty="0"/>
                        <a:t>선생님의 피가 한쪽이 </a:t>
                      </a:r>
                      <a:r>
                        <a:rPr lang="en-US" altLang="ko-KR" sz="1100" dirty="0"/>
                        <a:t>0</a:t>
                      </a:r>
                      <a:r>
                        <a:rPr lang="ko-KR" altLang="en-US" sz="1100" dirty="0"/>
                        <a:t>이 될 시 게임은 종료됩니다</a:t>
                      </a:r>
                      <a:r>
                        <a:rPr lang="en-US" altLang="ko-KR" sz="1100" dirty="0"/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5914362"/>
                  </a:ext>
                </a:extLst>
              </a:tr>
            </a:tbl>
          </a:graphicData>
        </a:graphic>
      </p:graphicFrame>
      <p:cxnSp>
        <p:nvCxnSpPr>
          <p:cNvPr id="17" name="연결선: 꺾임 16">
            <a:extLst>
              <a:ext uri="{FF2B5EF4-FFF2-40B4-BE49-F238E27FC236}">
                <a16:creationId xmlns:a16="http://schemas.microsoft.com/office/drawing/2014/main" id="{3C0591D7-FE47-143E-A7B8-25EFD859ACF8}"/>
              </a:ext>
            </a:extLst>
          </p:cNvPr>
          <p:cNvCxnSpPr>
            <a:cxnSpLocks/>
          </p:cNvCxnSpPr>
          <p:nvPr/>
        </p:nvCxnSpPr>
        <p:spPr>
          <a:xfrm>
            <a:off x="2600452" y="1287992"/>
            <a:ext cx="195517" cy="319479"/>
          </a:xfrm>
          <a:prstGeom prst="bentConnector3">
            <a:avLst>
              <a:gd name="adj1" fmla="val 75983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그림 9">
            <a:extLst>
              <a:ext uri="{FF2B5EF4-FFF2-40B4-BE49-F238E27FC236}">
                <a16:creationId xmlns:a16="http://schemas.microsoft.com/office/drawing/2014/main" id="{A12F2C2F-66FD-69D5-ED23-68F2168792C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10"/>
          <a:stretch>
            <a:fillRect/>
          </a:stretch>
        </p:blipFill>
        <p:spPr>
          <a:xfrm>
            <a:off x="97758" y="773006"/>
            <a:ext cx="2600452" cy="1553788"/>
          </a:xfrm>
          <a:prstGeom prst="rect">
            <a:avLst/>
          </a:prstGeom>
          <a:ln w="19050">
            <a:solidFill>
              <a:schemeClr val="bg1"/>
            </a:solidFill>
          </a:ln>
        </p:spPr>
      </p:pic>
      <p:graphicFrame>
        <p:nvGraphicFramePr>
          <p:cNvPr id="27" name="표 26">
            <a:extLst>
              <a:ext uri="{FF2B5EF4-FFF2-40B4-BE49-F238E27FC236}">
                <a16:creationId xmlns:a16="http://schemas.microsoft.com/office/drawing/2014/main" id="{9C7616BD-4051-9FBD-B8E6-827E83AA4B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0194691"/>
              </p:ext>
            </p:extLst>
          </p:nvPr>
        </p:nvGraphicFramePr>
        <p:xfrm>
          <a:off x="2795969" y="2793442"/>
          <a:ext cx="3939540" cy="2484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9540">
                  <a:extLst>
                    <a:ext uri="{9D8B030D-6E8A-4147-A177-3AD203B41FA5}">
                      <a16:colId xmlns:a16="http://schemas.microsoft.com/office/drawing/2014/main" val="169094954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800" b="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메인 단계</a:t>
                      </a:r>
                      <a:endParaRPr lang="en-US" altLang="ko-KR" sz="1800" b="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  <a:p>
                      <a:pPr algn="l" latinLnBrk="1"/>
                      <a:r>
                        <a:rPr lang="ko-KR" altLang="en-US" sz="1000" b="0" dirty="0">
                          <a:solidFill>
                            <a:srgbClr val="002060"/>
                          </a:solidFill>
                          <a:latin typeface="+mn-ea"/>
                          <a:ea typeface="+mn-ea"/>
                        </a:rPr>
                        <a:t>자신의 차례에는 </a:t>
                      </a:r>
                      <a:r>
                        <a:rPr lang="ko-KR" altLang="en-US" sz="1000" b="0" dirty="0" err="1">
                          <a:solidFill>
                            <a:srgbClr val="002060"/>
                          </a:solidFill>
                          <a:latin typeface="+mn-ea"/>
                          <a:ea typeface="+mn-ea"/>
                        </a:rPr>
                        <a:t>청휘석을</a:t>
                      </a:r>
                      <a:r>
                        <a:rPr lang="ko-KR" altLang="en-US" sz="1000" b="0" dirty="0">
                          <a:solidFill>
                            <a:srgbClr val="002060"/>
                          </a:solidFill>
                          <a:latin typeface="+mn-ea"/>
                          <a:ea typeface="+mn-ea"/>
                        </a:rPr>
                        <a:t> 사용해 다양한 행동을 할 수 있습니다</a:t>
                      </a:r>
                      <a:r>
                        <a:rPr lang="en-US" altLang="ko-KR" sz="1000" b="0" dirty="0">
                          <a:solidFill>
                            <a:srgbClr val="002060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000" b="0" dirty="0">
                        <a:solidFill>
                          <a:srgbClr val="002060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66346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dirty="0">
                          <a:latin typeface="+mj-ea"/>
                          <a:ea typeface="+mj-ea"/>
                        </a:rPr>
                        <a:t>학생</a:t>
                      </a:r>
                      <a:r>
                        <a:rPr lang="en-US" altLang="ko-KR" sz="1100" dirty="0">
                          <a:latin typeface="+mj-ea"/>
                          <a:ea typeface="+mj-ea"/>
                        </a:rPr>
                        <a:t>/</a:t>
                      </a:r>
                      <a:r>
                        <a:rPr lang="ko-KR" altLang="en-US" sz="1100" dirty="0" err="1">
                          <a:latin typeface="+mj-ea"/>
                          <a:ea typeface="+mj-ea"/>
                        </a:rPr>
                        <a:t>비학생</a:t>
                      </a:r>
                      <a:r>
                        <a:rPr lang="ko-KR" altLang="en-US" sz="1100" dirty="0">
                          <a:latin typeface="+mj-ea"/>
                          <a:ea typeface="+mj-ea"/>
                        </a:rPr>
                        <a:t> 카드 소환</a:t>
                      </a:r>
                      <a:endParaRPr lang="en-US" altLang="ko-KR" sz="1100" dirty="0">
                        <a:latin typeface="+mj-ea"/>
                        <a:ea typeface="+mj-ea"/>
                      </a:endParaRPr>
                    </a:p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dirty="0"/>
                        <a:t>카드에 적힌 </a:t>
                      </a:r>
                      <a:r>
                        <a:rPr lang="ko-KR" altLang="en-US" sz="1100" dirty="0" err="1"/>
                        <a:t>청휘석</a:t>
                      </a:r>
                      <a:r>
                        <a:rPr lang="ko-KR" altLang="en-US" sz="1100" dirty="0"/>
                        <a:t> 코스트를 지불하고 필드에 배치합니다</a:t>
                      </a:r>
                      <a:r>
                        <a:rPr lang="en-US" altLang="ko-KR" sz="1100" dirty="0"/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04569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dirty="0">
                          <a:latin typeface="+mj-ea"/>
                          <a:ea typeface="+mj-ea"/>
                        </a:rPr>
                        <a:t>장소 카드 설치</a:t>
                      </a:r>
                      <a:endParaRPr lang="en-US" altLang="ko-KR" sz="1100" dirty="0">
                        <a:latin typeface="+mj-ea"/>
                        <a:ea typeface="+mj-ea"/>
                      </a:endParaRPr>
                    </a:p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dirty="0" err="1"/>
                        <a:t>청휘석을</a:t>
                      </a:r>
                      <a:r>
                        <a:rPr lang="ko-KR" altLang="en-US" sz="1100" dirty="0"/>
                        <a:t> 지불하고 지정된 위치에 설치합니다</a:t>
                      </a:r>
                      <a:r>
                        <a:rPr lang="en-US" altLang="ko-KR" sz="1100" dirty="0"/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71966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dirty="0">
                          <a:latin typeface="+mj-ea"/>
                          <a:ea typeface="+mj-ea"/>
                        </a:rPr>
                        <a:t>이벤트 카드 사용</a:t>
                      </a:r>
                      <a:endParaRPr lang="en-US" altLang="ko-KR" sz="1100" dirty="0">
                        <a:latin typeface="+mj-ea"/>
                        <a:ea typeface="+mj-ea"/>
                      </a:endParaRPr>
                    </a:p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dirty="0" err="1"/>
                        <a:t>청휘석을</a:t>
                      </a:r>
                      <a:r>
                        <a:rPr lang="ko-KR" altLang="en-US" sz="1100" dirty="0"/>
                        <a:t> 지불해 즉시 발동하며</a:t>
                      </a:r>
                      <a:r>
                        <a:rPr lang="en-US" altLang="ko-KR" sz="1100" dirty="0"/>
                        <a:t>, </a:t>
                      </a:r>
                      <a:r>
                        <a:rPr lang="ko-KR" altLang="en-US" sz="1100" dirty="0"/>
                        <a:t>효과 적용 후 버려집니다</a:t>
                      </a:r>
                      <a:r>
                        <a:rPr lang="en-US" altLang="ko-KR" sz="1100" dirty="0"/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86833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dirty="0" err="1">
                          <a:latin typeface="+mj-ea"/>
                          <a:ea typeface="+mj-ea"/>
                        </a:rPr>
                        <a:t>아로나</a:t>
                      </a:r>
                      <a:r>
                        <a:rPr lang="ko-KR" altLang="en-US" sz="1100" dirty="0">
                          <a:latin typeface="+mj-ea"/>
                          <a:ea typeface="+mj-ea"/>
                        </a:rPr>
                        <a:t> 능력 </a:t>
                      </a:r>
                      <a:r>
                        <a:rPr lang="en-US" altLang="ko-KR" sz="1100" dirty="0">
                          <a:latin typeface="+mj-ea"/>
                          <a:ea typeface="+mj-ea"/>
                        </a:rPr>
                        <a:t>(</a:t>
                      </a:r>
                      <a:r>
                        <a:rPr lang="ko-KR" altLang="en-US" sz="1100" dirty="0">
                          <a:latin typeface="+mj-ea"/>
                          <a:ea typeface="+mj-ea"/>
                        </a:rPr>
                        <a:t>한 턴에 </a:t>
                      </a:r>
                      <a:r>
                        <a:rPr lang="en-US" altLang="ko-KR" sz="1100" dirty="0">
                          <a:latin typeface="+mj-ea"/>
                          <a:ea typeface="+mj-ea"/>
                        </a:rPr>
                        <a:t>1</a:t>
                      </a:r>
                      <a:r>
                        <a:rPr lang="ko-KR" altLang="en-US" sz="1100" dirty="0">
                          <a:latin typeface="+mj-ea"/>
                          <a:ea typeface="+mj-ea"/>
                        </a:rPr>
                        <a:t>번만 이용 가능</a:t>
                      </a:r>
                      <a:r>
                        <a:rPr lang="en-US" altLang="ko-KR" sz="1100" dirty="0">
                          <a:latin typeface="+mj-ea"/>
                          <a:ea typeface="+mj-ea"/>
                        </a:rPr>
                        <a:t>)</a:t>
                      </a:r>
                    </a:p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dirty="0" err="1"/>
                        <a:t>청휘석을</a:t>
                      </a:r>
                      <a:r>
                        <a:rPr lang="ko-KR" altLang="en-US" sz="1100" dirty="0"/>
                        <a:t> 지불하여</a:t>
                      </a:r>
                      <a:r>
                        <a:rPr lang="en-US" altLang="ko-KR" sz="1100" dirty="0"/>
                        <a:t>, </a:t>
                      </a:r>
                      <a:r>
                        <a:rPr lang="ko-KR" altLang="en-US" sz="1100" dirty="0" err="1"/>
                        <a:t>아로나</a:t>
                      </a:r>
                      <a:r>
                        <a:rPr lang="ko-KR" altLang="en-US" sz="1100" dirty="0"/>
                        <a:t> 능력을 발동할 수 있습니다</a:t>
                      </a:r>
                      <a:r>
                        <a:rPr lang="en-US" altLang="ko-KR" sz="1100" dirty="0"/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59434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dirty="0">
                          <a:latin typeface="+mj-ea"/>
                          <a:ea typeface="+mj-ea"/>
                        </a:rPr>
                        <a:t>같은 동아리 학생이 필드에 함께 있다면</a:t>
                      </a:r>
                      <a:r>
                        <a:rPr lang="en-US" altLang="ko-KR" sz="1100" dirty="0">
                          <a:latin typeface="+mj-ea"/>
                          <a:ea typeface="+mj-ea"/>
                        </a:rPr>
                        <a:t>, </a:t>
                      </a:r>
                      <a:r>
                        <a:rPr lang="ko-KR" altLang="en-US" sz="1100" dirty="0">
                          <a:latin typeface="+mj-ea"/>
                          <a:ea typeface="+mj-ea"/>
                        </a:rPr>
                        <a:t>동아리 시너지가 발동합니다</a:t>
                      </a:r>
                      <a:r>
                        <a:rPr lang="en-US" altLang="ko-KR" sz="1100" dirty="0">
                          <a:latin typeface="+mj-ea"/>
                          <a:ea typeface="+mj-ea"/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7728395"/>
                  </a:ext>
                </a:extLst>
              </a:tr>
            </a:tbl>
          </a:graphicData>
        </a:graphic>
      </p:graphicFrame>
      <p:cxnSp>
        <p:nvCxnSpPr>
          <p:cNvPr id="28" name="연결선: 꺾임 27">
            <a:extLst>
              <a:ext uri="{FF2B5EF4-FFF2-40B4-BE49-F238E27FC236}">
                <a16:creationId xmlns:a16="http://schemas.microsoft.com/office/drawing/2014/main" id="{5DF63919-68F7-A9B7-A704-F306B68EDCC2}"/>
              </a:ext>
            </a:extLst>
          </p:cNvPr>
          <p:cNvCxnSpPr>
            <a:cxnSpLocks/>
          </p:cNvCxnSpPr>
          <p:nvPr/>
        </p:nvCxnSpPr>
        <p:spPr>
          <a:xfrm>
            <a:off x="2698209" y="3797368"/>
            <a:ext cx="97760" cy="952730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3FBBB021-6C50-4073-1984-503C2FE798C4}"/>
              </a:ext>
            </a:extLst>
          </p:cNvPr>
          <p:cNvSpPr txBox="1"/>
          <p:nvPr/>
        </p:nvSpPr>
        <p:spPr>
          <a:xfrm>
            <a:off x="3924300" y="5298786"/>
            <a:ext cx="281120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900" dirty="0"/>
              <a:t>💡사용하지 않은 </a:t>
            </a:r>
            <a:r>
              <a:rPr lang="ko-KR" altLang="en-US" sz="900" dirty="0" err="1"/>
              <a:t>청휘석은</a:t>
            </a:r>
            <a:r>
              <a:rPr lang="ko-KR" altLang="en-US" sz="900" dirty="0"/>
              <a:t> 다음 턴으로 이월되지 않습니다</a:t>
            </a:r>
            <a:r>
              <a:rPr lang="en-US" altLang="ko-KR" sz="900" dirty="0"/>
              <a:t>.</a:t>
            </a:r>
            <a:endParaRPr lang="ko-KR" altLang="en-US" sz="900" dirty="0"/>
          </a:p>
        </p:txBody>
      </p:sp>
      <p:grpSp>
        <p:nvGrpSpPr>
          <p:cNvPr id="61" name="그룹 60">
            <a:extLst>
              <a:ext uri="{FF2B5EF4-FFF2-40B4-BE49-F238E27FC236}">
                <a16:creationId xmlns:a16="http://schemas.microsoft.com/office/drawing/2014/main" id="{4FCBFE2E-2F4D-390B-64B7-5C879C4B3E9E}"/>
              </a:ext>
            </a:extLst>
          </p:cNvPr>
          <p:cNvGrpSpPr/>
          <p:nvPr/>
        </p:nvGrpSpPr>
        <p:grpSpPr>
          <a:xfrm>
            <a:off x="97758" y="3304939"/>
            <a:ext cx="2600451" cy="1557234"/>
            <a:chOff x="97758" y="3137501"/>
            <a:chExt cx="2600451" cy="1557234"/>
          </a:xfrm>
        </p:grpSpPr>
        <p:pic>
          <p:nvPicPr>
            <p:cNvPr id="50" name="그림 49">
              <a:extLst>
                <a:ext uri="{FF2B5EF4-FFF2-40B4-BE49-F238E27FC236}">
                  <a16:creationId xmlns:a16="http://schemas.microsoft.com/office/drawing/2014/main" id="{FB7535AF-1568-EE04-620D-E8A1DFCC4EC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7758" y="3137501"/>
              <a:ext cx="2600451" cy="1557234"/>
            </a:xfrm>
            <a:prstGeom prst="rect">
              <a:avLst/>
            </a:prstGeom>
            <a:ln w="19050">
              <a:solidFill>
                <a:schemeClr val="bg1"/>
              </a:solidFill>
            </a:ln>
          </p:spPr>
        </p:pic>
        <p:pic>
          <p:nvPicPr>
            <p:cNvPr id="52" name="그림 51">
              <a:extLst>
                <a:ext uri="{FF2B5EF4-FFF2-40B4-BE49-F238E27FC236}">
                  <a16:creationId xmlns:a16="http://schemas.microsoft.com/office/drawing/2014/main" id="{BC698C01-8F4B-A5AB-3259-319BC5DD93E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644778" y="3440435"/>
              <a:ext cx="836623" cy="761362"/>
            </a:xfrm>
            <a:prstGeom prst="rect">
              <a:avLst/>
            </a:prstGeom>
            <a:ln w="15875">
              <a:solidFill>
                <a:srgbClr val="FF0000"/>
              </a:solidFill>
            </a:ln>
          </p:spPr>
        </p:pic>
        <p:cxnSp>
          <p:nvCxnSpPr>
            <p:cNvPr id="55" name="직선 연결선 54">
              <a:extLst>
                <a:ext uri="{FF2B5EF4-FFF2-40B4-BE49-F238E27FC236}">
                  <a16:creationId xmlns:a16="http://schemas.microsoft.com/office/drawing/2014/main" id="{3205C75A-07E6-03B9-4766-0E4EAA705D96}"/>
                </a:ext>
              </a:extLst>
            </p:cNvPr>
            <p:cNvCxnSpPr/>
            <p:nvPr/>
          </p:nvCxnSpPr>
          <p:spPr>
            <a:xfrm flipV="1">
              <a:off x="1457325" y="3913737"/>
              <a:ext cx="57150" cy="134679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직선 연결선 55">
              <a:extLst>
                <a:ext uri="{FF2B5EF4-FFF2-40B4-BE49-F238E27FC236}">
                  <a16:creationId xmlns:a16="http://schemas.microsoft.com/office/drawing/2014/main" id="{624B13F7-6B92-A3B8-FF7B-68C6BABE5997}"/>
                </a:ext>
              </a:extLst>
            </p:cNvPr>
            <p:cNvCxnSpPr>
              <a:cxnSpLocks/>
            </p:cNvCxnSpPr>
            <p:nvPr/>
          </p:nvCxnSpPr>
          <p:spPr>
            <a:xfrm>
              <a:off x="1507331" y="3914789"/>
              <a:ext cx="133200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60" name="표 59">
            <a:extLst>
              <a:ext uri="{FF2B5EF4-FFF2-40B4-BE49-F238E27FC236}">
                <a16:creationId xmlns:a16="http://schemas.microsoft.com/office/drawing/2014/main" id="{8171C977-AA92-4C6A-5F5C-ADDF5BF985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4669167"/>
              </p:ext>
            </p:extLst>
          </p:nvPr>
        </p:nvGraphicFramePr>
        <p:xfrm>
          <a:off x="2795969" y="5880185"/>
          <a:ext cx="3939540" cy="312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9540">
                  <a:extLst>
                    <a:ext uri="{9D8B030D-6E8A-4147-A177-3AD203B41FA5}">
                      <a16:colId xmlns:a16="http://schemas.microsoft.com/office/drawing/2014/main" val="169094954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800" b="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전투 단계</a:t>
                      </a:r>
                      <a:endParaRPr lang="en-US" altLang="ko-KR" sz="1800" b="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  <a:p>
                      <a:pPr algn="l" latinLnBrk="1"/>
                      <a:r>
                        <a:rPr lang="ko-KR" altLang="en-US" sz="1000" b="0" dirty="0">
                          <a:solidFill>
                            <a:srgbClr val="002060"/>
                          </a:solidFill>
                          <a:latin typeface="+mn-ea"/>
                          <a:ea typeface="+mn-ea"/>
                        </a:rPr>
                        <a:t>턴 종료 시 전투 단계에 진입하고</a:t>
                      </a:r>
                      <a:r>
                        <a:rPr lang="en-US" altLang="ko-KR" sz="1000" b="0" dirty="0">
                          <a:solidFill>
                            <a:srgbClr val="002060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b="0" dirty="0">
                          <a:solidFill>
                            <a:srgbClr val="002060"/>
                          </a:solidFill>
                          <a:latin typeface="+mn-ea"/>
                          <a:ea typeface="+mn-ea"/>
                        </a:rPr>
                        <a:t>해당 선생님의 유닛이 공격을 진행합니다</a:t>
                      </a:r>
                      <a:r>
                        <a:rPr lang="en-US" altLang="ko-KR" sz="1000" b="0" dirty="0">
                          <a:solidFill>
                            <a:srgbClr val="002060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000" b="0" dirty="0">
                        <a:solidFill>
                          <a:srgbClr val="002060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66346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100" dirty="0">
                          <a:latin typeface="+mj-ea"/>
                          <a:ea typeface="+mj-ea"/>
                        </a:rPr>
                        <a:t>1. </a:t>
                      </a:r>
                      <a:r>
                        <a:rPr lang="ko-KR" altLang="en-US" sz="1100" dirty="0">
                          <a:latin typeface="+mj-ea"/>
                          <a:ea typeface="+mj-ea"/>
                        </a:rPr>
                        <a:t>기본 공격 규칙</a:t>
                      </a:r>
                      <a:endParaRPr lang="en-US" altLang="ko-KR" sz="1100" dirty="0">
                        <a:latin typeface="+mj-ea"/>
                        <a:ea typeface="+mj-ea"/>
                      </a:endParaRPr>
                    </a:p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dirty="0"/>
                        <a:t>유닛은 카드에 적힌 사거리 안의 목표만 공격할 수 있습니다</a:t>
                      </a:r>
                      <a:r>
                        <a:rPr lang="en-US" altLang="ko-KR" sz="1100" dirty="0"/>
                        <a:t>.</a:t>
                      </a:r>
                    </a:p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dirty="0"/>
                        <a:t>공격 우선 순위 </a:t>
                      </a:r>
                      <a:r>
                        <a:rPr lang="en-US" altLang="ko-KR" sz="1100" dirty="0"/>
                        <a:t>(</a:t>
                      </a:r>
                      <a:r>
                        <a:rPr lang="ko-KR" altLang="en-US" sz="1100" dirty="0"/>
                        <a:t>동일 우선 순위라면 무작위로 공격</a:t>
                      </a:r>
                      <a:r>
                        <a:rPr lang="en-US" altLang="ko-KR" sz="1100" dirty="0"/>
                        <a:t>)</a:t>
                      </a:r>
                    </a:p>
                    <a:p>
                      <a:pPr marL="432000" indent="-228600" algn="l" latinLnBrk="1">
                        <a:spcBef>
                          <a:spcPts val="0"/>
                        </a:spcBef>
                        <a:buFont typeface="+mj-lt"/>
                        <a:buAutoNum type="arabicPeriod"/>
                      </a:pPr>
                      <a:r>
                        <a:rPr lang="ko-KR" altLang="en-US" sz="1100" dirty="0"/>
                        <a:t>사거리 안에 적 유닛이 있다면</a:t>
                      </a:r>
                      <a:r>
                        <a:rPr lang="en-US" altLang="ko-KR" sz="1100" dirty="0"/>
                        <a:t>, </a:t>
                      </a:r>
                      <a:r>
                        <a:rPr lang="ko-KR" altLang="en-US" sz="1100" dirty="0"/>
                        <a:t>그 유닛을 공격</a:t>
                      </a:r>
                      <a:br>
                        <a:rPr lang="en-US" altLang="ko-KR" sz="1100" dirty="0"/>
                      </a:br>
                      <a:r>
                        <a:rPr lang="en-US" altLang="ko-KR" sz="1000" dirty="0">
                          <a:solidFill>
                            <a:srgbClr val="002060"/>
                          </a:solidFill>
                          <a:latin typeface="+mj-ea"/>
                          <a:ea typeface="+mj-ea"/>
                        </a:rPr>
                        <a:t>*[</a:t>
                      </a:r>
                      <a:r>
                        <a:rPr lang="ko-KR" altLang="en-US" sz="1000" dirty="0">
                          <a:solidFill>
                            <a:srgbClr val="002060"/>
                          </a:solidFill>
                          <a:latin typeface="+mj-ea"/>
                          <a:ea typeface="+mj-ea"/>
                        </a:rPr>
                        <a:t>장소 카드</a:t>
                      </a:r>
                      <a:r>
                        <a:rPr lang="en-US" altLang="ko-KR" sz="1000" dirty="0">
                          <a:solidFill>
                            <a:srgbClr val="002060"/>
                          </a:solidFill>
                          <a:latin typeface="+mj-ea"/>
                          <a:ea typeface="+mj-ea"/>
                        </a:rPr>
                        <a:t>]</a:t>
                      </a:r>
                      <a:r>
                        <a:rPr lang="ko-KR" altLang="en-US" sz="1000" dirty="0">
                          <a:solidFill>
                            <a:srgbClr val="002060"/>
                          </a:solidFill>
                          <a:latin typeface="+mj-ea"/>
                          <a:ea typeface="+mj-ea"/>
                        </a:rPr>
                        <a:t>가 있다면 </a:t>
                      </a:r>
                      <a:r>
                        <a:rPr lang="en-US" altLang="ko-KR" sz="1000" dirty="0">
                          <a:solidFill>
                            <a:srgbClr val="002060"/>
                          </a:solidFill>
                          <a:latin typeface="+mj-ea"/>
                          <a:ea typeface="+mj-ea"/>
                        </a:rPr>
                        <a:t>-&gt; [</a:t>
                      </a:r>
                      <a:r>
                        <a:rPr lang="ko-KR" altLang="en-US" sz="1000" dirty="0">
                          <a:solidFill>
                            <a:srgbClr val="002060"/>
                          </a:solidFill>
                          <a:latin typeface="+mj-ea"/>
                          <a:ea typeface="+mj-ea"/>
                        </a:rPr>
                        <a:t>장소 카드</a:t>
                      </a:r>
                      <a:r>
                        <a:rPr lang="en-US" altLang="ko-KR" sz="1000" dirty="0">
                          <a:solidFill>
                            <a:srgbClr val="002060"/>
                          </a:solidFill>
                          <a:latin typeface="+mj-ea"/>
                          <a:ea typeface="+mj-ea"/>
                        </a:rPr>
                        <a:t>]</a:t>
                      </a:r>
                      <a:r>
                        <a:rPr lang="ko-KR" altLang="en-US" sz="1000" dirty="0">
                          <a:solidFill>
                            <a:srgbClr val="002060"/>
                          </a:solidFill>
                          <a:latin typeface="+mj-ea"/>
                          <a:ea typeface="+mj-ea"/>
                        </a:rPr>
                        <a:t>를 우선 공격</a:t>
                      </a:r>
                      <a:endParaRPr lang="en-US" altLang="ko-KR" sz="1000" dirty="0">
                        <a:solidFill>
                          <a:srgbClr val="002060"/>
                        </a:solidFill>
                        <a:latin typeface="+mj-ea"/>
                        <a:ea typeface="+mj-ea"/>
                      </a:endParaRPr>
                    </a:p>
                    <a:p>
                      <a:pPr marL="432000" indent="-228600" algn="l" latinLnBrk="1">
                        <a:spcBef>
                          <a:spcPts val="0"/>
                        </a:spcBef>
                        <a:buFont typeface="+mj-lt"/>
                        <a:buAutoNum type="arabicPeriod"/>
                      </a:pPr>
                      <a:r>
                        <a:rPr lang="ko-KR" altLang="en-US" sz="1100" dirty="0"/>
                        <a:t>사거리 안에 상대 실내 타일이 있으면</a:t>
                      </a:r>
                      <a:r>
                        <a:rPr lang="en-US" altLang="ko-KR" sz="1100" dirty="0"/>
                        <a:t> -&gt; </a:t>
                      </a:r>
                      <a:r>
                        <a:rPr lang="ko-KR" altLang="en-US" sz="1100" dirty="0"/>
                        <a:t>적</a:t>
                      </a:r>
                      <a:r>
                        <a:rPr lang="en-US" altLang="ko-KR" sz="1100" dirty="0"/>
                        <a:t>[</a:t>
                      </a:r>
                      <a:r>
                        <a:rPr lang="ko-KR" altLang="en-US" sz="1100" dirty="0"/>
                        <a:t>본체</a:t>
                      </a:r>
                      <a:r>
                        <a:rPr lang="en-US" altLang="ko-KR" sz="1100" dirty="0"/>
                        <a:t>]</a:t>
                      </a:r>
                      <a:r>
                        <a:rPr lang="ko-KR" altLang="en-US" sz="1100" dirty="0"/>
                        <a:t>를 공격</a:t>
                      </a:r>
                      <a:endParaRPr lang="en-US" altLang="ko-KR" sz="1100" dirty="0"/>
                    </a:p>
                    <a:p>
                      <a:pPr marL="432000" indent="-228600" algn="l" latinLnBrk="1">
                        <a:spcBef>
                          <a:spcPts val="0"/>
                        </a:spcBef>
                        <a:buFont typeface="+mj-lt"/>
                        <a:buAutoNum type="arabicPeriod"/>
                      </a:pPr>
                      <a:r>
                        <a:rPr lang="ko-KR" altLang="en-US" sz="1100" dirty="0"/>
                        <a:t>아무것도 없으면 공격하지 않음</a:t>
                      </a:r>
                      <a:endParaRPr lang="en-US" altLang="ko-KR" sz="1100" dirty="0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04569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100" dirty="0">
                          <a:latin typeface="+mj-ea"/>
                          <a:ea typeface="+mj-ea"/>
                        </a:rPr>
                        <a:t>2. </a:t>
                      </a:r>
                      <a:r>
                        <a:rPr lang="ko-KR" altLang="en-US" sz="1100" dirty="0">
                          <a:latin typeface="+mj-ea"/>
                          <a:ea typeface="+mj-ea"/>
                        </a:rPr>
                        <a:t>타일 피해 규칙</a:t>
                      </a:r>
                      <a:endParaRPr lang="en-US" altLang="ko-KR" sz="1100" dirty="0">
                        <a:latin typeface="+mj-ea"/>
                        <a:ea typeface="+mj-ea"/>
                      </a:endParaRPr>
                    </a:p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100" dirty="0"/>
                        <a:t>[</a:t>
                      </a:r>
                      <a:r>
                        <a:rPr lang="ko-KR" altLang="en-US" sz="1100" dirty="0"/>
                        <a:t>타일</a:t>
                      </a:r>
                      <a:r>
                        <a:rPr lang="en-US" altLang="ko-KR" sz="1100" dirty="0"/>
                        <a:t>]</a:t>
                      </a:r>
                      <a:r>
                        <a:rPr lang="ko-KR" altLang="en-US" sz="1100" dirty="0"/>
                        <a:t>에 피해를 주는 카드 효과</a:t>
                      </a:r>
                      <a:br>
                        <a:rPr lang="en-US" altLang="ko-KR" sz="1100" dirty="0"/>
                      </a:br>
                      <a:r>
                        <a:rPr lang="en-US" altLang="ko-KR" sz="1100" dirty="0"/>
                        <a:t>-&gt; </a:t>
                      </a:r>
                      <a:r>
                        <a:rPr lang="ko-KR" altLang="en-US" sz="1100" dirty="0"/>
                        <a:t>적용 받는 타일이 실내 타일일 시 적</a:t>
                      </a:r>
                      <a:r>
                        <a:rPr lang="en-US" altLang="ko-KR" sz="1100" dirty="0"/>
                        <a:t>[</a:t>
                      </a:r>
                      <a:r>
                        <a:rPr lang="ko-KR" altLang="en-US" sz="1100" dirty="0"/>
                        <a:t>본체</a:t>
                      </a:r>
                      <a:r>
                        <a:rPr lang="en-US" altLang="ko-KR" sz="1100" dirty="0"/>
                        <a:t>]</a:t>
                      </a:r>
                      <a:r>
                        <a:rPr lang="ko-KR" altLang="en-US" sz="1100" dirty="0"/>
                        <a:t>에게도 피해를 입힘 </a:t>
                      </a:r>
                      <a:endParaRPr lang="en-US" altLang="ko-KR" sz="1100" dirty="0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71966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100" dirty="0">
                          <a:latin typeface="+mj-ea"/>
                          <a:ea typeface="+mj-ea"/>
                        </a:rPr>
                        <a:t>3. </a:t>
                      </a:r>
                      <a:r>
                        <a:rPr lang="ko-KR" altLang="en-US" sz="1100" dirty="0">
                          <a:latin typeface="+mj-ea"/>
                          <a:ea typeface="+mj-ea"/>
                        </a:rPr>
                        <a:t>공격 진행</a:t>
                      </a:r>
                      <a:endParaRPr lang="en-US" altLang="ko-KR" sz="1100" dirty="0">
                        <a:latin typeface="+mj-ea"/>
                        <a:ea typeface="+mj-ea"/>
                      </a:endParaRPr>
                    </a:p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dirty="0">
                          <a:latin typeface="+mn-ea"/>
                          <a:ea typeface="+mn-ea"/>
                        </a:rPr>
                        <a:t>플레이어 기준 왼쪽 유닛부터 공격을 수행합니다</a:t>
                      </a:r>
                      <a:r>
                        <a:rPr lang="en-US" altLang="ko-KR" sz="1100" dirty="0"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dirty="0">
                          <a:latin typeface="+mn-ea"/>
                          <a:ea typeface="+mn-ea"/>
                        </a:rPr>
                        <a:t>피해를 입은 유닛의 </a:t>
                      </a:r>
                      <a:r>
                        <a:rPr lang="en-US" altLang="ko-KR" sz="1100" dirty="0">
                          <a:latin typeface="+mn-ea"/>
                          <a:ea typeface="+mn-ea"/>
                        </a:rPr>
                        <a:t>HP</a:t>
                      </a:r>
                      <a:r>
                        <a:rPr lang="ko-KR" altLang="en-US" sz="1100" dirty="0">
                          <a:latin typeface="+mn-ea"/>
                          <a:ea typeface="+mn-ea"/>
                        </a:rPr>
                        <a:t>가 </a:t>
                      </a:r>
                      <a:r>
                        <a:rPr lang="en-US" altLang="ko-KR" sz="1100" dirty="0">
                          <a:latin typeface="+mn-ea"/>
                          <a:ea typeface="+mn-ea"/>
                        </a:rPr>
                        <a:t>0</a:t>
                      </a:r>
                      <a:r>
                        <a:rPr lang="ko-KR" altLang="en-US" sz="1100" dirty="0">
                          <a:latin typeface="+mn-ea"/>
                          <a:ea typeface="+mn-ea"/>
                        </a:rPr>
                        <a:t>이 되면 필드에서 즉시 퇴장합니다</a:t>
                      </a:r>
                      <a:r>
                        <a:rPr lang="en-US" altLang="ko-KR" sz="1100" dirty="0"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dirty="0">
                          <a:latin typeface="+mn-ea"/>
                          <a:ea typeface="+mn-ea"/>
                        </a:rPr>
                        <a:t>피해를 입은 선생님의 </a:t>
                      </a:r>
                      <a:r>
                        <a:rPr lang="en-US" altLang="ko-KR" sz="1100" dirty="0">
                          <a:latin typeface="+mn-ea"/>
                          <a:ea typeface="+mn-ea"/>
                        </a:rPr>
                        <a:t>HP</a:t>
                      </a:r>
                      <a:r>
                        <a:rPr lang="ko-KR" altLang="en-US" sz="1100" dirty="0">
                          <a:latin typeface="+mn-ea"/>
                          <a:ea typeface="+mn-ea"/>
                        </a:rPr>
                        <a:t>가 </a:t>
                      </a:r>
                      <a:r>
                        <a:rPr lang="en-US" altLang="ko-KR" sz="1100" dirty="0">
                          <a:latin typeface="+mn-ea"/>
                          <a:ea typeface="+mn-ea"/>
                        </a:rPr>
                        <a:t>0</a:t>
                      </a:r>
                      <a:r>
                        <a:rPr lang="ko-KR" altLang="en-US" sz="1100" dirty="0">
                          <a:latin typeface="+mn-ea"/>
                          <a:ea typeface="+mn-ea"/>
                        </a:rPr>
                        <a:t>이 되면 게임이 종료됩니다</a:t>
                      </a:r>
                      <a:r>
                        <a:rPr lang="en-US" altLang="ko-KR" sz="1100" dirty="0"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7728395"/>
                  </a:ext>
                </a:extLst>
              </a:tr>
            </a:tbl>
          </a:graphicData>
        </a:graphic>
      </p:graphicFrame>
      <p:graphicFrame>
        <p:nvGraphicFramePr>
          <p:cNvPr id="62" name="표 61">
            <a:extLst>
              <a:ext uri="{FF2B5EF4-FFF2-40B4-BE49-F238E27FC236}">
                <a16:creationId xmlns:a16="http://schemas.microsoft.com/office/drawing/2014/main" id="{210D3BEE-3DB1-3AE7-800D-49BE680AF0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0837135"/>
              </p:ext>
            </p:extLst>
          </p:nvPr>
        </p:nvGraphicFramePr>
        <p:xfrm>
          <a:off x="2795969" y="9787095"/>
          <a:ext cx="393954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9540">
                  <a:extLst>
                    <a:ext uri="{9D8B030D-6E8A-4147-A177-3AD203B41FA5}">
                      <a16:colId xmlns:a16="http://schemas.microsoft.com/office/drawing/2014/main" val="169094954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800" b="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종료 단계</a:t>
                      </a:r>
                      <a:endParaRPr lang="en-US" altLang="ko-KR" sz="1800" b="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  <a:p>
                      <a:pPr algn="l" latinLnBrk="1"/>
                      <a:r>
                        <a:rPr lang="ko-KR" altLang="en-US" sz="1000" b="0" dirty="0">
                          <a:solidFill>
                            <a:srgbClr val="002060"/>
                          </a:solidFill>
                          <a:latin typeface="+mn-ea"/>
                          <a:ea typeface="+mn-ea"/>
                        </a:rPr>
                        <a:t>현재 플레이어의 턴을 마무리합니다</a:t>
                      </a:r>
                      <a:r>
                        <a:rPr lang="en-US" altLang="ko-KR" sz="1000" b="0" dirty="0">
                          <a:solidFill>
                            <a:srgbClr val="002060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000" b="0" dirty="0">
                        <a:solidFill>
                          <a:srgbClr val="002060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66346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100" kern="120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1. </a:t>
                      </a:r>
                      <a:r>
                        <a:rPr lang="ko-KR" altLang="en-US" sz="1100" kern="1200" dirty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기본 규칙</a:t>
                      </a:r>
                      <a:endParaRPr lang="en-US" altLang="ko-KR" sz="1100" kern="1200" dirty="0">
                        <a:solidFill>
                          <a:schemeClr val="dk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dirty="0"/>
                        <a:t>턴 종료 시</a:t>
                      </a:r>
                      <a:r>
                        <a:rPr lang="en-US" altLang="ko-KR" sz="1100" dirty="0"/>
                        <a:t>, </a:t>
                      </a:r>
                      <a:r>
                        <a:rPr lang="ko-KR" altLang="en-US" sz="1100" dirty="0"/>
                        <a:t>남은 </a:t>
                      </a:r>
                      <a:r>
                        <a:rPr lang="ko-KR" altLang="en-US" sz="1100" dirty="0" err="1"/>
                        <a:t>청휘석은</a:t>
                      </a:r>
                      <a:r>
                        <a:rPr lang="ko-KR" altLang="en-US" sz="1100" dirty="0"/>
                        <a:t> 이월되지 않고 모두 사라집니다</a:t>
                      </a:r>
                      <a:r>
                        <a:rPr lang="en-US" altLang="ko-KR" sz="1100" dirty="0"/>
                        <a:t>. </a:t>
                      </a:r>
                    </a:p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dirty="0"/>
                        <a:t>카드</a:t>
                      </a:r>
                      <a:r>
                        <a:rPr lang="en-US" altLang="ko-KR" sz="1100" dirty="0"/>
                        <a:t>/</a:t>
                      </a:r>
                      <a:r>
                        <a:rPr lang="ko-KR" altLang="en-US" sz="1100" dirty="0"/>
                        <a:t>효과에 </a:t>
                      </a:r>
                      <a:r>
                        <a:rPr lang="en-US" altLang="ko-KR" sz="1100" dirty="0"/>
                        <a:t>[</a:t>
                      </a:r>
                      <a:r>
                        <a:rPr lang="ko-KR" altLang="en-US" sz="1100" dirty="0"/>
                        <a:t>턴 종료 시 발동</a:t>
                      </a:r>
                      <a:r>
                        <a:rPr lang="en-US" altLang="ko-KR" sz="1100" dirty="0"/>
                        <a:t>]</a:t>
                      </a:r>
                      <a:r>
                        <a:rPr lang="ko-KR" altLang="en-US" sz="1100" dirty="0"/>
                        <a:t>이 있다면 이때 처리합니다</a:t>
                      </a:r>
                      <a:r>
                        <a:rPr lang="en-US" altLang="ko-KR" sz="1100" dirty="0"/>
                        <a:t>.</a:t>
                      </a:r>
                    </a:p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dirty="0"/>
                        <a:t>턴이 끝나면 상대 플레이어가 자신의 턴을 시작합니다</a:t>
                      </a:r>
                      <a:r>
                        <a:rPr lang="en-US" altLang="ko-KR" sz="1100" dirty="0"/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7728395"/>
                  </a:ext>
                </a:extLst>
              </a:tr>
            </a:tbl>
          </a:graphicData>
        </a:graphic>
      </p:graphicFrame>
      <p:pic>
        <p:nvPicPr>
          <p:cNvPr id="1025" name="그림 1024">
            <a:extLst>
              <a:ext uri="{FF2B5EF4-FFF2-40B4-BE49-F238E27FC236}">
                <a16:creationId xmlns:a16="http://schemas.microsoft.com/office/drawing/2014/main" id="{86EAED71-022C-1906-2D79-A8E6325D9C3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757" y="5936623"/>
            <a:ext cx="2600451" cy="1627730"/>
          </a:xfrm>
          <a:prstGeom prst="rect">
            <a:avLst/>
          </a:prstGeom>
          <a:ln w="19050">
            <a:solidFill>
              <a:schemeClr val="bg1"/>
            </a:solidFill>
          </a:ln>
        </p:spPr>
      </p:pic>
      <p:pic>
        <p:nvPicPr>
          <p:cNvPr id="1027" name="그림 1026">
            <a:extLst>
              <a:ext uri="{FF2B5EF4-FFF2-40B4-BE49-F238E27FC236}">
                <a16:creationId xmlns:a16="http://schemas.microsoft.com/office/drawing/2014/main" id="{9A1A5807-9AB9-AA69-65C2-ED167F8068E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757" y="7704946"/>
            <a:ext cx="2600451" cy="1262323"/>
          </a:xfrm>
          <a:prstGeom prst="rect">
            <a:avLst/>
          </a:prstGeom>
          <a:ln w="19050">
            <a:solidFill>
              <a:schemeClr val="bg1"/>
            </a:solidFill>
          </a:ln>
        </p:spPr>
      </p:pic>
      <p:sp>
        <p:nvSpPr>
          <p:cNvPr id="1028" name="직사각형 1027">
            <a:extLst>
              <a:ext uri="{FF2B5EF4-FFF2-40B4-BE49-F238E27FC236}">
                <a16:creationId xmlns:a16="http://schemas.microsoft.com/office/drawing/2014/main" id="{18D809FB-082E-845C-7DA2-323DF23FD492}"/>
              </a:ext>
            </a:extLst>
          </p:cNvPr>
          <p:cNvSpPr/>
          <p:nvPr/>
        </p:nvSpPr>
        <p:spPr>
          <a:xfrm>
            <a:off x="1828800" y="5954811"/>
            <a:ext cx="869408" cy="51280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30" name="TextBox 1029">
            <a:extLst>
              <a:ext uri="{FF2B5EF4-FFF2-40B4-BE49-F238E27FC236}">
                <a16:creationId xmlns:a16="http://schemas.microsoft.com/office/drawing/2014/main" id="{0D4D8188-E2D6-8610-06AD-80431DCC59AA}"/>
              </a:ext>
            </a:extLst>
          </p:cNvPr>
          <p:cNvSpPr txBox="1"/>
          <p:nvPr/>
        </p:nvSpPr>
        <p:spPr>
          <a:xfrm>
            <a:off x="1588282" y="5748290"/>
            <a:ext cx="3429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dirty="0"/>
              <a:t>💡</a:t>
            </a:r>
            <a:endParaRPr lang="ko-KR" altLang="en-US" dirty="0"/>
          </a:p>
        </p:txBody>
      </p:sp>
      <p:sp>
        <p:nvSpPr>
          <p:cNvPr id="1032" name="화살표: 아래쪽 1031">
            <a:extLst>
              <a:ext uri="{FF2B5EF4-FFF2-40B4-BE49-F238E27FC236}">
                <a16:creationId xmlns:a16="http://schemas.microsoft.com/office/drawing/2014/main" id="{2C7EE6E2-5FA3-6664-417C-AC015C500751}"/>
              </a:ext>
            </a:extLst>
          </p:cNvPr>
          <p:cNvSpPr/>
          <p:nvPr/>
        </p:nvSpPr>
        <p:spPr>
          <a:xfrm>
            <a:off x="1266825" y="7449905"/>
            <a:ext cx="247650" cy="398212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35" name="그림 1034">
            <a:extLst>
              <a:ext uri="{FF2B5EF4-FFF2-40B4-BE49-F238E27FC236}">
                <a16:creationId xmlns:a16="http://schemas.microsoft.com/office/drawing/2014/main" id="{87C33D8E-5EF8-3DF6-5E5A-014146F753F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757" y="9613310"/>
            <a:ext cx="2605671" cy="1627729"/>
          </a:xfrm>
          <a:prstGeom prst="rect">
            <a:avLst/>
          </a:prstGeom>
          <a:ln w="19050">
            <a:solidFill>
              <a:schemeClr val="bg1"/>
            </a:solidFill>
          </a:ln>
        </p:spPr>
      </p:pic>
      <p:sp>
        <p:nvSpPr>
          <p:cNvPr id="1036" name="TextBox 1035">
            <a:extLst>
              <a:ext uri="{FF2B5EF4-FFF2-40B4-BE49-F238E27FC236}">
                <a16:creationId xmlns:a16="http://schemas.microsoft.com/office/drawing/2014/main" id="{7268098F-4545-736F-B4FD-CF0E2F45EBFF}"/>
              </a:ext>
            </a:extLst>
          </p:cNvPr>
          <p:cNvSpPr txBox="1"/>
          <p:nvPr/>
        </p:nvSpPr>
        <p:spPr>
          <a:xfrm>
            <a:off x="582930" y="4858070"/>
            <a:ext cx="161544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/>
              <a:t>*</a:t>
            </a:r>
            <a:r>
              <a:rPr lang="ko-KR" altLang="en-US" sz="1000" dirty="0" err="1"/>
              <a:t>아로나</a:t>
            </a:r>
            <a:r>
              <a:rPr lang="ko-KR" altLang="en-US" sz="1000" dirty="0"/>
              <a:t> 능력 참고 이미지</a:t>
            </a:r>
          </a:p>
        </p:txBody>
      </p:sp>
      <p:sp>
        <p:nvSpPr>
          <p:cNvPr id="1037" name="TextBox 1036">
            <a:extLst>
              <a:ext uri="{FF2B5EF4-FFF2-40B4-BE49-F238E27FC236}">
                <a16:creationId xmlns:a16="http://schemas.microsoft.com/office/drawing/2014/main" id="{45C382F6-990B-9185-0951-7CD14B697A9B}"/>
              </a:ext>
            </a:extLst>
          </p:cNvPr>
          <p:cNvSpPr txBox="1"/>
          <p:nvPr/>
        </p:nvSpPr>
        <p:spPr>
          <a:xfrm>
            <a:off x="590262" y="2324743"/>
            <a:ext cx="161544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/>
              <a:t>*</a:t>
            </a:r>
            <a:r>
              <a:rPr lang="ko-KR" altLang="en-US" sz="1000" dirty="0"/>
              <a:t>시작 준비 화면 참고</a:t>
            </a:r>
          </a:p>
        </p:txBody>
      </p:sp>
      <p:sp>
        <p:nvSpPr>
          <p:cNvPr id="1038" name="TextBox 1037">
            <a:extLst>
              <a:ext uri="{FF2B5EF4-FFF2-40B4-BE49-F238E27FC236}">
                <a16:creationId xmlns:a16="http://schemas.microsoft.com/office/drawing/2014/main" id="{21F72E79-9134-E021-1840-0B04C0FCEE83}"/>
              </a:ext>
            </a:extLst>
          </p:cNvPr>
          <p:cNvSpPr txBox="1"/>
          <p:nvPr/>
        </p:nvSpPr>
        <p:spPr>
          <a:xfrm>
            <a:off x="582930" y="11241039"/>
            <a:ext cx="161544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/>
              <a:t>*</a:t>
            </a:r>
            <a:r>
              <a:rPr lang="ko-KR" altLang="en-US" sz="1000" dirty="0"/>
              <a:t>턴 교체 참고 이미지</a:t>
            </a:r>
          </a:p>
        </p:txBody>
      </p:sp>
    </p:spTree>
    <p:extLst>
      <p:ext uri="{BB962C8B-B14F-4D97-AF65-F5344CB8AC3E}">
        <p14:creationId xmlns:p14="http://schemas.microsoft.com/office/powerpoint/2010/main" val="32527299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페이퍼로지">
      <a:majorFont>
        <a:latin typeface="페이퍼로지 7 Bold"/>
        <a:ea typeface="페이퍼로지 7 Bold"/>
        <a:cs typeface=""/>
      </a:majorFont>
      <a:minorFont>
        <a:latin typeface="페이퍼로지 5 Medium"/>
        <a:ea typeface="페이퍼로지 5 Medium"/>
        <a:cs typeface="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solidFill>
            <a:srgbClr val="FF0000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rgbClr val="FF0000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679</TotalTime>
  <Words>912</Words>
  <Application>Microsoft Office PowerPoint</Application>
  <PresentationFormat>와이드스크린</PresentationFormat>
  <Paragraphs>176</Paragraphs>
  <Slides>5</Slides>
  <Notes>0</Notes>
  <HiddenSlides>2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9" baseType="lpstr">
      <vt:lpstr>Arial</vt:lpstr>
      <vt:lpstr>페이퍼로지 7 Bold</vt:lpstr>
      <vt:lpstr>페이퍼로지 5 Medium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병준 배</dc:creator>
  <cp:lastModifiedBy>준석 송</cp:lastModifiedBy>
  <cp:revision>11</cp:revision>
  <dcterms:created xsi:type="dcterms:W3CDTF">2025-09-22T13:58:42Z</dcterms:created>
  <dcterms:modified xsi:type="dcterms:W3CDTF">2025-09-27T16:56:06Z</dcterms:modified>
</cp:coreProperties>
</file>