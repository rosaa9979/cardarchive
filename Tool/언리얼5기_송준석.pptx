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8" r:id="rId9"/>
    <p:sldId id="271" r:id="rId10"/>
    <p:sldId id="272" r:id="rId11"/>
    <p:sldId id="273" r:id="rId12"/>
    <p:sldId id="279" r:id="rId13"/>
    <p:sldId id="265" r:id="rId14"/>
    <p:sldId id="266" r:id="rId15"/>
    <p:sldId id="267" r:id="rId16"/>
    <p:sldId id="270" r:id="rId17"/>
    <p:sldId id="274" r:id="rId18"/>
    <p:sldId id="275" r:id="rId19"/>
    <p:sldId id="278" r:id="rId20"/>
    <p:sldId id="276" r:id="rId21"/>
    <p:sldId id="277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1938"/>
    <a:srgbClr val="B0D4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7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72" y="29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35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914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4474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979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5064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0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8041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308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405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665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1252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2A85E-2D82-4CB4-9990-4E96C522C8A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5F1BEB-758D-4CE5-8778-EBABFADB9B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823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6092759"/>
            <a:ext cx="9144000" cy="442424"/>
          </a:xfrm>
        </p:spPr>
        <p:txBody>
          <a:bodyPr/>
          <a:lstStyle/>
          <a:p>
            <a:r>
              <a:rPr lang="ko-KR" altLang="en-US" dirty="0" err="1" smtClean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송준석</a:t>
            </a:r>
            <a:endParaRPr lang="ko-KR" altLang="en-US" dirty="0">
              <a:solidFill>
                <a:schemeClr val="bg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6316" y="0"/>
            <a:ext cx="6359368" cy="235720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25215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742" y="6109899"/>
            <a:ext cx="2018259" cy="74810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268" y="1289013"/>
            <a:ext cx="7741466" cy="42799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53351" y="2450400"/>
            <a:ext cx="6285296" cy="2468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프로젝트 개요</a:t>
            </a:r>
            <a:endParaRPr lang="en-US" altLang="ko-KR" sz="1500" dirty="0">
              <a:solidFill>
                <a:srgbClr val="171938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게임 </a:t>
            </a:r>
            <a:r>
              <a:rPr lang="ko-KR" altLang="en-US" sz="1500" dirty="0" smtClean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소개</a:t>
            </a:r>
            <a:endParaRPr lang="en-US" altLang="ko-KR" sz="1500" dirty="0" smtClean="0">
              <a:solidFill>
                <a:srgbClr val="171938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게임 프레임워크</a:t>
            </a:r>
            <a:endParaRPr lang="en-US" altLang="ko-KR" sz="1500" dirty="0" smtClean="0">
              <a:solidFill>
                <a:srgbClr val="171938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핵심 </a:t>
            </a:r>
            <a:r>
              <a:rPr lang="ko-KR" altLang="en-US" sz="1500" dirty="0" err="1" smtClean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로직</a:t>
            </a:r>
            <a:r>
              <a:rPr lang="ko-KR" altLang="en-US" sz="1500" dirty="0" smtClean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 구현 및 </a:t>
            </a:r>
            <a:r>
              <a:rPr lang="ko-KR" altLang="en-US" sz="1500" dirty="0" err="1" smtClean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리팩토링</a:t>
            </a:r>
            <a:endParaRPr lang="en-US" altLang="ko-KR" sz="1500" dirty="0" smtClean="0">
              <a:solidFill>
                <a:srgbClr val="171938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smtClean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UI / UX </a:t>
            </a:r>
            <a:r>
              <a:rPr lang="ko-KR" altLang="en-US" sz="1500" dirty="0" smtClean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구조 개편</a:t>
            </a:r>
            <a:endParaRPr lang="en-US" altLang="ko-KR" sz="1500" dirty="0" smtClean="0">
              <a:solidFill>
                <a:srgbClr val="171938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기타</a:t>
            </a:r>
            <a:endParaRPr lang="en-US" altLang="ko-KR" sz="1500" dirty="0" smtClean="0">
              <a:solidFill>
                <a:srgbClr val="171938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solidFill>
                  <a:srgbClr val="171938"/>
                </a:solidFill>
                <a:latin typeface="페이퍼로지 5 Medium" pitchFamily="2" charset="-127"/>
                <a:ea typeface="페이퍼로지 5 Medium" pitchFamily="2" charset="-127"/>
              </a:rPr>
              <a:t>성과 및 향후 계획</a:t>
            </a:r>
            <a:endParaRPr lang="ko-KR" altLang="en-US" sz="1500" dirty="0">
              <a:solidFill>
                <a:srgbClr val="171938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3" name="순서도: 수행의 시작/종료 12"/>
          <p:cNvSpPr/>
          <p:nvPr/>
        </p:nvSpPr>
        <p:spPr>
          <a:xfrm>
            <a:off x="4935352" y="1539273"/>
            <a:ext cx="2321294" cy="660867"/>
          </a:xfrm>
          <a:prstGeom prst="flowChartTerminator">
            <a:avLst/>
          </a:prstGeom>
          <a:solidFill>
            <a:srgbClr val="171938"/>
          </a:solidFill>
          <a:ln>
            <a:solidFill>
              <a:srgbClr val="1719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5626961" y="1592708"/>
            <a:ext cx="93807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spc="300" dirty="0">
                <a:solidFill>
                  <a:srgbClr val="B0D4F0"/>
                </a:solidFill>
                <a:latin typeface="페이퍼로지 7 Bold" pitchFamily="2" charset="-127"/>
                <a:ea typeface="페이퍼로지 7 Bold" pitchFamily="2" charset="-127"/>
              </a:rPr>
              <a:t>목차</a:t>
            </a:r>
          </a:p>
        </p:txBody>
      </p:sp>
    </p:spTree>
    <p:extLst>
      <p:ext uri="{BB962C8B-B14F-4D97-AF65-F5344CB8AC3E}">
        <p14:creationId xmlns:p14="http://schemas.microsoft.com/office/powerpoint/2010/main" val="742527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466" y="3238524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1" y="584226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46485" y="1044000"/>
            <a:ext cx="229902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프로젝트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9535" y="1628254"/>
            <a:ext cx="9115124" cy="4362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프로젝트 이름</a:t>
            </a:r>
            <a:endParaRPr lang="en-US" altLang="ko-KR" sz="20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카드아카이브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블루아카이브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2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차 창작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팬게임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프로젝트 기간</a:t>
            </a:r>
            <a:endParaRPr lang="en-US" altLang="ko-KR" sz="20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기획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: 2023.10 ~ 2024.06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개발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: 2024.06 ~ 2025.11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프로젝트 인원</a:t>
            </a:r>
            <a:endParaRPr lang="en-US" altLang="ko-KR" sz="20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1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인 프로젝트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맡은 역할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기획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시스템 기획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UI/UX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기획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카드 기획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밸런스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개발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시스템 구현 및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로직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리팩토링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리소스 아웃소싱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외주 디자이너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컨택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디자인 요청 및 품질 검수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09865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466" y="3238524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27143" y="1044705"/>
            <a:ext cx="478368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>
                <a:latin typeface="페이퍼로지 7 Bold" pitchFamily="2" charset="-127"/>
                <a:ea typeface="페이퍼로지 7 Bold" pitchFamily="2" charset="-127"/>
              </a:rPr>
              <a:t>게임 소개 및 규칙 설명 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ko-KR" altLang="en-US" sz="2000" dirty="0">
                <a:latin typeface="페이퍼로지 7 Bold" pitchFamily="2" charset="-127"/>
                <a:ea typeface="페이퍼로지 7 Bold" pitchFamily="2" charset="-127"/>
              </a:rPr>
              <a:t>기본 소개</a:t>
            </a:r>
            <a:r>
              <a:rPr lang="en-US" altLang="ko-KR" sz="2000" dirty="0">
                <a:latin typeface="페이퍼로지 7 Bold" pitchFamily="2" charset="-127"/>
                <a:ea typeface="페이퍼로지 7 Bold" pitchFamily="2" charset="-127"/>
              </a:rPr>
              <a:t>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76924" y="1716401"/>
            <a:ext cx="1596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레퍼런스 게임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4684" y="2834105"/>
            <a:ext cx="3283017" cy="1367924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3113" y="3030090"/>
            <a:ext cx="3485548" cy="9759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81043" y="4582080"/>
            <a:ext cx="6475875" cy="7374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여러 시너지를 조합하여 </a:t>
            </a:r>
            <a:r>
              <a:rPr lang="ko-KR" altLang="en-US" sz="1500" dirty="0" err="1">
                <a:latin typeface="페이퍼로지 5 Medium" pitchFamily="2" charset="-127"/>
                <a:ea typeface="페이퍼로지 5 Medium" pitchFamily="2" charset="-127"/>
              </a:rPr>
              <a:t>덱을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편성하고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유닛의 시너지와 사거리 및 다양한 카드의 효과를 통해 전장에서 승리하는 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TCG 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게임</a:t>
            </a:r>
          </a:p>
        </p:txBody>
      </p:sp>
    </p:spTree>
    <p:extLst>
      <p:ext uri="{BB962C8B-B14F-4D97-AF65-F5344CB8AC3E}">
        <p14:creationId xmlns:p14="http://schemas.microsoft.com/office/powerpoint/2010/main" val="1641370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57875" y="1044705"/>
            <a:ext cx="27222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게임 프레임워크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 flipH="1">
            <a:off x="7280095" y="1814589"/>
            <a:ext cx="19370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AWS (EC2)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 flipH="1">
            <a:off x="6384756" y="2951933"/>
            <a:ext cx="19370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GameServer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 flipH="1">
            <a:off x="3677158" y="2951933"/>
            <a:ext cx="19370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GameClient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cxnSp>
        <p:nvCxnSpPr>
          <p:cNvPr id="14" name="직선 화살표 연결선 13"/>
          <p:cNvCxnSpPr>
            <a:stCxn id="20" idx="1"/>
            <a:endCxn id="16" idx="3"/>
          </p:cNvCxnSpPr>
          <p:nvPr/>
        </p:nvCxnSpPr>
        <p:spPr>
          <a:xfrm>
            <a:off x="5614243" y="3113516"/>
            <a:ext cx="77051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endCxn id="30" idx="3"/>
          </p:cNvCxnSpPr>
          <p:nvPr/>
        </p:nvCxnSpPr>
        <p:spPr>
          <a:xfrm>
            <a:off x="5609956" y="3491942"/>
            <a:ext cx="770512" cy="118467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 flipH="1">
            <a:off x="6380468" y="4515035"/>
            <a:ext cx="19370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Node </a:t>
            </a: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js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 flipH="1">
            <a:off x="5030957" y="2705712"/>
            <a:ext cx="193708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 err="1" smtClean="0">
                <a:latin typeface="페이퍼로지 5 Medium" pitchFamily="2" charset="-127"/>
                <a:ea typeface="페이퍼로지 5 Medium" pitchFamily="2" charset="-127"/>
              </a:rPr>
              <a:t>NetCode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 flipH="1">
            <a:off x="4473907" y="4017050"/>
            <a:ext cx="193708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 err="1" smtClean="0">
                <a:latin typeface="페이퍼로지 5 Medium" pitchFamily="2" charset="-127"/>
                <a:ea typeface="페이퍼로지 5 Medium" pitchFamily="2" charset="-127"/>
              </a:rPr>
              <a:t>WebResponse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5" name="TextBox 34"/>
          <p:cNvSpPr txBox="1"/>
          <p:nvPr/>
        </p:nvSpPr>
        <p:spPr>
          <a:xfrm flipH="1">
            <a:off x="8317553" y="2951933"/>
            <a:ext cx="19370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Game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 flipH="1">
            <a:off x="8317553" y="3640938"/>
            <a:ext cx="19370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GameLogic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560576" y="3323610"/>
            <a:ext cx="145103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게임 내 상태 저장 및 관리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518902" y="4017050"/>
            <a:ext cx="153439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실질적인 </a:t>
            </a:r>
            <a:r>
              <a:rPr lang="ko-KR" altLang="en-US" sz="1000" dirty="0" err="1" smtClean="0">
                <a:latin typeface="페이퍼로지 5 Medium" pitchFamily="2" charset="-127"/>
                <a:ea typeface="페이퍼로지 5 Medium" pitchFamily="2" charset="-127"/>
              </a:rPr>
              <a:t>로직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 수행 및 반영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286865" y="3319068"/>
            <a:ext cx="2124299" cy="2915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클라이언트의 요청에 대응 및 결과 전달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1" name="TextBox 40"/>
          <p:cNvSpPr txBox="1"/>
          <p:nvPr/>
        </p:nvSpPr>
        <p:spPr>
          <a:xfrm flipH="1">
            <a:off x="6380467" y="4881497"/>
            <a:ext cx="19370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회원 관리 및 </a:t>
            </a:r>
            <a:r>
              <a:rPr lang="ko-KR" altLang="en-US" sz="1000" dirty="0" err="1" smtClean="0">
                <a:latin typeface="페이퍼로지 5 Medium" pitchFamily="2" charset="-127"/>
                <a:ea typeface="페이퍼로지 5 Medium" pitchFamily="2" charset="-127"/>
              </a:rPr>
              <a:t>웹페이지</a:t>
            </a:r>
            <a:r>
              <a:rPr lang="ko-KR" altLang="en-US" sz="10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서비스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2" name="TextBox 41"/>
          <p:cNvSpPr txBox="1"/>
          <p:nvPr/>
        </p:nvSpPr>
        <p:spPr>
          <a:xfrm flipH="1">
            <a:off x="1570884" y="2952275"/>
            <a:ext cx="19370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BoardSlot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 flipH="1">
            <a:off x="2727866" y="1820146"/>
            <a:ext cx="19370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Client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730898" y="3303992"/>
            <a:ext cx="184217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서버에 플레이어의 행동을 요청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서버의 결과를 클라이언트에 적용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625681" y="3303970"/>
            <a:ext cx="181492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카드를 배치할 수 있는 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Slot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관리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 flipH="1">
            <a:off x="1570884" y="3655322"/>
            <a:ext cx="19370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Card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394852" y="4007017"/>
            <a:ext cx="227658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000" dirty="0" err="1" smtClean="0">
                <a:latin typeface="페이퍼로지 5 Medium" pitchFamily="2" charset="-127"/>
                <a:ea typeface="페이퍼로지 5 Medium" pitchFamily="2" charset="-127"/>
              </a:rPr>
              <a:t>CardData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 +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실시간 적용되는 효과 적용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51" name="TextBox 50"/>
          <p:cNvSpPr txBox="1"/>
          <p:nvPr/>
        </p:nvSpPr>
        <p:spPr>
          <a:xfrm flipH="1">
            <a:off x="1568279" y="4364255"/>
            <a:ext cx="19370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CardData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20353" y="4715950"/>
            <a:ext cx="302037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게임에서 사용할 카드의 원본 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직접적으로 사용하지 않음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</p:txBody>
      </p:sp>
      <p:cxnSp>
        <p:nvCxnSpPr>
          <p:cNvPr id="55" name="직선 연결선 54"/>
          <p:cNvCxnSpPr/>
          <p:nvPr/>
        </p:nvCxnSpPr>
        <p:spPr>
          <a:xfrm>
            <a:off x="6476358" y="4364255"/>
            <a:ext cx="36823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 flipH="1">
            <a:off x="8317552" y="4515035"/>
            <a:ext cx="19370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MongoDB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57" name="TextBox 56"/>
          <p:cNvSpPr txBox="1"/>
          <p:nvPr/>
        </p:nvSpPr>
        <p:spPr>
          <a:xfrm flipH="1">
            <a:off x="8317551" y="4917833"/>
            <a:ext cx="19370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회원 정보와 카드를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저장하는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데이터베이스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8596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10131" y="1044705"/>
            <a:ext cx="50177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핵심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로직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구현 및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리팩토링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(Slot)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476924" y="1716401"/>
            <a:ext cx="6367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개요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2900" y="3189571"/>
            <a:ext cx="4102912" cy="22946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76924" y="2216510"/>
            <a:ext cx="5407249" cy="3911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플레이어가 카드를 배치할 때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배치할 수 있는 타일을 관리하는 클래스 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476924" y="3410740"/>
            <a:ext cx="8627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문제점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476924" y="3910849"/>
            <a:ext cx="4963096" cy="1131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각 플레이어의 입장에서는 아래 진형이 자기 자신의 진형이지만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서버 입장에서는 누군가는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윗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진형을 선택해야 함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즉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각자가 보는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(1,1)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의 좌표가 실제 좌표와 다름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17165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10132" y="1044705"/>
            <a:ext cx="50177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핵심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로직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구현 및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리팩토링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(Slot)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476924" y="1716401"/>
            <a:ext cx="35028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카메라 회전 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vs 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가상 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Slot 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클래스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476924" y="2216510"/>
            <a:ext cx="9429184" cy="25160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카메라 회전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게임 시작 시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부여 받은 유저의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id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에 따라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한 쪽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id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의 카메라를 반대로 회전한다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장점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플레이어가 보는 좌표와 실제 좌표와 일치함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좌표 변환 과정 필요 없음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)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단점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: Slot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이 맡는 역할이 많아져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유지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보수및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가독성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어려움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가상 좌표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: </a:t>
            </a: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BoardSlot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과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Slot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을 분리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BoardSlot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실제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씬에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배치되는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Slot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클래스이며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GetSlot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()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함수를 통해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실질적인 좌표를 가져옴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좌표 변환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Slot 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가상의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Slot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클래스로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모든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로직은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Slot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기준으로 판단하여 진행함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02957" y="4937462"/>
            <a:ext cx="58320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가상 좌표를 통해 역할 분리 및 유지보수 용이하도록 설계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813001" y="5350390"/>
            <a:ext cx="62119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BoardSlot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은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비주얼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및 연출만 담당하고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실제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로직은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반드시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Slot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으로만 판단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7447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03244" y="1044705"/>
            <a:ext cx="763151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핵심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로직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구현 및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리팩토링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(Ability &amp; Resolve</a:t>
            </a:r>
            <a:r>
              <a:rPr lang="ko-KR" altLang="en-US" sz="2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Queue)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76924" y="1716401"/>
            <a:ext cx="6367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개요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476924" y="2216510"/>
            <a:ext cx="3930307" cy="4385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TCG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게임의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메인인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카드 효과 처리를 위한 시스템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76924" y="3410740"/>
            <a:ext cx="8627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주안점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6924" y="3910849"/>
            <a:ext cx="9229176" cy="737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다양한 효과를 구현할 수 있게</a:t>
            </a:r>
            <a:r>
              <a:rPr lang="en-US" altLang="ko-KR" sz="15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유지 보수 및 확장성을 고려하여 설계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효과를 순서에 맞게 진행하도록 보장 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398294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03244" y="1044705"/>
            <a:ext cx="763151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핵심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로직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구현 및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리팩토링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(Ability &amp; Resolve</a:t>
            </a:r>
            <a:r>
              <a:rPr lang="ko-KR" altLang="en-US" sz="2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Queue)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76924" y="1716401"/>
            <a:ext cx="21483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 smtClean="0">
                <a:latin typeface="페이퍼로지 5 Medium" pitchFamily="2" charset="-127"/>
                <a:ea typeface="페이퍼로지 5 Medium" pitchFamily="2" charset="-127"/>
              </a:rPr>
              <a:t>AbilityData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구조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76924" y="2234353"/>
            <a:ext cx="5870518" cy="29777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Trigger 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발동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시점 정의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Trigger Condition :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발동 시점에 대한 상세 조건 지정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Repeat Condition 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반복 조건 정의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Target 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발동 대상 정의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Criteria Target :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기준점 설정</a:t>
            </a:r>
            <a:endParaRPr lang="en-US" altLang="ko-KR" sz="1000" dirty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Criteria Target Condition :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기준점 상세 조건 설정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 err="1" smtClean="0">
                <a:latin typeface="페이퍼로지 5 Medium" pitchFamily="2" charset="-127"/>
                <a:ea typeface="페이퍼로지 5 Medium" pitchFamily="2" charset="-127"/>
              </a:rPr>
              <a:t>WideAreaRange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 Condition :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기준점 기준 범위를 통해 후보군 설정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Target Condition / Filter Target :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후보군 중 상세 조건과 </a:t>
            </a:r>
            <a:r>
              <a:rPr lang="ko-KR" altLang="en-US" sz="1000" dirty="0" err="1" smtClean="0">
                <a:latin typeface="페이퍼로지 5 Medium" pitchFamily="2" charset="-127"/>
                <a:ea typeface="페이퍼로지 5 Medium" pitchFamily="2" charset="-127"/>
              </a:rPr>
              <a:t>필터링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 조건을 통해 최종 타겟 지정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Effect 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대상에게 발동할 효과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Chain Ability 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효과 발동 후 연이어 발동할 효과 지정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62248" y="1903696"/>
            <a:ext cx="1811044" cy="3740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964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03244" y="1044705"/>
            <a:ext cx="763151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핵심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로직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구현 및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리팩토링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(Ability &amp; Resolve</a:t>
            </a:r>
            <a:r>
              <a:rPr lang="ko-KR" altLang="en-US" sz="2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Queue)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03102" y="4272515"/>
            <a:ext cx="128753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대상 지정 능력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76924" y="2216510"/>
            <a:ext cx="4676280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대상 지정 능력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 발동과 실제 적용 과정을 분리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비대상 지정 능력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 발동과 적용을 모두 한 번에 처리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6" name="모서리가 둥근 직사각형 15"/>
          <p:cNvSpPr/>
          <p:nvPr/>
        </p:nvSpPr>
        <p:spPr>
          <a:xfrm>
            <a:off x="1362623" y="3619147"/>
            <a:ext cx="1990176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 발동 시작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7" name="모서리가 둥근 직사각형 16"/>
          <p:cNvSpPr/>
          <p:nvPr/>
        </p:nvSpPr>
        <p:spPr>
          <a:xfrm>
            <a:off x="3821646" y="3619147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발동 조건 확인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0" name="모서리가 둥근 직사각형 19"/>
          <p:cNvSpPr/>
          <p:nvPr/>
        </p:nvSpPr>
        <p:spPr>
          <a:xfrm>
            <a:off x="6281293" y="3619147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적용 대상 선정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1" name="오른쪽 화살표 20"/>
          <p:cNvSpPr/>
          <p:nvPr/>
        </p:nvSpPr>
        <p:spPr>
          <a:xfrm flipV="1">
            <a:off x="3436696" y="3732781"/>
            <a:ext cx="297717" cy="30579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오른쪽 화살표 21"/>
          <p:cNvSpPr/>
          <p:nvPr/>
        </p:nvSpPr>
        <p:spPr>
          <a:xfrm flipV="1">
            <a:off x="5898011" y="3730875"/>
            <a:ext cx="297717" cy="305791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모서리가 둥근 직사각형 25"/>
          <p:cNvSpPr/>
          <p:nvPr/>
        </p:nvSpPr>
        <p:spPr>
          <a:xfrm>
            <a:off x="8739357" y="3619147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 적용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7" name="오른쪽 화살표 26"/>
          <p:cNvSpPr/>
          <p:nvPr/>
        </p:nvSpPr>
        <p:spPr>
          <a:xfrm flipV="1">
            <a:off x="8357658" y="3730875"/>
            <a:ext cx="297717" cy="305791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/>
          <p:cNvSpPr txBox="1"/>
          <p:nvPr/>
        </p:nvSpPr>
        <p:spPr>
          <a:xfrm>
            <a:off x="1629324" y="1868801"/>
            <a:ext cx="37353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대상 지정 능력 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vs 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비대상 지정 능력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913388" y="5367761"/>
            <a:ext cx="2266966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비대상 지정 능력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지정 모드로 전환 후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플레이어 입력 대기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)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6281293" y="4714497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유효한 입력 확인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3" name="오른쪽 화살표 32"/>
          <p:cNvSpPr/>
          <p:nvPr/>
        </p:nvSpPr>
        <p:spPr>
          <a:xfrm flipV="1">
            <a:off x="8357658" y="4825701"/>
            <a:ext cx="297717" cy="305791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모서리가 둥근 직사각형 33"/>
          <p:cNvSpPr/>
          <p:nvPr/>
        </p:nvSpPr>
        <p:spPr>
          <a:xfrm>
            <a:off x="8739357" y="4712067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대상 선정 후 능력 적용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0787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03244" y="1044705"/>
            <a:ext cx="763151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핵심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로직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구현 및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리팩토링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(Ability &amp; Resolve</a:t>
            </a:r>
            <a:r>
              <a:rPr lang="ko-KR" altLang="en-US" sz="2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Queue)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76924" y="2216510"/>
            <a:ext cx="9408858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 발동 시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능력의 최대 발동 횟수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및 현재 반복 횟수를 매개변수로 전달하여 능력을 반복하여 발동할 수 있음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bool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값으로 반환하여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단순히 횟수 반복이 아닌 다양한 반복 조건을 설정할 수 있음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(ex.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필드에 유닛이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가득찰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때까지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9324" y="1868801"/>
            <a:ext cx="24687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Repeat Condition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629324" y="3265458"/>
            <a:ext cx="24432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대상 지정 효과의 취소</a:t>
            </a:r>
            <a:endParaRPr lang="en-US" altLang="ko-KR" sz="20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76924" y="3665568"/>
            <a:ext cx="7010252" cy="1131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 발동 후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대상을 지정하기 때문에 대상 지정 효과의 경우 취소 불가능이 기본 원칙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‘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하스스톤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’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에서는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‘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전투의 함성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’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능력을 취소하여 유닛 소환을 취소할 수 있음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소환 후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 발동 구조를 변경하여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우클릭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시 효과를 취소할 수 있는 기능을 추가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1269646" y="4927815"/>
            <a:ext cx="1990176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임시 소환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3728669" y="4927815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적용할 대상 지정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5" name="모서리가 둥근 직사각형 34"/>
          <p:cNvSpPr/>
          <p:nvPr/>
        </p:nvSpPr>
        <p:spPr>
          <a:xfrm>
            <a:off x="6188316" y="4927815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실제 소환 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6" name="오른쪽 화살표 35"/>
          <p:cNvSpPr/>
          <p:nvPr/>
        </p:nvSpPr>
        <p:spPr>
          <a:xfrm flipV="1">
            <a:off x="3343719" y="5041449"/>
            <a:ext cx="297717" cy="30579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오른쪽 화살표 36"/>
          <p:cNvSpPr/>
          <p:nvPr/>
        </p:nvSpPr>
        <p:spPr>
          <a:xfrm flipV="1">
            <a:off x="5805034" y="5039543"/>
            <a:ext cx="297717" cy="305791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8647963" y="4927815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사전 지정한 대상에게 효과 적용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9" name="오른쪽 화살표 38"/>
          <p:cNvSpPr/>
          <p:nvPr/>
        </p:nvSpPr>
        <p:spPr>
          <a:xfrm flipV="1">
            <a:off x="8264681" y="5039543"/>
            <a:ext cx="297717" cy="305791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1224883" y="5580712"/>
            <a:ext cx="4535388" cy="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 flipH="1">
            <a:off x="1859896" y="5646723"/>
            <a:ext cx="32653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 smtClean="0">
                <a:latin typeface="페이퍼로지 5 Medium" pitchFamily="2" charset="-127"/>
                <a:ea typeface="페이퍼로지 5 Medium" pitchFamily="2" charset="-127"/>
              </a:rPr>
              <a:t>우클릭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 시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소환 취소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8769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03244" y="1044705"/>
            <a:ext cx="763151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핵심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로직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구현 및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리팩토링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(Ability &amp; Resolve</a:t>
            </a:r>
            <a:r>
              <a:rPr lang="ko-KR" altLang="en-US" sz="2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Queue)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76924" y="2216510"/>
            <a:ext cx="4798108" cy="18235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능력의 순차적 발동을 위해 구현된 시스템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목적에 따라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3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개의 큐로 구분하여 순차적 진행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Ability Queue :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능력의 발동을 저장하는 큐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Attack Queue : 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공격 순서 보장 및 진행하는 큐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 err="1" smtClean="0">
                <a:latin typeface="페이퍼로지 5 Medium" pitchFamily="2" charset="-127"/>
                <a:ea typeface="페이퍼로지 5 Medium" pitchFamily="2" charset="-127"/>
              </a:rPr>
              <a:t>CallbackQueue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 : </a:t>
            </a:r>
            <a:r>
              <a:rPr lang="ko-KR" altLang="en-US" sz="1000" dirty="0" err="1" smtClean="0">
                <a:latin typeface="페이퍼로지 5 Medium" pitchFamily="2" charset="-127"/>
                <a:ea typeface="페이퍼로지 5 Medium" pitchFamily="2" charset="-127"/>
              </a:rPr>
              <a:t>페이즈</a:t>
            </a:r>
            <a:r>
              <a:rPr lang="ko-KR" altLang="en-US" sz="1000" dirty="0" smtClean="0">
                <a:latin typeface="페이퍼로지 5 Medium" pitchFamily="2" charset="-127"/>
                <a:ea typeface="페이퍼로지 5 Medium" pitchFamily="2" charset="-127"/>
              </a:rPr>
              <a:t> 전환과 큰 전환을 담당하는 큐</a:t>
            </a:r>
            <a:endParaRPr lang="en-US" altLang="ko-KR" sz="10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큐의 순서로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1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차 순서 보장 및 각 큐를 통해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2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차 순서 보장 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629324" y="1868801"/>
            <a:ext cx="2199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Resolve Queue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7596521" y="1873653"/>
            <a:ext cx="2477614" cy="6857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latin typeface="페이퍼로지 5 Medium" pitchFamily="2" charset="-127"/>
                <a:ea typeface="페이퍼로지 5 Medium" pitchFamily="2" charset="-127"/>
              </a:rPr>
              <a:t>Ability Queue</a:t>
            </a:r>
          </a:p>
          <a:p>
            <a:pPr algn="ctr"/>
            <a:endParaRPr lang="ko-KR" altLang="en-US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6" name="모서리가 둥근 직사각형 25"/>
          <p:cNvSpPr/>
          <p:nvPr/>
        </p:nvSpPr>
        <p:spPr>
          <a:xfrm>
            <a:off x="7596521" y="2678885"/>
            <a:ext cx="2477614" cy="6857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latin typeface="페이퍼로지 5 Medium" pitchFamily="2" charset="-127"/>
                <a:ea typeface="페이퍼로지 5 Medium" pitchFamily="2" charset="-127"/>
              </a:rPr>
              <a:t>Attack Queue</a:t>
            </a:r>
          </a:p>
          <a:p>
            <a:pPr algn="ctr"/>
            <a:endParaRPr lang="ko-KR" altLang="en-US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7" name="모서리가 둥근 직사각형 26"/>
          <p:cNvSpPr/>
          <p:nvPr/>
        </p:nvSpPr>
        <p:spPr>
          <a:xfrm>
            <a:off x="7596521" y="3484117"/>
            <a:ext cx="2477614" cy="6857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latin typeface="페이퍼로지 5 Medium" pitchFamily="2" charset="-127"/>
                <a:ea typeface="페이퍼로지 5 Medium" pitchFamily="2" charset="-127"/>
              </a:rPr>
              <a:t>Callback Queue</a:t>
            </a:r>
          </a:p>
          <a:p>
            <a:pPr algn="ctr"/>
            <a:endParaRPr lang="en-US" altLang="ko-KR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769356" y="2273739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/>
          <p:cNvSpPr/>
          <p:nvPr/>
        </p:nvSpPr>
        <p:spPr>
          <a:xfrm>
            <a:off x="7993362" y="2273739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/>
          <p:cNvSpPr/>
          <p:nvPr/>
        </p:nvSpPr>
        <p:spPr>
          <a:xfrm>
            <a:off x="8217368" y="2273739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/>
          <p:cNvSpPr/>
          <p:nvPr/>
        </p:nvSpPr>
        <p:spPr>
          <a:xfrm>
            <a:off x="8441374" y="2273739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665380" y="2273739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/>
          <p:cNvSpPr/>
          <p:nvPr/>
        </p:nvSpPr>
        <p:spPr>
          <a:xfrm>
            <a:off x="8889386" y="2273739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/>
          <p:cNvSpPr/>
          <p:nvPr/>
        </p:nvSpPr>
        <p:spPr>
          <a:xfrm>
            <a:off x="9113392" y="2273739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/>
          <p:cNvSpPr/>
          <p:nvPr/>
        </p:nvSpPr>
        <p:spPr>
          <a:xfrm>
            <a:off x="9337398" y="2273739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/>
          <p:cNvSpPr/>
          <p:nvPr/>
        </p:nvSpPr>
        <p:spPr>
          <a:xfrm>
            <a:off x="9561404" y="2273739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/>
          <p:cNvSpPr/>
          <p:nvPr/>
        </p:nvSpPr>
        <p:spPr>
          <a:xfrm>
            <a:off x="9785411" y="2273739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/>
          <p:cNvSpPr/>
          <p:nvPr/>
        </p:nvSpPr>
        <p:spPr>
          <a:xfrm>
            <a:off x="7769356" y="3078971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/>
          <p:cNvSpPr/>
          <p:nvPr/>
        </p:nvSpPr>
        <p:spPr>
          <a:xfrm>
            <a:off x="7993362" y="3078971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/>
          <p:cNvSpPr/>
          <p:nvPr/>
        </p:nvSpPr>
        <p:spPr>
          <a:xfrm>
            <a:off x="8217368" y="3078971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/>
          <p:cNvSpPr/>
          <p:nvPr/>
        </p:nvSpPr>
        <p:spPr>
          <a:xfrm>
            <a:off x="8441374" y="3078971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/>
          <p:cNvSpPr/>
          <p:nvPr/>
        </p:nvSpPr>
        <p:spPr>
          <a:xfrm>
            <a:off x="8665380" y="3078971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/>
          <p:cNvSpPr/>
          <p:nvPr/>
        </p:nvSpPr>
        <p:spPr>
          <a:xfrm>
            <a:off x="8889386" y="3078971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/>
          <p:cNvSpPr/>
          <p:nvPr/>
        </p:nvSpPr>
        <p:spPr>
          <a:xfrm>
            <a:off x="9113392" y="3078971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/>
          <p:cNvSpPr/>
          <p:nvPr/>
        </p:nvSpPr>
        <p:spPr>
          <a:xfrm>
            <a:off x="9337398" y="3078971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/>
          <p:cNvSpPr/>
          <p:nvPr/>
        </p:nvSpPr>
        <p:spPr>
          <a:xfrm>
            <a:off x="9561404" y="3078971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/>
          <p:cNvSpPr/>
          <p:nvPr/>
        </p:nvSpPr>
        <p:spPr>
          <a:xfrm>
            <a:off x="9785411" y="3078971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/>
          <p:cNvSpPr/>
          <p:nvPr/>
        </p:nvSpPr>
        <p:spPr>
          <a:xfrm>
            <a:off x="7769356" y="3887666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/>
          <p:cNvSpPr/>
          <p:nvPr/>
        </p:nvSpPr>
        <p:spPr>
          <a:xfrm>
            <a:off x="7993362" y="3887666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/>
          <p:cNvSpPr/>
          <p:nvPr/>
        </p:nvSpPr>
        <p:spPr>
          <a:xfrm>
            <a:off x="8217368" y="3887666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/>
          <p:cNvSpPr/>
          <p:nvPr/>
        </p:nvSpPr>
        <p:spPr>
          <a:xfrm>
            <a:off x="8441374" y="3887666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/>
          <p:cNvSpPr/>
          <p:nvPr/>
        </p:nvSpPr>
        <p:spPr>
          <a:xfrm>
            <a:off x="8665380" y="3887666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/>
          <p:cNvSpPr/>
          <p:nvPr/>
        </p:nvSpPr>
        <p:spPr>
          <a:xfrm>
            <a:off x="8889386" y="3887666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/>
          <p:cNvSpPr/>
          <p:nvPr/>
        </p:nvSpPr>
        <p:spPr>
          <a:xfrm>
            <a:off x="9113392" y="3887666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/>
          <p:cNvSpPr/>
          <p:nvPr/>
        </p:nvSpPr>
        <p:spPr>
          <a:xfrm>
            <a:off x="9337398" y="3887666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/>
          <p:cNvSpPr/>
          <p:nvPr/>
        </p:nvSpPr>
        <p:spPr>
          <a:xfrm>
            <a:off x="9561404" y="3887666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/>
          <p:cNvSpPr/>
          <p:nvPr/>
        </p:nvSpPr>
        <p:spPr>
          <a:xfrm>
            <a:off x="9785411" y="3887666"/>
            <a:ext cx="115200" cy="1892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/>
          <p:cNvSpPr/>
          <p:nvPr/>
        </p:nvSpPr>
        <p:spPr>
          <a:xfrm>
            <a:off x="10201251" y="1704603"/>
            <a:ext cx="45719" cy="231494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왼쪽 화살표 68"/>
          <p:cNvSpPr/>
          <p:nvPr/>
        </p:nvSpPr>
        <p:spPr>
          <a:xfrm>
            <a:off x="7055166" y="2310310"/>
            <a:ext cx="3190851" cy="116114"/>
          </a:xfrm>
          <a:prstGeom prst="lef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왼쪽 화살표 69"/>
          <p:cNvSpPr/>
          <p:nvPr/>
        </p:nvSpPr>
        <p:spPr>
          <a:xfrm>
            <a:off x="7055165" y="3115542"/>
            <a:ext cx="3190851" cy="116114"/>
          </a:xfrm>
          <a:prstGeom prst="lef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왼쪽 화살표 70"/>
          <p:cNvSpPr/>
          <p:nvPr/>
        </p:nvSpPr>
        <p:spPr>
          <a:xfrm>
            <a:off x="7055164" y="3935472"/>
            <a:ext cx="3190851" cy="116114"/>
          </a:xfrm>
          <a:prstGeom prst="lef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/>
          <p:cNvSpPr txBox="1"/>
          <p:nvPr/>
        </p:nvSpPr>
        <p:spPr>
          <a:xfrm>
            <a:off x="1476924" y="4735504"/>
            <a:ext cx="7408310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능력이 발동한다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-&gt;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효과가 바로 적용된다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(X)  vs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능력이 발동한다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-&gt;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능력이 큐에 적재된다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(O)</a:t>
            </a:r>
          </a:p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적재된 능력은 </a:t>
            </a: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ResolveAll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()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함수를 통해 적용할 수 있음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629324" y="4387795"/>
            <a:ext cx="16829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 smtClean="0">
                <a:latin typeface="페이퍼로지 5 Medium" pitchFamily="2" charset="-127"/>
                <a:ea typeface="페이퍼로지 5 Medium" pitchFamily="2" charset="-127"/>
              </a:rPr>
              <a:t>ResolveAll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()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1863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83459" y="1044705"/>
            <a:ext cx="62710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핵심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로직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구현 및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리팩토링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(Attack Phase)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76924" y="1716401"/>
            <a:ext cx="6367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개요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476924" y="2216510"/>
            <a:ext cx="7401385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플레이어가 차례 종료 버튼을 누르면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AttackPhase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로 이동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필드의 모든 유닛이 각자의 무기 타입에 맞게 공격을 진행한 후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상대방 플레이어에게 차례를 넘김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76924" y="3410740"/>
            <a:ext cx="8627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주안점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6924" y="3910849"/>
            <a:ext cx="92291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공격 시 발생하는 효과를 안전하게 처리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무기 타입 별로 서로 다른 알고리즘으로 공격하도록 유연한 설계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(ex.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사거리 내 무작위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사거리 내 체력이 가장 낮은 적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)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356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83459" y="1044705"/>
            <a:ext cx="62710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핵심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로직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구현 및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리팩토링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(Attack Phase)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76924" y="1716401"/>
            <a:ext cx="29191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Attack Phase 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진행 순서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476923" y="2557679"/>
            <a:ext cx="1990176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AttackPhase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시작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0" name="모서리가 둥근 직사각형 19"/>
          <p:cNvSpPr/>
          <p:nvPr/>
        </p:nvSpPr>
        <p:spPr>
          <a:xfrm>
            <a:off x="3935946" y="2557679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공격 가능한 유닛 탐색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2" name="모서리가 둥근 직사각형 21"/>
          <p:cNvSpPr/>
          <p:nvPr/>
        </p:nvSpPr>
        <p:spPr>
          <a:xfrm>
            <a:off x="6395593" y="2557679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타겟 찾기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(List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자료형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)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4" name="모서리가 둥근 직사각형 23"/>
          <p:cNvSpPr/>
          <p:nvPr/>
        </p:nvSpPr>
        <p:spPr>
          <a:xfrm>
            <a:off x="6395593" y="3214755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AttackPhase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종료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7" name="모서리가 둥근 직사각형 26"/>
          <p:cNvSpPr/>
          <p:nvPr/>
        </p:nvSpPr>
        <p:spPr>
          <a:xfrm>
            <a:off x="8855241" y="2557679"/>
            <a:ext cx="199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순차적 공격 진행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6" name="오른쪽 화살표 15"/>
          <p:cNvSpPr/>
          <p:nvPr/>
        </p:nvSpPr>
        <p:spPr>
          <a:xfrm flipV="1">
            <a:off x="3550996" y="2671313"/>
            <a:ext cx="297717" cy="30579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오른쪽 화살표 27"/>
          <p:cNvSpPr/>
          <p:nvPr/>
        </p:nvSpPr>
        <p:spPr>
          <a:xfrm flipV="1">
            <a:off x="6012311" y="2669407"/>
            <a:ext cx="297717" cy="30579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오른쪽 화살표 28"/>
          <p:cNvSpPr/>
          <p:nvPr/>
        </p:nvSpPr>
        <p:spPr>
          <a:xfrm flipV="1">
            <a:off x="8471958" y="2669407"/>
            <a:ext cx="297717" cy="30579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오른쪽 화살표 29"/>
          <p:cNvSpPr/>
          <p:nvPr/>
        </p:nvSpPr>
        <p:spPr>
          <a:xfrm flipV="1">
            <a:off x="4775866" y="3328389"/>
            <a:ext cx="1539125" cy="30579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/>
          <p:cNvSpPr/>
          <p:nvPr/>
        </p:nvSpPr>
        <p:spPr>
          <a:xfrm rot="5400000">
            <a:off x="4656457" y="3265557"/>
            <a:ext cx="387746" cy="152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/>
          <p:cNvSpPr txBox="1"/>
          <p:nvPr/>
        </p:nvSpPr>
        <p:spPr>
          <a:xfrm>
            <a:off x="1476923" y="3788942"/>
            <a:ext cx="2387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순차적 공격 진행 순서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3" name="모서리가 둥근 직사각형 32"/>
          <p:cNvSpPr/>
          <p:nvPr/>
        </p:nvSpPr>
        <p:spPr>
          <a:xfrm>
            <a:off x="1476922" y="4631634"/>
            <a:ext cx="172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순차적 공격 시작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4" name="모서리가 둥근 직사각형 33"/>
          <p:cNvSpPr/>
          <p:nvPr/>
        </p:nvSpPr>
        <p:spPr>
          <a:xfrm>
            <a:off x="3664239" y="4631634"/>
            <a:ext cx="1721904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다음 공격 대상 찾기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6" name="모서리가 둥근 직사각형 35"/>
          <p:cNvSpPr/>
          <p:nvPr/>
        </p:nvSpPr>
        <p:spPr>
          <a:xfrm>
            <a:off x="5850330" y="5280481"/>
            <a:ext cx="172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탈진 후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공격 종료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8" name="오른쪽 화살표 37"/>
          <p:cNvSpPr/>
          <p:nvPr/>
        </p:nvSpPr>
        <p:spPr>
          <a:xfrm flipV="1">
            <a:off x="3283287" y="4743362"/>
            <a:ext cx="297717" cy="30579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오른쪽 화살표 38"/>
          <p:cNvSpPr/>
          <p:nvPr/>
        </p:nvSpPr>
        <p:spPr>
          <a:xfrm flipV="1">
            <a:off x="5469378" y="4743362"/>
            <a:ext cx="297717" cy="305791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오른쪽 화살표 40"/>
          <p:cNvSpPr/>
          <p:nvPr/>
        </p:nvSpPr>
        <p:spPr>
          <a:xfrm flipV="1">
            <a:off x="4446541" y="5394113"/>
            <a:ext cx="1316555" cy="30579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/>
          <p:cNvSpPr/>
          <p:nvPr/>
        </p:nvSpPr>
        <p:spPr>
          <a:xfrm rot="5400000">
            <a:off x="4336903" y="5345741"/>
            <a:ext cx="376574" cy="1572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오른쪽 화살표 42"/>
          <p:cNvSpPr/>
          <p:nvPr/>
        </p:nvSpPr>
        <p:spPr>
          <a:xfrm rot="5400000" flipV="1">
            <a:off x="4667262" y="2151870"/>
            <a:ext cx="366136" cy="30579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/>
          <p:cNvSpPr/>
          <p:nvPr/>
        </p:nvSpPr>
        <p:spPr>
          <a:xfrm>
            <a:off x="4774129" y="2118264"/>
            <a:ext cx="5152711" cy="151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/>
          <p:cNvSpPr/>
          <p:nvPr/>
        </p:nvSpPr>
        <p:spPr>
          <a:xfrm rot="5400000">
            <a:off x="9671329" y="2229842"/>
            <a:ext cx="358624" cy="152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모서리가 둥근 직사각형 45"/>
          <p:cNvSpPr/>
          <p:nvPr/>
        </p:nvSpPr>
        <p:spPr>
          <a:xfrm>
            <a:off x="5849226" y="4631634"/>
            <a:ext cx="1721904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공격 진행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47" name="오른쪽 화살표 46"/>
          <p:cNvSpPr/>
          <p:nvPr/>
        </p:nvSpPr>
        <p:spPr>
          <a:xfrm rot="5400000" flipV="1">
            <a:off x="4362885" y="4245744"/>
            <a:ext cx="366136" cy="30579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/>
          <p:cNvSpPr/>
          <p:nvPr/>
        </p:nvSpPr>
        <p:spPr>
          <a:xfrm>
            <a:off x="4469753" y="4212138"/>
            <a:ext cx="2439048" cy="151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/>
          <p:cNvSpPr/>
          <p:nvPr/>
        </p:nvSpPr>
        <p:spPr>
          <a:xfrm rot="5400000">
            <a:off x="6653289" y="4323712"/>
            <a:ext cx="358624" cy="152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오른쪽 화살표 49"/>
          <p:cNvSpPr/>
          <p:nvPr/>
        </p:nvSpPr>
        <p:spPr>
          <a:xfrm flipV="1">
            <a:off x="8345795" y="4437571"/>
            <a:ext cx="297717" cy="305791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오른쪽 화살표 50"/>
          <p:cNvSpPr/>
          <p:nvPr/>
        </p:nvSpPr>
        <p:spPr>
          <a:xfrm flipV="1">
            <a:off x="8345795" y="4786459"/>
            <a:ext cx="297717" cy="30579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/>
          <p:cNvSpPr txBox="1"/>
          <p:nvPr/>
        </p:nvSpPr>
        <p:spPr>
          <a:xfrm>
            <a:off x="8770420" y="4428883"/>
            <a:ext cx="169629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 smtClean="0">
                <a:solidFill>
                  <a:schemeClr val="accent1"/>
                </a:solidFill>
                <a:latin typeface="페이퍼로지 5 Medium" pitchFamily="2" charset="-127"/>
                <a:ea typeface="페이퍼로지 5 Medium" pitchFamily="2" charset="-127"/>
              </a:rPr>
              <a:t>Resolve Queue</a:t>
            </a:r>
            <a:endParaRPr lang="ko-KR" altLang="en-US" sz="1500" dirty="0">
              <a:solidFill>
                <a:schemeClr val="accent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8769675" y="4769085"/>
            <a:ext cx="90601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함수 호출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925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83459" y="1044705"/>
            <a:ext cx="62710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핵심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로직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구현 및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리팩토링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(Attack Phase)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76924" y="1716401"/>
            <a:ext cx="16530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공격 진행 순서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1" name="모서리가 둥근 직사각형 10"/>
          <p:cNvSpPr/>
          <p:nvPr/>
        </p:nvSpPr>
        <p:spPr>
          <a:xfrm>
            <a:off x="1804173" y="2369769"/>
            <a:ext cx="1720800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공격 진행 순서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3" name="모서리가 둥근 직사각형 12"/>
          <p:cNvSpPr/>
          <p:nvPr/>
        </p:nvSpPr>
        <p:spPr>
          <a:xfrm>
            <a:off x="3991490" y="2369769"/>
            <a:ext cx="1721904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Before Attack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6" name="오른쪽 화살표 15"/>
          <p:cNvSpPr/>
          <p:nvPr/>
        </p:nvSpPr>
        <p:spPr>
          <a:xfrm flipV="1">
            <a:off x="3610538" y="2481497"/>
            <a:ext cx="297717" cy="30579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오른쪽 화살표 16"/>
          <p:cNvSpPr/>
          <p:nvPr/>
        </p:nvSpPr>
        <p:spPr>
          <a:xfrm flipV="1">
            <a:off x="5796629" y="2481497"/>
            <a:ext cx="297717" cy="305791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모서리가 둥근 직사각형 19"/>
          <p:cNvSpPr/>
          <p:nvPr/>
        </p:nvSpPr>
        <p:spPr>
          <a:xfrm>
            <a:off x="6176477" y="2369769"/>
            <a:ext cx="1721904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데미지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교환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After Attack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4" name="오른쪽 화살표 23"/>
          <p:cNvSpPr/>
          <p:nvPr/>
        </p:nvSpPr>
        <p:spPr>
          <a:xfrm flipV="1">
            <a:off x="7980512" y="2481497"/>
            <a:ext cx="297717" cy="305791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모서리가 둥근 직사각형 24"/>
          <p:cNvSpPr/>
          <p:nvPr/>
        </p:nvSpPr>
        <p:spPr>
          <a:xfrm>
            <a:off x="8360360" y="2369769"/>
            <a:ext cx="1721904" cy="53306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ResolveDeath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476924" y="3772920"/>
            <a:ext cx="34916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Resolve 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Queue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vs 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함수 호출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476924" y="4228183"/>
            <a:ext cx="8372805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Resolve Queue 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진행 과정 중 효과가 발생하거나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하나의 단계가 끝나고 다음 단계로 넘어갈 경우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함수 호출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: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효과가 동반되지 않거나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단계 진행 중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가독성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및 유지보수를 위해 분리한 함수를 실행하는 경우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754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83459" y="1044705"/>
            <a:ext cx="62710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핵심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로직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구현 및 </a:t>
            </a:r>
            <a:r>
              <a:rPr lang="ko-KR" altLang="en-US" sz="3000" dirty="0" err="1" smtClean="0">
                <a:latin typeface="페이퍼로지 7 Bold" pitchFamily="2" charset="-127"/>
                <a:ea typeface="페이퍼로지 7 Bold" pitchFamily="2" charset="-127"/>
              </a:rPr>
              <a:t>리팩토링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2000" dirty="0" smtClean="0">
                <a:latin typeface="페이퍼로지 7 Bold" pitchFamily="2" charset="-127"/>
                <a:ea typeface="페이퍼로지 7 Bold" pitchFamily="2" charset="-127"/>
              </a:rPr>
              <a:t>(Attack Phase)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76924" y="1716401"/>
            <a:ext cx="1144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무기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타입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76924" y="2191588"/>
            <a:ext cx="8199681" cy="1131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부모 클래스로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Weapon Data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추상 클래스 사용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각 자식 클래스를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Scriptable Object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로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에셋화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가능하도록 설정 뒤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카드 데이터에 할당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타겟 탐색 및 공격 알고리즘을 자식 클래스에서 구현하여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타입 별로 다른 알고리즘으로 동작하도록 설계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76924" y="3715497"/>
            <a:ext cx="1709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설계 기대 효과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476923" y="4145339"/>
            <a:ext cx="6417141" cy="1131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무기 타입 별로 사거리나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UI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색상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공격 애니메이션 설정이 용이함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무기 타입에 대해 분기를 나누지 않아도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자동으로 각 타입에 맞는 알고리즘 실행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새로운 무기 타입 추가 시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기존 코드를 수정할 필요가 없음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98330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48902" y="1044705"/>
            <a:ext cx="234019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000" dirty="0" smtClean="0">
                <a:latin typeface="페이퍼로지 7 Bold" pitchFamily="2" charset="-127"/>
                <a:ea typeface="페이퍼로지 7 Bold" pitchFamily="2" charset="-127"/>
              </a:rPr>
              <a:t>UI / UX 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개편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76924" y="1716401"/>
            <a:ext cx="6367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개요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76924" y="2216510"/>
            <a:ext cx="3280578" cy="4385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카드 게임의 다양한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UI / UX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및 연출 작업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476924" y="3410740"/>
            <a:ext cx="8627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주안점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76924" y="3910849"/>
            <a:ext cx="922917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모듈화를 통해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특정 클래스에 종속되지 않고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독립적으로 동작할 수 있도록  설계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8701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48902" y="1044705"/>
            <a:ext cx="234019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000" dirty="0" smtClean="0">
                <a:latin typeface="페이퍼로지 7 Bold" pitchFamily="2" charset="-127"/>
                <a:ea typeface="페이퍼로지 7 Bold" pitchFamily="2" charset="-127"/>
              </a:rPr>
              <a:t>UI / UX 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개편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76924" y="1716401"/>
            <a:ext cx="26068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마나 커브 및 </a:t>
            </a:r>
            <a:r>
              <a:rPr lang="ko-KR" altLang="en-US" sz="2000" dirty="0" err="1" smtClean="0">
                <a:latin typeface="페이퍼로지 5 Medium" pitchFamily="2" charset="-127"/>
                <a:ea typeface="페이퍼로지 5 Medium" pitchFamily="2" charset="-127"/>
              </a:rPr>
              <a:t>덱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2000" dirty="0" err="1" smtClean="0">
                <a:latin typeface="페이퍼로지 5 Medium" pitchFamily="2" charset="-127"/>
                <a:ea typeface="페이퍼로지 5 Medium" pitchFamily="2" charset="-127"/>
              </a:rPr>
              <a:t>인포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UI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76924" y="2216510"/>
            <a:ext cx="5795176" cy="1131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덱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에디터 환경에서 설정 버튼 클릭 시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덱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인포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UI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로 이동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UI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클래스에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덱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정보를 같이 전달하여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독립적으로 동작할 수 있도록 설계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아로나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능력 또한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닫기 버튼을 누를 때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리턴하여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외부에서 변경된 값을 반영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476924" y="3872405"/>
            <a:ext cx="24728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Slot </a:t>
            </a:r>
            <a:r>
              <a:rPr lang="en-US" altLang="ko-KR" sz="2000" dirty="0" err="1" smtClean="0">
                <a:latin typeface="페이퍼로지 5 Medium" pitchFamily="2" charset="-127"/>
                <a:ea typeface="페이퍼로지 5 Medium" pitchFamily="2" charset="-127"/>
              </a:rPr>
              <a:t>Inicator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클래스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76924" y="4372514"/>
            <a:ext cx="92291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플레이어의 특정 행동에 따른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적절한 정보 표시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(ex.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호버링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시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사거리 표시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모드를 활용한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‘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전략 디자인 패턴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’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사용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추상 클래스를 통해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자식 클래스로 모드를 구현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Manager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에서 상황에 맞게 모드를 바꾸면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해당 모드에 맞는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UX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가 동작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3625" y="1712501"/>
            <a:ext cx="3182475" cy="177669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3625" y="3869062"/>
            <a:ext cx="3182475" cy="1780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1083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48902" y="1044705"/>
            <a:ext cx="234019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000" dirty="0" smtClean="0">
                <a:latin typeface="페이퍼로지 7 Bold" pitchFamily="2" charset="-127"/>
                <a:ea typeface="페이퍼로지 7 Bold" pitchFamily="2" charset="-127"/>
              </a:rPr>
              <a:t>UI / UX </a:t>
            </a:r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개편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76924" y="1716401"/>
            <a:ext cx="21050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마나 </a:t>
            </a:r>
            <a:r>
              <a:rPr lang="ko-KR" altLang="en-US" sz="2000" dirty="0" err="1" smtClean="0">
                <a:latin typeface="페이퍼로지 5 Medium" pitchFamily="2" charset="-127"/>
                <a:ea typeface="페이퍼로지 5 Medium" pitchFamily="2" charset="-127"/>
              </a:rPr>
              <a:t>필터링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 시스템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76924" y="2216510"/>
            <a:ext cx="5698996" cy="1131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옵저버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디자인 패턴을 사용하여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관리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Manager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와 하위 버튼들로 구성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버튼이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클릭되면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옵저버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클래스에 전달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Manager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는 현재 상태와 눌린 버튼의 인덱스를 통해 마나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필터링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진행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0385" y="1716401"/>
            <a:ext cx="3298261" cy="187042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6924" y="3765341"/>
            <a:ext cx="14782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카드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확대 </a:t>
            </a:r>
            <a:r>
              <a:rPr lang="en-US" altLang="ko-KR" sz="2000" dirty="0" smtClean="0">
                <a:latin typeface="페이퍼로지 5 Medium" pitchFamily="2" charset="-127"/>
                <a:ea typeface="페이퍼로지 5 Medium" pitchFamily="2" charset="-127"/>
              </a:rPr>
              <a:t>UI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476924" y="4265450"/>
            <a:ext cx="5808963" cy="18235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덱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에디터에서 카드나 동아리를 클릭하면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해당 카드를 확대해서 보여줌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편성된 동아리 인원 수는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덱의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상태에 따라 바뀜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CardData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는 변경되지 않은 원본만 보여주므로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예외처리해서 구현</a:t>
            </a:r>
            <a:endParaRPr lang="en-US" altLang="ko-KR" sz="1500" dirty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CardUI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클래스가 </a:t>
            </a: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DeckEditor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클래스에 종속되는 문제가 생김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CardZoomPanel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에서 </a:t>
            </a: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CardUI</a:t>
            </a:r>
            <a:r>
              <a:rPr lang="ko-KR" altLang="en-US" sz="15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클래스를 통해 표시 후 자체적으로 수정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7452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8431" y="1044705"/>
            <a:ext cx="8611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기타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6924" y="1716401"/>
            <a:ext cx="3754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홈페이지 구현 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https://</a:t>
            </a:r>
            <a:r>
              <a:rPr lang="en-US" altLang="ko-KR" sz="1000" dirty="0" smtClean="0">
                <a:latin typeface="페이퍼로지 5 Medium" pitchFamily="2" charset="-127"/>
                <a:ea typeface="페이퍼로지 5 Medium" pitchFamily="2" charset="-127"/>
              </a:rPr>
              <a:t>www.card-archive.com)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476924" y="2216510"/>
            <a:ext cx="5258684" cy="1131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Node </a:t>
            </a: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js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의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express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를 활용하여 웹 페이지 서비스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유니티에서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en-US" altLang="ko-KR" sz="1500" dirty="0" err="1" smtClean="0">
                <a:latin typeface="페이퍼로지 5 Medium" pitchFamily="2" charset="-127"/>
                <a:ea typeface="페이퍼로지 5 Medium" pitchFamily="2" charset="-127"/>
              </a:rPr>
              <a:t>WebResponse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를 통해 카드 정보와 이미지를 업로드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데이터베이스에 저장된 정보와 이미지를 통해 카드 조회 시스템 구축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3260" y="1716401"/>
            <a:ext cx="2731240" cy="164966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76924" y="3702765"/>
            <a:ext cx="1596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err="1" smtClean="0">
                <a:latin typeface="페이퍼로지 5 Medium" pitchFamily="2" charset="-127"/>
                <a:ea typeface="페이퍼로지 5 Medium" pitchFamily="2" charset="-127"/>
              </a:rPr>
              <a:t>튜토리얼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 구현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76924" y="4202874"/>
            <a:ext cx="599715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게임 시작 시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튜토리얼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여부 확인 후 활성화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싱글톤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패턴으로 구현된 단일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튜토리얼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매니저에 여러 클라이언트 클래스 접근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플레이어의 입력이 현재 단계에서 요구하는 입력과 일치하는지 확인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일치하면 입력 수행 후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튜토리얼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다음 단계로 진행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236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7" y="215886"/>
            <a:ext cx="10962385" cy="642622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72" y="420765"/>
            <a:ext cx="10259420" cy="60164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3215" y="2923040"/>
            <a:ext cx="380952" cy="380952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826611" y="464400"/>
            <a:ext cx="10184741" cy="4809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780" y="583200"/>
            <a:ext cx="10058400" cy="24128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33" y="5689129"/>
            <a:ext cx="2018259" cy="7481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15410" y="1044705"/>
            <a:ext cx="28071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dirty="0" smtClean="0">
                <a:latin typeface="페이퍼로지 7 Bold" pitchFamily="2" charset="-127"/>
                <a:ea typeface="페이퍼로지 7 Bold" pitchFamily="2" charset="-127"/>
              </a:rPr>
              <a:t>성과 및 향후 계획</a:t>
            </a:r>
            <a:endParaRPr lang="ko-KR" altLang="en-US" sz="20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6924" y="1716401"/>
            <a:ext cx="21050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err="1" smtClean="0">
                <a:latin typeface="페이퍼로지 5 Medium" pitchFamily="2" charset="-127"/>
                <a:ea typeface="페이퍼로지 5 Medium" pitchFamily="2" charset="-127"/>
              </a:rPr>
              <a:t>일러스타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2000" dirty="0" err="1" smtClean="0">
                <a:latin typeface="페이퍼로지 5 Medium" pitchFamily="2" charset="-127"/>
                <a:ea typeface="페이퍼로지 5 Medium" pitchFamily="2" charset="-127"/>
              </a:rPr>
              <a:t>페스</a:t>
            </a:r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 출품</a:t>
            </a:r>
            <a:endParaRPr lang="ko-KR" altLang="en-US" sz="1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476924" y="2216510"/>
            <a:ext cx="4682692" cy="1131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10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월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3~4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일에 열린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일러스타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페스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인디게임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1500" dirty="0" err="1" smtClean="0">
                <a:latin typeface="페이퍼로지 5 Medium" pitchFamily="2" charset="-127"/>
                <a:ea typeface="페이퍼로지 5 Medium" pitchFamily="2" charset="-127"/>
              </a:rPr>
              <a:t>플레이존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 출품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양일 총 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124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명이 시연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설문조사 후 받은 피드백을 통해 지속적으로 개선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76924" y="3965396"/>
            <a:ext cx="1144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smtClean="0">
                <a:latin typeface="페이퍼로지 5 Medium" pitchFamily="2" charset="-127"/>
                <a:ea typeface="페이퍼로지 5 Medium" pitchFamily="2" charset="-127"/>
              </a:rPr>
              <a:t>향후 계획</a:t>
            </a:r>
            <a:endParaRPr lang="ko-KR" altLang="en-US" sz="20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76924" y="4465505"/>
            <a:ext cx="92291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11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월 말부터 배포 후 서비스 진행</a:t>
            </a:r>
            <a:endParaRPr lang="en-US" altLang="ko-KR" sz="1500" dirty="0" smtClean="0">
              <a:latin typeface="페이퍼로지 5 Medium" pitchFamily="2" charset="-127"/>
              <a:ea typeface="페이퍼로지 5 Medium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AI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개선 후</a:t>
            </a:r>
            <a:r>
              <a:rPr lang="en-US" altLang="ko-KR" sz="1500" dirty="0" smtClean="0">
                <a:latin typeface="페이퍼로지 5 Medium" pitchFamily="2" charset="-127"/>
                <a:ea typeface="페이퍼로지 5 Medium" pitchFamily="2" charset="-127"/>
              </a:rPr>
              <a:t>, </a:t>
            </a:r>
            <a:r>
              <a:rPr lang="ko-KR" altLang="en-US" sz="1500" dirty="0" smtClean="0">
                <a:latin typeface="페이퍼로지 5 Medium" pitchFamily="2" charset="-127"/>
                <a:ea typeface="페이퍼로지 5 Medium" pitchFamily="2" charset="-127"/>
              </a:rPr>
              <a:t>싱글 컨텐츠 추가</a:t>
            </a:r>
            <a:endParaRPr lang="ko-KR" altLang="en-US" sz="15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8"/>
          <a:srcRect l="-2874" t="10352" b="36696"/>
          <a:stretch/>
        </p:blipFill>
        <p:spPr>
          <a:xfrm>
            <a:off x="7391169" y="1716400"/>
            <a:ext cx="2160116" cy="1974882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51718" y="3965396"/>
            <a:ext cx="1039017" cy="172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926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3006</TotalTime>
  <Words>1376</Words>
  <Application>Microsoft Office PowerPoint</Application>
  <PresentationFormat>와이드스크린</PresentationFormat>
  <Paragraphs>210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맑은 고딕</vt:lpstr>
      <vt:lpstr>페이퍼로지 5 Medium</vt:lpstr>
      <vt:lpstr>페이퍼로지 7 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KGA</dc:creator>
  <cp:lastModifiedBy>KGA</cp:lastModifiedBy>
  <cp:revision>49</cp:revision>
  <dcterms:created xsi:type="dcterms:W3CDTF">2025-11-07T02:40:06Z</dcterms:created>
  <dcterms:modified xsi:type="dcterms:W3CDTF">2025-11-10T08:24:25Z</dcterms:modified>
</cp:coreProperties>
</file>