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1938"/>
    <a:srgbClr val="B0D4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75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692" y="139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35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9142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4474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9790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5064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0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8041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308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14052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665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1252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E2A85E-2D82-4CB4-9990-4E96C522C8AA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2823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4.png"/><Relationship Id="rId5" Type="http://schemas.openxmlformats.org/officeDocument/2006/relationships/image" Target="../media/image7.png"/><Relationship Id="rId10" Type="http://schemas.openxmlformats.org/officeDocument/2006/relationships/image" Target="../media/image13.png"/><Relationship Id="rId4" Type="http://schemas.openxmlformats.org/officeDocument/2006/relationships/image" Target="../media/image6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6.png"/><Relationship Id="rId9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6063884"/>
            <a:ext cx="9144000" cy="442424"/>
          </a:xfrm>
        </p:spPr>
        <p:txBody>
          <a:bodyPr/>
          <a:lstStyle/>
          <a:p>
            <a:r>
              <a:rPr lang="ko-KR" altLang="en-US" dirty="0" err="1">
                <a:latin typeface="페이퍼로지 5 Medium" pitchFamily="2" charset="-127"/>
                <a:ea typeface="페이퍼로지 5 Medium" pitchFamily="2" charset="-127"/>
              </a:rPr>
              <a:t>언리얼</a:t>
            </a:r>
            <a:r>
              <a:rPr lang="ko-KR" altLang="en-US" dirty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en-US" altLang="ko-KR" dirty="0">
                <a:latin typeface="페이퍼로지 5 Medium" pitchFamily="2" charset="-127"/>
                <a:ea typeface="페이퍼로지 5 Medium" pitchFamily="2" charset="-127"/>
              </a:rPr>
              <a:t>5</a:t>
            </a:r>
            <a:r>
              <a:rPr lang="ko-KR" altLang="en-US" dirty="0">
                <a:latin typeface="페이퍼로지 5 Medium" pitchFamily="2" charset="-127"/>
                <a:ea typeface="페이퍼로지 5 Medium" pitchFamily="2" charset="-127"/>
              </a:rPr>
              <a:t>기 </a:t>
            </a:r>
            <a:r>
              <a:rPr lang="ko-KR" altLang="en-US" dirty="0" err="1">
                <a:latin typeface="페이퍼로지 5 Medium" pitchFamily="2" charset="-127"/>
                <a:ea typeface="페이퍼로지 5 Medium" pitchFamily="2" charset="-127"/>
              </a:rPr>
              <a:t>송준석</a:t>
            </a:r>
            <a:endParaRPr lang="ko-KR" altLang="en-US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9600" y="0"/>
            <a:ext cx="8932800" cy="331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215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742" y="6109899"/>
            <a:ext cx="2018259" cy="748101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268" y="1289013"/>
            <a:ext cx="7741466" cy="42799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53351" y="2450400"/>
            <a:ext cx="6285296" cy="28988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500" dirty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프로젝트 개요</a:t>
            </a:r>
            <a:endParaRPr lang="en-US" altLang="ko-KR" sz="2500" dirty="0">
              <a:solidFill>
                <a:srgbClr val="171938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500" dirty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게임 소개 및 규칙 설명</a:t>
            </a:r>
            <a:endParaRPr lang="en-US" altLang="ko-KR" sz="2500" dirty="0">
              <a:solidFill>
                <a:srgbClr val="171938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500" dirty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진행 방식 및 조작 방법</a:t>
            </a:r>
            <a:endParaRPr lang="en-US" altLang="ko-KR" sz="2500" dirty="0">
              <a:solidFill>
                <a:srgbClr val="171938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500" dirty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구조 및 구현 내용 정리</a:t>
            </a:r>
            <a:endParaRPr lang="en-US" altLang="ko-KR" sz="2500" dirty="0">
              <a:solidFill>
                <a:srgbClr val="171938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500" dirty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성과 및 향후 계획</a:t>
            </a:r>
          </a:p>
        </p:txBody>
      </p:sp>
      <p:sp>
        <p:nvSpPr>
          <p:cNvPr id="13" name="순서도: 수행의 시작/종료 12"/>
          <p:cNvSpPr/>
          <p:nvPr/>
        </p:nvSpPr>
        <p:spPr>
          <a:xfrm>
            <a:off x="4935352" y="1539273"/>
            <a:ext cx="2321294" cy="660867"/>
          </a:xfrm>
          <a:prstGeom prst="flowChartTerminator">
            <a:avLst/>
          </a:prstGeom>
          <a:solidFill>
            <a:srgbClr val="171938"/>
          </a:solidFill>
          <a:ln>
            <a:solidFill>
              <a:srgbClr val="1719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5626961" y="1592708"/>
            <a:ext cx="93807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spc="300" dirty="0">
                <a:solidFill>
                  <a:srgbClr val="B0D4F0"/>
                </a:solidFill>
                <a:latin typeface="페이퍼로지 7 Bold" pitchFamily="2" charset="-127"/>
                <a:ea typeface="페이퍼로지 7 Bold" pitchFamily="2" charset="-127"/>
              </a:rPr>
              <a:t>목차</a:t>
            </a:r>
          </a:p>
        </p:txBody>
      </p:sp>
    </p:spTree>
    <p:extLst>
      <p:ext uri="{BB962C8B-B14F-4D97-AF65-F5344CB8AC3E}">
        <p14:creationId xmlns:p14="http://schemas.microsoft.com/office/powerpoint/2010/main" val="742527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2466" y="3238524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1" y="584226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46485" y="1044000"/>
            <a:ext cx="229902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>
                <a:latin typeface="페이퍼로지 7 Bold" pitchFamily="2" charset="-127"/>
                <a:ea typeface="페이퍼로지 7 Bold" pitchFamily="2" charset="-127"/>
              </a:rPr>
              <a:t>프로젝트 개요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9535" y="1628254"/>
            <a:ext cx="9115124" cy="4362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프로젝트 이름</a:t>
            </a:r>
            <a:endParaRPr lang="en-US" altLang="ko-KR" sz="20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카드아카이브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블루아카이브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2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차 창작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팬게임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프로젝트 기간</a:t>
            </a:r>
            <a:endParaRPr lang="en-US" altLang="ko-KR" sz="2000" dirty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기획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: 2023.10 ~ 2024.06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개발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: 2024.06 ~ 2025.11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프로젝트 인원</a:t>
            </a:r>
            <a:endParaRPr lang="en-US" altLang="ko-KR" sz="2000" dirty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1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인 프로젝트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맡은 역할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기획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시스템 기획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UI/UX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기획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카드 기획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밸런스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개발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시스템 구현 및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로직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리팩토링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리소스 아웃소싱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외주 디자이너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컨택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디자인 요청 및 품질 검수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09865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2466" y="3238524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27143" y="1044705"/>
            <a:ext cx="478368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>
                <a:latin typeface="페이퍼로지 7 Bold" pitchFamily="2" charset="-127"/>
                <a:ea typeface="페이퍼로지 7 Bold" pitchFamily="2" charset="-127"/>
              </a:rPr>
              <a:t>게임 소개 및 규칙 설명 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(</a:t>
            </a:r>
            <a:r>
              <a:rPr lang="ko-KR" altLang="en-US" sz="2000" dirty="0">
                <a:latin typeface="페이퍼로지 7 Bold" pitchFamily="2" charset="-127"/>
                <a:ea typeface="페이퍼로지 7 Bold" pitchFamily="2" charset="-127"/>
              </a:rPr>
              <a:t>기본 소개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76924" y="1716401"/>
            <a:ext cx="1596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레퍼런스 게임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4684" y="2834105"/>
            <a:ext cx="3283017" cy="1367924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3113" y="3030090"/>
            <a:ext cx="3485548" cy="97595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81043" y="4582080"/>
            <a:ext cx="6475875" cy="7374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여러 시너지를 조합하여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덱을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편성하고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유닛의 시너지와 사거리 및 다양한 카드의 효과를 통해 전장에서 승리하는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TCG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게임</a:t>
            </a:r>
          </a:p>
        </p:txBody>
      </p:sp>
    </p:spTree>
    <p:extLst>
      <p:ext uri="{BB962C8B-B14F-4D97-AF65-F5344CB8AC3E}">
        <p14:creationId xmlns:p14="http://schemas.microsoft.com/office/powerpoint/2010/main" val="1641370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2466" y="3238524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2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27140" y="1044705"/>
            <a:ext cx="478368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>
                <a:latin typeface="페이퍼로지 7 Bold" pitchFamily="2" charset="-127"/>
                <a:ea typeface="페이퍼로지 7 Bold" pitchFamily="2" charset="-127"/>
              </a:rPr>
              <a:t>게임 소개 및 규칙 설명 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(</a:t>
            </a:r>
            <a:r>
              <a:rPr lang="ko-KR" altLang="en-US" sz="2000" dirty="0">
                <a:latin typeface="페이퍼로지 7 Bold" pitchFamily="2" charset="-127"/>
                <a:ea typeface="페이퍼로지 7 Bold" pitchFamily="2" charset="-127"/>
              </a:rPr>
              <a:t>기본 구조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05916" y="1708702"/>
            <a:ext cx="31774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게임의 기본 구조 및 승리 조건</a:t>
            </a:r>
            <a:endParaRPr lang="ko-KR" altLang="en-US" sz="2400" dirty="0">
              <a:latin typeface="페이퍼로지 5 Medium" pitchFamily="2" charset="-127"/>
              <a:ea typeface="페이퍼로지 5 Medium" pitchFamily="2" charset="-127"/>
            </a:endParaRPr>
          </a:p>
          <a:p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84537" y="2146533"/>
            <a:ext cx="7443063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플레이어는 자신의 차례 시작 시 보충되는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청휘석을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사용하여 카드를 사용한다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다양한 카드의 효과와 배치되는 유닛을 통해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상대 플레이어의 체력을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0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으로 만들면 승리한다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.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505916" y="3146889"/>
            <a:ext cx="44198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자원 및 플레이어가 취할 수 있는 행동 종류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537" y="3584720"/>
            <a:ext cx="874790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청휘석은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1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개부터 시작해서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자신의 차례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시작마다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최대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10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개까지 최대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청휘석이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증가한다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플레이어는 자신의 메인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페이즈에서만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행동할 수 있으며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청휘석을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소비하여 아래와 같은 행동을 할 수 있다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카드 사용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: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패에 있는 카드를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청휘석을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소비하여 발동할 수 있다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아로나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능력 사용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: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자신의 차례 당 한 번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청휘석을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소비하여 편성 시 선택한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아로나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능력을 사용할 수 있다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.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75157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2466" y="3238524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2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81216" y="1044705"/>
            <a:ext cx="427552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>
                <a:latin typeface="페이퍼로지 7 Bold" pitchFamily="2" charset="-127"/>
                <a:ea typeface="페이퍼로지 7 Bold" pitchFamily="2" charset="-127"/>
              </a:rPr>
              <a:t>게임 소개 및 규칙 설명 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(</a:t>
            </a:r>
            <a:r>
              <a:rPr lang="ko-KR" altLang="en-US" sz="2000" dirty="0">
                <a:latin typeface="페이퍼로지 7 Bold" pitchFamily="2" charset="-127"/>
                <a:ea typeface="페이퍼로지 7 Bold" pitchFamily="2" charset="-127"/>
              </a:rPr>
              <a:t>카드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04800" y="1710000"/>
            <a:ext cx="23246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카드 종류 및 </a:t>
            </a:r>
            <a:r>
              <a:rPr lang="en-US" altLang="ko-KR" sz="2000" dirty="0">
                <a:latin typeface="페이퍼로지 5 Medium" pitchFamily="2" charset="-127"/>
                <a:ea typeface="페이퍼로지 5 Medium" pitchFamily="2" charset="-127"/>
              </a:rPr>
              <a:t>UI </a:t>
            </a: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소개</a:t>
            </a:r>
            <a:endParaRPr lang="ko-KR" altLang="en-US" sz="2400" dirty="0">
              <a:latin typeface="페이퍼로지 5 Medium" pitchFamily="2" charset="-127"/>
              <a:ea typeface="페이퍼로지 5 Medium" pitchFamily="2" charset="-127"/>
            </a:endParaRPr>
          </a:p>
          <a:p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233" y="2364572"/>
            <a:ext cx="1677425" cy="2712817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5749" y="2364572"/>
            <a:ext cx="1677425" cy="2712817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2193" y="2364573"/>
            <a:ext cx="1677426" cy="2712817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443" y="2364573"/>
            <a:ext cx="1677425" cy="2712817"/>
          </a:xfrm>
          <a:prstGeom prst="rect">
            <a:avLst/>
          </a:prstGeom>
        </p:spPr>
      </p:pic>
      <p:sp>
        <p:nvSpPr>
          <p:cNvPr id="16" name="도넛 15"/>
          <p:cNvSpPr/>
          <p:nvPr/>
        </p:nvSpPr>
        <p:spPr>
          <a:xfrm>
            <a:off x="1822449" y="2415549"/>
            <a:ext cx="298317" cy="283202"/>
          </a:xfrm>
          <a:prstGeom prst="donut">
            <a:avLst>
              <a:gd name="adj" fmla="val 769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8" name="직선 연결선 17"/>
          <p:cNvCxnSpPr>
            <a:stCxn id="16" idx="2"/>
          </p:cNvCxnSpPr>
          <p:nvPr/>
        </p:nvCxnSpPr>
        <p:spPr>
          <a:xfrm flipH="1">
            <a:off x="1616869" y="2557150"/>
            <a:ext cx="2055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9272" y="2449428"/>
            <a:ext cx="90281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페이퍼로지 5 Medium" pitchFamily="2" charset="-127"/>
                <a:ea typeface="페이퍼로지 5 Medium" pitchFamily="2" charset="-127"/>
              </a:rPr>
              <a:t>*</a:t>
            </a:r>
            <a:r>
              <a:rPr lang="ko-KR" altLang="en-US" sz="800" dirty="0">
                <a:latin typeface="페이퍼로지 5 Medium" pitchFamily="2" charset="-127"/>
                <a:ea typeface="페이퍼로지 5 Medium" pitchFamily="2" charset="-127"/>
              </a:rPr>
              <a:t>필요 </a:t>
            </a:r>
            <a:r>
              <a:rPr lang="ko-KR" altLang="en-US" sz="800" dirty="0" err="1">
                <a:latin typeface="페이퍼로지 5 Medium" pitchFamily="2" charset="-127"/>
                <a:ea typeface="페이퍼로지 5 Medium" pitchFamily="2" charset="-127"/>
              </a:rPr>
              <a:t>청휘석</a:t>
            </a:r>
            <a:r>
              <a:rPr lang="ko-KR" altLang="en-US" sz="800" dirty="0">
                <a:latin typeface="페이퍼로지 5 Medium" pitchFamily="2" charset="-127"/>
                <a:ea typeface="페이퍼로지 5 Medium" pitchFamily="2" charset="-127"/>
              </a:rPr>
              <a:t> 개수</a:t>
            </a:r>
          </a:p>
        </p:txBody>
      </p:sp>
      <p:sp>
        <p:nvSpPr>
          <p:cNvPr id="24" name="액자 23"/>
          <p:cNvSpPr/>
          <p:nvPr/>
        </p:nvSpPr>
        <p:spPr>
          <a:xfrm>
            <a:off x="2132016" y="2468022"/>
            <a:ext cx="1206993" cy="196850"/>
          </a:xfrm>
          <a:prstGeom prst="fram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6" name="꺾인 연결선 25"/>
          <p:cNvCxnSpPr>
            <a:stCxn id="24" idx="0"/>
          </p:cNvCxnSpPr>
          <p:nvPr/>
        </p:nvCxnSpPr>
        <p:spPr>
          <a:xfrm rot="5400000" flipH="1" flipV="1">
            <a:off x="2740258" y="2206993"/>
            <a:ext cx="256285" cy="265774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930941" y="2104015"/>
            <a:ext cx="6110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페이퍼로지 5 Medium" pitchFamily="2" charset="-127"/>
                <a:ea typeface="페이퍼로지 5 Medium" pitchFamily="2" charset="-127"/>
              </a:rPr>
              <a:t>*</a:t>
            </a:r>
            <a:r>
              <a:rPr lang="ko-KR" altLang="en-US" sz="800" dirty="0">
                <a:latin typeface="페이퍼로지 5 Medium" pitchFamily="2" charset="-127"/>
                <a:ea typeface="페이퍼로지 5 Medium" pitchFamily="2" charset="-127"/>
              </a:rPr>
              <a:t>카드 이름</a:t>
            </a:r>
          </a:p>
        </p:txBody>
      </p:sp>
      <p:sp>
        <p:nvSpPr>
          <p:cNvPr id="29" name="도넛 28"/>
          <p:cNvSpPr/>
          <p:nvPr/>
        </p:nvSpPr>
        <p:spPr>
          <a:xfrm>
            <a:off x="1885949" y="4692024"/>
            <a:ext cx="298317" cy="283202"/>
          </a:xfrm>
          <a:prstGeom prst="donut">
            <a:avLst>
              <a:gd name="adj" fmla="val 769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도넛 29"/>
          <p:cNvSpPr/>
          <p:nvPr/>
        </p:nvSpPr>
        <p:spPr>
          <a:xfrm>
            <a:off x="3087314" y="4692024"/>
            <a:ext cx="298317" cy="283202"/>
          </a:xfrm>
          <a:prstGeom prst="donut">
            <a:avLst>
              <a:gd name="adj" fmla="val 769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1" name="직선 연결선 30"/>
          <p:cNvCxnSpPr/>
          <p:nvPr/>
        </p:nvCxnSpPr>
        <p:spPr>
          <a:xfrm flipH="1">
            <a:off x="1680369" y="4833625"/>
            <a:ext cx="2055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246488" y="4725903"/>
            <a:ext cx="49885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페이퍼로지 5 Medium" pitchFamily="2" charset="-127"/>
                <a:ea typeface="페이퍼로지 5 Medium" pitchFamily="2" charset="-127"/>
              </a:rPr>
              <a:t>*</a:t>
            </a:r>
            <a:r>
              <a:rPr lang="ko-KR" altLang="en-US" sz="800" dirty="0">
                <a:latin typeface="페이퍼로지 5 Medium" pitchFamily="2" charset="-127"/>
                <a:ea typeface="페이퍼로지 5 Medium" pitchFamily="2" charset="-127"/>
              </a:rPr>
              <a:t>공격력</a:t>
            </a:r>
          </a:p>
        </p:txBody>
      </p:sp>
      <p:cxnSp>
        <p:nvCxnSpPr>
          <p:cNvPr id="33" name="직선 연결선 32"/>
          <p:cNvCxnSpPr/>
          <p:nvPr/>
        </p:nvCxnSpPr>
        <p:spPr>
          <a:xfrm flipH="1">
            <a:off x="3368868" y="4834800"/>
            <a:ext cx="2055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99485" y="4725903"/>
            <a:ext cx="4090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페이퍼로지 5 Medium" pitchFamily="2" charset="-127"/>
                <a:ea typeface="페이퍼로지 5 Medium" pitchFamily="2" charset="-127"/>
              </a:rPr>
              <a:t>*</a:t>
            </a:r>
            <a:r>
              <a:rPr lang="ko-KR" altLang="en-US" sz="800" dirty="0">
                <a:latin typeface="페이퍼로지 5 Medium" pitchFamily="2" charset="-127"/>
                <a:ea typeface="페이퍼로지 5 Medium" pitchFamily="2" charset="-127"/>
              </a:rPr>
              <a:t>체력</a:t>
            </a:r>
          </a:p>
        </p:txBody>
      </p:sp>
      <p:sp>
        <p:nvSpPr>
          <p:cNvPr id="36" name="도넛 35"/>
          <p:cNvSpPr/>
          <p:nvPr/>
        </p:nvSpPr>
        <p:spPr>
          <a:xfrm>
            <a:off x="1860549" y="3760797"/>
            <a:ext cx="298317" cy="283202"/>
          </a:xfrm>
          <a:prstGeom prst="donut">
            <a:avLst>
              <a:gd name="adj" fmla="val 769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7" name="직선 연결선 36"/>
          <p:cNvCxnSpPr/>
          <p:nvPr/>
        </p:nvCxnSpPr>
        <p:spPr>
          <a:xfrm flipH="1">
            <a:off x="1654969" y="3902398"/>
            <a:ext cx="2055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08594" y="3794676"/>
            <a:ext cx="6110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5 Medium" pitchFamily="2" charset="-127"/>
                <a:ea typeface="페이퍼로지 5 Medium" pitchFamily="2" charset="-127"/>
              </a:rPr>
              <a:t>*</a:t>
            </a:r>
            <a:r>
              <a:rPr lang="ko-KR" altLang="en-US" sz="800" dirty="0">
                <a:latin typeface="페이퍼로지 5 Medium" pitchFamily="2" charset="-127"/>
                <a:ea typeface="페이퍼로지 5 Medium" pitchFamily="2" charset="-127"/>
              </a:rPr>
              <a:t>카드 종류</a:t>
            </a:r>
          </a:p>
        </p:txBody>
      </p:sp>
      <p:sp>
        <p:nvSpPr>
          <p:cNvPr id="39" name="액자 38"/>
          <p:cNvSpPr/>
          <p:nvPr/>
        </p:nvSpPr>
        <p:spPr>
          <a:xfrm>
            <a:off x="2170175" y="3848097"/>
            <a:ext cx="268225" cy="196850"/>
          </a:xfrm>
          <a:prstGeom prst="fram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40" name="직선 연결선 39"/>
          <p:cNvCxnSpPr/>
          <p:nvPr/>
        </p:nvCxnSpPr>
        <p:spPr>
          <a:xfrm flipH="1">
            <a:off x="2438400" y="3943350"/>
            <a:ext cx="1136048" cy="34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46232" y="3848097"/>
            <a:ext cx="96693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페이퍼로지 5 Medium" pitchFamily="2" charset="-127"/>
                <a:ea typeface="페이퍼로지 5 Medium" pitchFamily="2" charset="-127"/>
              </a:rPr>
              <a:t>*</a:t>
            </a:r>
            <a:r>
              <a:rPr lang="ko-KR" altLang="en-US" sz="800" dirty="0">
                <a:latin typeface="페이퍼로지 5 Medium" pitchFamily="2" charset="-127"/>
                <a:ea typeface="페이퍼로지 5 Medium" pitchFamily="2" charset="-127"/>
              </a:rPr>
              <a:t>무기 타입 </a:t>
            </a:r>
            <a:r>
              <a:rPr lang="en-US" altLang="ko-KR" sz="8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800" dirty="0">
                <a:latin typeface="페이퍼로지 5 Medium" pitchFamily="2" charset="-127"/>
                <a:ea typeface="페이퍼로지 5 Medium" pitchFamily="2" charset="-127"/>
              </a:rPr>
              <a:t>사거리</a:t>
            </a:r>
            <a:r>
              <a:rPr lang="en-US" altLang="ko-KR" sz="800" dirty="0">
                <a:latin typeface="페이퍼로지 5 Medium" pitchFamily="2" charset="-127"/>
                <a:ea typeface="페이퍼로지 5 Medium" pitchFamily="2" charset="-127"/>
              </a:rPr>
              <a:t>)</a:t>
            </a:r>
            <a:endParaRPr lang="ko-KR" altLang="en-US" sz="8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43" name="액자 42"/>
          <p:cNvSpPr/>
          <p:nvPr/>
        </p:nvSpPr>
        <p:spPr>
          <a:xfrm>
            <a:off x="2344214" y="4090060"/>
            <a:ext cx="577461" cy="153590"/>
          </a:xfrm>
          <a:prstGeom prst="fram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44" name="직선 연결선 43"/>
          <p:cNvCxnSpPr/>
          <p:nvPr/>
        </p:nvCxnSpPr>
        <p:spPr>
          <a:xfrm flipH="1">
            <a:off x="2914477" y="4158794"/>
            <a:ext cx="659331" cy="34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548321" y="4055745"/>
            <a:ext cx="105670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페이퍼로지 5 Medium" pitchFamily="2" charset="-127"/>
                <a:ea typeface="페이퍼로지 5 Medium" pitchFamily="2" charset="-127"/>
              </a:rPr>
              <a:t>*</a:t>
            </a:r>
            <a:r>
              <a:rPr lang="ko-KR" altLang="en-US" sz="800" dirty="0">
                <a:latin typeface="페이퍼로지 5 Medium" pitchFamily="2" charset="-127"/>
                <a:ea typeface="페이퍼로지 5 Medium" pitchFamily="2" charset="-127"/>
              </a:rPr>
              <a:t>소속 동아리 </a:t>
            </a:r>
            <a:r>
              <a:rPr lang="en-US" altLang="ko-KR" sz="8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800" dirty="0">
                <a:latin typeface="페이퍼로지 5 Medium" pitchFamily="2" charset="-127"/>
                <a:ea typeface="페이퍼로지 5 Medium" pitchFamily="2" charset="-127"/>
              </a:rPr>
              <a:t>시너지</a:t>
            </a:r>
            <a:r>
              <a:rPr lang="en-US" altLang="ko-KR" sz="800" dirty="0">
                <a:latin typeface="페이퍼로지 5 Medium" pitchFamily="2" charset="-127"/>
                <a:ea typeface="페이퍼로지 5 Medium" pitchFamily="2" charset="-127"/>
              </a:rPr>
              <a:t>)</a:t>
            </a:r>
            <a:endParaRPr lang="ko-KR" altLang="en-US" sz="8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301763" y="5122502"/>
            <a:ext cx="6623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>
                <a:latin typeface="페이퍼로지 5 Medium" pitchFamily="2" charset="-127"/>
                <a:ea typeface="페이퍼로지 5 Medium" pitchFamily="2" charset="-127"/>
              </a:rPr>
              <a:t>학생 카드</a:t>
            </a:r>
            <a:endParaRPr lang="ko-KR" altLang="en-US" sz="1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287175" y="5122501"/>
            <a:ext cx="7745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>
                <a:latin typeface="페이퍼로지 5 Medium" pitchFamily="2" charset="-127"/>
                <a:ea typeface="페이퍼로지 5 Medium" pitchFamily="2" charset="-127"/>
              </a:rPr>
              <a:t>비학생</a:t>
            </a:r>
            <a:r>
              <a:rPr lang="ko-KR" altLang="en-US" sz="1000" dirty="0">
                <a:latin typeface="페이퍼로지 5 Medium" pitchFamily="2" charset="-127"/>
                <a:ea typeface="페이퍼로지 5 Medium" pitchFamily="2" charset="-127"/>
              </a:rPr>
              <a:t> 카드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3365" y="5122500"/>
            <a:ext cx="1475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페이퍼로지 5 Medium" pitchFamily="2" charset="-127"/>
                <a:ea typeface="페이퍼로지 5 Medium" pitchFamily="2" charset="-127"/>
              </a:rPr>
              <a:t>장소 카드</a:t>
            </a:r>
            <a:endParaRPr lang="en-US" altLang="ko-KR" sz="1000" dirty="0"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en-US" altLang="ko-KR" sz="10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000" dirty="0">
                <a:latin typeface="페이퍼로지 5 Medium" pitchFamily="2" charset="-127"/>
                <a:ea typeface="페이퍼로지 5 Medium" pitchFamily="2" charset="-127"/>
              </a:rPr>
              <a:t>공격 불가능한 방어 유닛</a:t>
            </a:r>
            <a:r>
              <a:rPr lang="en-US" altLang="ko-KR" sz="1000" dirty="0">
                <a:latin typeface="페이퍼로지 5 Medium" pitchFamily="2" charset="-127"/>
                <a:ea typeface="페이퍼로지 5 Medium" pitchFamily="2" charset="-127"/>
              </a:rPr>
              <a:t>)</a:t>
            </a:r>
            <a:endParaRPr lang="ko-KR" altLang="en-US" sz="1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969976" y="5119080"/>
            <a:ext cx="17283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페이퍼로지 5 Medium" pitchFamily="2" charset="-127"/>
                <a:ea typeface="페이퍼로지 5 Medium" pitchFamily="2" charset="-127"/>
              </a:rPr>
              <a:t>이벤트 카드</a:t>
            </a:r>
            <a:endParaRPr lang="en-US" altLang="ko-KR" sz="1000" dirty="0"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en-US" altLang="ko-KR" sz="10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000" dirty="0">
                <a:latin typeface="페이퍼로지 5 Medium" pitchFamily="2" charset="-127"/>
                <a:ea typeface="페이퍼로지 5 Medium" pitchFamily="2" charset="-127"/>
              </a:rPr>
              <a:t>사용 후 사라지는 일회용 카드</a:t>
            </a:r>
            <a:r>
              <a:rPr lang="en-US" altLang="ko-KR" sz="1000" dirty="0">
                <a:latin typeface="페이퍼로지 5 Medium" pitchFamily="2" charset="-127"/>
                <a:ea typeface="페이퍼로지 5 Medium" pitchFamily="2" charset="-127"/>
              </a:rPr>
              <a:t>)</a:t>
            </a:r>
            <a:endParaRPr lang="ko-KR" altLang="en-US" sz="1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760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2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81216" y="1044705"/>
            <a:ext cx="427552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>
                <a:latin typeface="페이퍼로지 7 Bold" pitchFamily="2" charset="-127"/>
                <a:ea typeface="페이퍼로지 7 Bold" pitchFamily="2" charset="-127"/>
              </a:rPr>
              <a:t>게임 소개 및 규칙 설명 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(</a:t>
            </a:r>
            <a:r>
              <a:rPr lang="ko-KR" altLang="en-US" sz="2000" dirty="0">
                <a:latin typeface="페이퍼로지 7 Bold" pitchFamily="2" charset="-127"/>
                <a:ea typeface="페이퍼로지 7 Bold" pitchFamily="2" charset="-127"/>
              </a:rPr>
              <a:t>필드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2236005" y="1698073"/>
            <a:ext cx="7365950" cy="3635085"/>
            <a:chOff x="2236005" y="1878437"/>
            <a:chExt cx="7365950" cy="3635085"/>
          </a:xfrm>
        </p:grpSpPr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ED55982D-68F0-422E-C6D2-8EDEF5833C58}"/>
                </a:ext>
              </a:extLst>
            </p:cNvPr>
            <p:cNvGrpSpPr/>
            <p:nvPr/>
          </p:nvGrpSpPr>
          <p:grpSpPr>
            <a:xfrm>
              <a:off x="3016442" y="2051706"/>
              <a:ext cx="5778898" cy="3245930"/>
              <a:chOff x="539549" y="6096000"/>
              <a:chExt cx="5778898" cy="3245930"/>
            </a:xfrm>
          </p:grpSpPr>
          <p:pic>
            <p:nvPicPr>
              <p:cNvPr id="45" name="그림 44">
                <a:extLst>
                  <a:ext uri="{FF2B5EF4-FFF2-40B4-BE49-F238E27FC236}">
                    <a16:creationId xmlns:a16="http://schemas.microsoft.com/office/drawing/2014/main" id="{4494A1C2-BA13-985C-C3C8-33A38994D0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539549" y="6096000"/>
                <a:ext cx="5778898" cy="3245930"/>
              </a:xfrm>
              <a:prstGeom prst="rect">
                <a:avLst/>
              </a:prstGeom>
            </p:spPr>
          </p:pic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E04D72F2-7829-E56E-BB04-7B4F41072C54}"/>
                  </a:ext>
                </a:extLst>
              </p:cNvPr>
              <p:cNvSpPr/>
              <p:nvPr/>
            </p:nvSpPr>
            <p:spPr>
              <a:xfrm>
                <a:off x="1828800" y="7555135"/>
                <a:ext cx="3230880" cy="327660"/>
              </a:xfrm>
              <a:prstGeom prst="rect">
                <a:avLst/>
              </a:prstGeom>
              <a:solidFill>
                <a:srgbClr val="FFFF00">
                  <a:alpha val="4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>
                    <a:solidFill>
                      <a:sysClr val="windowText" lastClr="000000"/>
                    </a:solidFill>
                    <a:latin typeface="페이퍼로지 5 Medium" pitchFamily="2" charset="-127"/>
                    <a:ea typeface="페이퍼로지 5 Medium" pitchFamily="2" charset="-127"/>
                  </a:rPr>
                  <a:t>중립 타일</a:t>
                </a:r>
              </a:p>
            </p:txBody>
          </p:sp>
          <p:sp>
            <p:nvSpPr>
              <p:cNvPr id="52" name="직사각형 51">
                <a:extLst>
                  <a:ext uri="{FF2B5EF4-FFF2-40B4-BE49-F238E27FC236}">
                    <a16:creationId xmlns:a16="http://schemas.microsoft.com/office/drawing/2014/main" id="{8F3F4E5D-FB2D-99B7-0222-15FB5C38ABB8}"/>
                  </a:ext>
                </a:extLst>
              </p:cNvPr>
              <p:cNvSpPr/>
              <p:nvPr/>
            </p:nvSpPr>
            <p:spPr>
              <a:xfrm>
                <a:off x="2728910" y="8122763"/>
                <a:ext cx="1400175" cy="293050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  <a:alpha val="6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>
                    <a:solidFill>
                      <a:sysClr val="windowText" lastClr="000000"/>
                    </a:solidFill>
                    <a:latin typeface="페이퍼로지 5 Medium" pitchFamily="2" charset="-127"/>
                    <a:ea typeface="페이퍼로지 5 Medium" pitchFamily="2" charset="-127"/>
                  </a:rPr>
                  <a:t>실외 타일</a:t>
                </a:r>
              </a:p>
            </p:txBody>
          </p:sp>
          <p:sp>
            <p:nvSpPr>
              <p:cNvPr id="53" name="직사각형 52">
                <a:extLst>
                  <a:ext uri="{FF2B5EF4-FFF2-40B4-BE49-F238E27FC236}">
                    <a16:creationId xmlns:a16="http://schemas.microsoft.com/office/drawing/2014/main" id="{1D3B173B-E2B1-0B6A-2049-752C2CEFF749}"/>
                  </a:ext>
                </a:extLst>
              </p:cNvPr>
              <p:cNvSpPr/>
              <p:nvPr/>
            </p:nvSpPr>
            <p:spPr>
              <a:xfrm>
                <a:off x="2728910" y="7022117"/>
                <a:ext cx="1400175" cy="293050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  <a:alpha val="6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>
                    <a:solidFill>
                      <a:sysClr val="windowText" lastClr="000000"/>
                    </a:solidFill>
                    <a:latin typeface="페이퍼로지 5 Medium" pitchFamily="2" charset="-127"/>
                    <a:ea typeface="페이퍼로지 5 Medium" pitchFamily="2" charset="-127"/>
                  </a:rPr>
                  <a:t>실외 타일</a:t>
                </a:r>
              </a:p>
            </p:txBody>
          </p:sp>
          <p:sp>
            <p:nvSpPr>
              <p:cNvPr id="54" name="막힌 원호 53">
                <a:extLst>
                  <a:ext uri="{FF2B5EF4-FFF2-40B4-BE49-F238E27FC236}">
                    <a16:creationId xmlns:a16="http://schemas.microsoft.com/office/drawing/2014/main" id="{606817F0-7CC2-88C4-1CEC-D03CBE52AC41}"/>
                  </a:ext>
                </a:extLst>
              </p:cNvPr>
              <p:cNvSpPr/>
              <p:nvPr/>
            </p:nvSpPr>
            <p:spPr>
              <a:xfrm>
                <a:off x="2065336" y="6509863"/>
                <a:ext cx="2727328" cy="1759424"/>
              </a:xfrm>
              <a:prstGeom prst="blockArc">
                <a:avLst>
                  <a:gd name="adj1" fmla="val 10800000"/>
                  <a:gd name="adj2" fmla="val 36777"/>
                  <a:gd name="adj3" fmla="val 12272"/>
                </a:avLst>
              </a:prstGeom>
              <a:solidFill>
                <a:schemeClr val="accent2">
                  <a:alpha val="86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  <a:latin typeface="페이퍼로지 5 Medium" pitchFamily="2" charset="-127"/>
                  <a:ea typeface="페이퍼로지 5 Medium" pitchFamily="2" charset="-127"/>
                </a:endParaRPr>
              </a:p>
            </p:txBody>
          </p:sp>
          <p:sp>
            <p:nvSpPr>
              <p:cNvPr id="55" name="막힌 원호 54">
                <a:extLst>
                  <a:ext uri="{FF2B5EF4-FFF2-40B4-BE49-F238E27FC236}">
                    <a16:creationId xmlns:a16="http://schemas.microsoft.com/office/drawing/2014/main" id="{072CD242-5E32-23F9-C890-5268B1BCC73A}"/>
                  </a:ext>
                </a:extLst>
              </p:cNvPr>
              <p:cNvSpPr/>
              <p:nvPr/>
            </p:nvSpPr>
            <p:spPr>
              <a:xfrm rot="10800000">
                <a:off x="2065333" y="7142945"/>
                <a:ext cx="2727328" cy="1805318"/>
              </a:xfrm>
              <a:prstGeom prst="blockArc">
                <a:avLst>
                  <a:gd name="adj1" fmla="val 10800000"/>
                  <a:gd name="adj2" fmla="val 36777"/>
                  <a:gd name="adj3" fmla="val 12272"/>
                </a:avLst>
              </a:prstGeom>
              <a:solidFill>
                <a:schemeClr val="accent2">
                  <a:alpha val="86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  <a:latin typeface="페이퍼로지 5 Medium" pitchFamily="2" charset="-127"/>
                  <a:ea typeface="페이퍼로지 5 Medium" pitchFamily="2" charset="-127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5BC91E5-FDE8-9636-3C38-19B11580E4B4}"/>
                  </a:ext>
                </a:extLst>
              </p:cNvPr>
              <p:cNvSpPr txBox="1"/>
              <p:nvPr/>
            </p:nvSpPr>
            <p:spPr>
              <a:xfrm>
                <a:off x="2830672" y="6489504"/>
                <a:ext cx="1227135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100" dirty="0">
                    <a:latin typeface="페이퍼로지 5 Medium" pitchFamily="2" charset="-127"/>
                    <a:ea typeface="페이퍼로지 5 Medium" pitchFamily="2" charset="-127"/>
                  </a:rPr>
                  <a:t>실내 타일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1585A50-C930-2AAF-EE32-397185764F6C}"/>
                  </a:ext>
                </a:extLst>
              </p:cNvPr>
              <p:cNvSpPr txBox="1"/>
              <p:nvPr/>
            </p:nvSpPr>
            <p:spPr>
              <a:xfrm>
                <a:off x="2815429" y="8686653"/>
                <a:ext cx="1227135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100" dirty="0">
                    <a:latin typeface="페이퍼로지 5 Medium" pitchFamily="2" charset="-127"/>
                    <a:ea typeface="페이퍼로지 5 Medium" pitchFamily="2" charset="-127"/>
                  </a:rPr>
                  <a:t>실내 타일</a:t>
                </a: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641E2E14-B061-E2E0-D70B-EC5B96C13021}"/>
                </a:ext>
              </a:extLst>
            </p:cNvPr>
            <p:cNvSpPr txBox="1"/>
            <p:nvPr/>
          </p:nvSpPr>
          <p:spPr>
            <a:xfrm>
              <a:off x="3459876" y="2917301"/>
              <a:ext cx="140017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rgbClr val="FF0000"/>
                  </a:solidFill>
                  <a:latin typeface="페이퍼로지 5 Medium" pitchFamily="2" charset="-127"/>
                  <a:ea typeface="페이퍼로지 5 Medium" pitchFamily="2" charset="-127"/>
                </a:rPr>
                <a:t>*</a:t>
              </a:r>
              <a:r>
                <a:rPr lang="ko-KR" altLang="en-US" sz="1200" dirty="0">
                  <a:solidFill>
                    <a:srgbClr val="FF0000"/>
                  </a:solidFill>
                  <a:latin typeface="페이퍼로지 5 Medium" pitchFamily="2" charset="-127"/>
                  <a:ea typeface="페이퍼로지 5 Medium" pitchFamily="2" charset="-127"/>
                </a:rPr>
                <a:t>적 필드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B1E51CC-39C6-F346-DA84-4FA62BD4992E}"/>
                </a:ext>
              </a:extLst>
            </p:cNvPr>
            <p:cNvSpPr txBox="1"/>
            <p:nvPr/>
          </p:nvSpPr>
          <p:spPr>
            <a:xfrm>
              <a:off x="3459877" y="4027664"/>
              <a:ext cx="140017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rgbClr val="0070C0"/>
                  </a:solidFill>
                  <a:latin typeface="페이퍼로지 5 Medium" pitchFamily="2" charset="-127"/>
                  <a:ea typeface="페이퍼로지 5 Medium" pitchFamily="2" charset="-127"/>
                </a:rPr>
                <a:t>*</a:t>
              </a:r>
              <a:r>
                <a:rPr lang="ko-KR" altLang="en-US" sz="1200" dirty="0">
                  <a:solidFill>
                    <a:srgbClr val="0070C0"/>
                  </a:solidFill>
                  <a:latin typeface="페이퍼로지 5 Medium" pitchFamily="2" charset="-127"/>
                  <a:ea typeface="페이퍼로지 5 Medium" pitchFamily="2" charset="-127"/>
                </a:rPr>
                <a:t>자신의 필드</a:t>
              </a:r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DCFC7807-9CC4-6DCA-4605-0481EFD11021}"/>
                </a:ext>
              </a:extLst>
            </p:cNvPr>
            <p:cNvSpPr/>
            <p:nvPr/>
          </p:nvSpPr>
          <p:spPr>
            <a:xfrm>
              <a:off x="3043107" y="3168530"/>
              <a:ext cx="386286" cy="99763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페이퍼로지 5 Medium" pitchFamily="2" charset="-127"/>
                <a:ea typeface="페이퍼로지 5 Medium" pitchFamily="2" charset="-127"/>
              </a:endParaRPr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F1A8A509-0E84-1ACC-DF34-BB8CF32E228F}"/>
                </a:ext>
              </a:extLst>
            </p:cNvPr>
            <p:cNvSpPr/>
            <p:nvPr/>
          </p:nvSpPr>
          <p:spPr>
            <a:xfrm>
              <a:off x="8376121" y="3168530"/>
              <a:ext cx="386286" cy="99763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페이퍼로지 5 Medium" pitchFamily="2" charset="-127"/>
                <a:ea typeface="페이퍼로지 5 Medium" pitchFamily="2" charset="-127"/>
              </a:endParaRPr>
            </a:p>
          </p:txBody>
        </p: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1F320682-D897-0078-AE87-0503462B9ADE}"/>
                </a:ext>
              </a:extLst>
            </p:cNvPr>
            <p:cNvCxnSpPr>
              <a:cxnSpLocks/>
            </p:cNvCxnSpPr>
            <p:nvPr/>
          </p:nvCxnSpPr>
          <p:spPr>
            <a:xfrm>
              <a:off x="8762407" y="3799151"/>
              <a:ext cx="8880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4CFA86F-CCC3-8AAA-33CD-6D0FEDDEE096}"/>
                </a:ext>
              </a:extLst>
            </p:cNvPr>
            <p:cNvSpPr txBox="1"/>
            <p:nvPr/>
          </p:nvSpPr>
          <p:spPr>
            <a:xfrm>
              <a:off x="2236005" y="3524471"/>
              <a:ext cx="1045840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latin typeface="페이퍼로지 5 Medium" pitchFamily="2" charset="-127"/>
                  <a:ea typeface="페이퍼로지 5 Medium" pitchFamily="2" charset="-127"/>
                </a:rPr>
                <a:t>플레이어</a:t>
              </a:r>
              <a:endParaRPr lang="en-US" altLang="ko-KR" sz="1000" dirty="0">
                <a:latin typeface="페이퍼로지 5 Medium" pitchFamily="2" charset="-127"/>
                <a:ea typeface="페이퍼로지 5 Medium" pitchFamily="2" charset="-127"/>
              </a:endParaRPr>
            </a:p>
            <a:p>
              <a:pPr algn="ctr"/>
              <a:r>
                <a:rPr lang="ko-KR" altLang="en-US" sz="1000" dirty="0">
                  <a:latin typeface="페이퍼로지 5 Medium" pitchFamily="2" charset="-127"/>
                  <a:ea typeface="페이퍼로지 5 Medium" pitchFamily="2" charset="-127"/>
                </a:rPr>
                <a:t>동아리 </a:t>
              </a:r>
              <a:endParaRPr lang="en-US" altLang="ko-KR" sz="1000" dirty="0">
                <a:latin typeface="페이퍼로지 5 Medium" pitchFamily="2" charset="-127"/>
                <a:ea typeface="페이퍼로지 5 Medium" pitchFamily="2" charset="-127"/>
              </a:endParaRPr>
            </a:p>
            <a:p>
              <a:pPr algn="ctr"/>
              <a:r>
                <a:rPr lang="ko-KR" altLang="en-US" sz="1000" dirty="0">
                  <a:latin typeface="페이퍼로지 5 Medium" pitchFamily="2" charset="-127"/>
                  <a:ea typeface="페이퍼로지 5 Medium" pitchFamily="2" charset="-127"/>
                </a:rPr>
                <a:t>시너지</a:t>
              </a:r>
            </a:p>
          </p:txBody>
        </p: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14828DD6-4701-74FE-CD2E-D773BF956C9E}"/>
                </a:ext>
              </a:extLst>
            </p:cNvPr>
            <p:cNvCxnSpPr>
              <a:cxnSpLocks/>
            </p:cNvCxnSpPr>
            <p:nvPr/>
          </p:nvCxnSpPr>
          <p:spPr>
            <a:xfrm>
              <a:off x="2954303" y="3801470"/>
              <a:ext cx="8880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D93E81A6-E5FC-C939-2F0A-E19D57686556}"/>
                </a:ext>
              </a:extLst>
            </p:cNvPr>
            <p:cNvSpPr/>
            <p:nvPr/>
          </p:nvSpPr>
          <p:spPr>
            <a:xfrm>
              <a:off x="3043107" y="5042097"/>
              <a:ext cx="1891236" cy="22279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페이퍼로지 5 Medium" pitchFamily="2" charset="-127"/>
                <a:ea typeface="페이퍼로지 5 Medium" pitchFamily="2" charset="-127"/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0B3B3DAB-45F9-0072-F600-49EAAC76E5C1}"/>
                </a:ext>
              </a:extLst>
            </p:cNvPr>
            <p:cNvSpPr/>
            <p:nvPr/>
          </p:nvSpPr>
          <p:spPr>
            <a:xfrm>
              <a:off x="6864743" y="2084507"/>
              <a:ext cx="1897664" cy="22279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페이퍼로지 5 Medium" pitchFamily="2" charset="-127"/>
                <a:ea typeface="페이퍼로지 5 Medium" pitchFamily="2" charset="-127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0FB97FE-3C34-27EB-C264-89B626B22076}"/>
                </a:ext>
              </a:extLst>
            </p:cNvPr>
            <p:cNvSpPr txBox="1"/>
            <p:nvPr/>
          </p:nvSpPr>
          <p:spPr>
            <a:xfrm>
              <a:off x="7467993" y="1878437"/>
              <a:ext cx="126555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latin typeface="페이퍼로지 5 Medium" pitchFamily="2" charset="-127"/>
                  <a:ea typeface="페이퍼로지 5 Medium" pitchFamily="2" charset="-127"/>
                </a:rPr>
                <a:t>적 보유 </a:t>
              </a:r>
              <a:r>
                <a:rPr lang="ko-KR" altLang="en-US" sz="800" dirty="0" err="1">
                  <a:latin typeface="페이퍼로지 5 Medium" pitchFamily="2" charset="-127"/>
                  <a:ea typeface="페이퍼로지 5 Medium" pitchFamily="2" charset="-127"/>
                </a:rPr>
                <a:t>청휘석</a:t>
              </a:r>
              <a:endParaRPr lang="ko-KR" altLang="en-US" sz="800" dirty="0">
                <a:latin typeface="페이퍼로지 5 Medium" pitchFamily="2" charset="-127"/>
                <a:ea typeface="페이퍼로지 5 Medium" pitchFamily="2" charset="-127"/>
              </a:endParaRPr>
            </a:p>
          </p:txBody>
        </p:sp>
        <p:cxnSp>
          <p:nvCxnSpPr>
            <p:cNvPr id="69" name="연결선: 꺾임 60">
              <a:extLst>
                <a:ext uri="{FF2B5EF4-FFF2-40B4-BE49-F238E27FC236}">
                  <a16:creationId xmlns:a16="http://schemas.microsoft.com/office/drawing/2014/main" id="{F90ADDCE-D697-D9E7-A3AF-1667B1B4A74A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7381312" y="1941014"/>
              <a:ext cx="98348" cy="188639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407BFC3-BA8C-033C-CCCE-974819DB4721}"/>
                </a:ext>
              </a:extLst>
            </p:cNvPr>
            <p:cNvSpPr txBox="1"/>
            <p:nvPr/>
          </p:nvSpPr>
          <p:spPr>
            <a:xfrm>
              <a:off x="3527187" y="5288684"/>
              <a:ext cx="126555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latin typeface="페이퍼로지 5 Medium" pitchFamily="2" charset="-127"/>
                  <a:ea typeface="페이퍼로지 5 Medium" pitchFamily="2" charset="-127"/>
                </a:rPr>
                <a:t>플레이어 보유 </a:t>
              </a:r>
              <a:r>
                <a:rPr lang="ko-KR" altLang="en-US" sz="800" dirty="0" err="1">
                  <a:latin typeface="페이퍼로지 5 Medium" pitchFamily="2" charset="-127"/>
                  <a:ea typeface="페이퍼로지 5 Medium" pitchFamily="2" charset="-127"/>
                </a:rPr>
                <a:t>청휘석</a:t>
              </a:r>
              <a:endParaRPr lang="ko-KR" altLang="en-US" sz="800" dirty="0">
                <a:latin typeface="페이퍼로지 5 Medium" pitchFamily="2" charset="-127"/>
                <a:ea typeface="페이퍼로지 5 Medium" pitchFamily="2" charset="-127"/>
              </a:endParaRPr>
            </a:p>
          </p:txBody>
        </p:sp>
        <p:cxnSp>
          <p:nvCxnSpPr>
            <p:cNvPr id="71" name="연결선: 꺾임 1026">
              <a:extLst>
                <a:ext uri="{FF2B5EF4-FFF2-40B4-BE49-F238E27FC236}">
                  <a16:creationId xmlns:a16="http://schemas.microsoft.com/office/drawing/2014/main" id="{60AECFEF-7554-8B13-C9F4-F47AE986CFC5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428450" y="5227725"/>
              <a:ext cx="131517" cy="205843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C3308FF4-374D-12F4-3028-B2C3FBE1FFEF}"/>
                </a:ext>
              </a:extLst>
            </p:cNvPr>
            <p:cNvSpPr/>
            <p:nvPr/>
          </p:nvSpPr>
          <p:spPr>
            <a:xfrm>
              <a:off x="8140669" y="4194848"/>
              <a:ext cx="621738" cy="42649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페이퍼로지 5 Medium" pitchFamily="2" charset="-127"/>
                <a:ea typeface="페이퍼로지 5 Medium" pitchFamily="2" charset="-127"/>
              </a:endParaRPr>
            </a:p>
          </p:txBody>
        </p:sp>
        <p:cxnSp>
          <p:nvCxnSpPr>
            <p:cNvPr id="73" name="연결선: 꺾임 1034">
              <a:extLst>
                <a:ext uri="{FF2B5EF4-FFF2-40B4-BE49-F238E27FC236}">
                  <a16:creationId xmlns:a16="http://schemas.microsoft.com/office/drawing/2014/main" id="{C036F176-2FDB-A20A-4578-3BA293FF6828}"/>
                </a:ext>
              </a:extLst>
            </p:cNvPr>
            <p:cNvCxnSpPr>
              <a:cxnSpLocks/>
              <a:stCxn id="72" idx="1"/>
              <a:endCxn id="74" idx="0"/>
            </p:cNvCxnSpPr>
            <p:nvPr/>
          </p:nvCxnSpPr>
          <p:spPr>
            <a:xfrm rot="10800000" flipV="1">
              <a:off x="7561487" y="4408095"/>
              <a:ext cx="579183" cy="880375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5A05D49B-9225-2419-CB0F-B06E30D1B8C4}"/>
                </a:ext>
              </a:extLst>
            </p:cNvPr>
            <p:cNvSpPr txBox="1"/>
            <p:nvPr/>
          </p:nvSpPr>
          <p:spPr>
            <a:xfrm>
              <a:off x="7031095" y="5288471"/>
              <a:ext cx="106078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>
                  <a:latin typeface="페이퍼로지 5 Medium" pitchFamily="2" charset="-127"/>
                  <a:ea typeface="페이퍼로지 5 Medium" pitchFamily="2" charset="-127"/>
                </a:rPr>
                <a:t>턴 진행 상황 표시</a:t>
              </a: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666B2882-F8B9-C705-2FC6-1ED996391474}"/>
                </a:ext>
              </a:extLst>
            </p:cNvPr>
            <p:cNvSpPr/>
            <p:nvPr/>
          </p:nvSpPr>
          <p:spPr>
            <a:xfrm>
              <a:off x="8019649" y="4662327"/>
              <a:ext cx="713895" cy="57343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페이퍼로지 5 Medium" pitchFamily="2" charset="-127"/>
                <a:ea typeface="페이퍼로지 5 Medium" pitchFamily="2" charset="-127"/>
              </a:endParaRPr>
            </a:p>
          </p:txBody>
        </p:sp>
        <p:cxnSp>
          <p:nvCxnSpPr>
            <p:cNvPr id="76" name="연결선: 꺾임 1043">
              <a:extLst>
                <a:ext uri="{FF2B5EF4-FFF2-40B4-BE49-F238E27FC236}">
                  <a16:creationId xmlns:a16="http://schemas.microsoft.com/office/drawing/2014/main" id="{0717821B-DAD9-5202-AEAD-FA7DF2846B60}"/>
                </a:ext>
              </a:extLst>
            </p:cNvPr>
            <p:cNvCxnSpPr>
              <a:cxnSpLocks/>
              <a:stCxn id="77" idx="0"/>
            </p:cNvCxnSpPr>
            <p:nvPr/>
          </p:nvCxnSpPr>
          <p:spPr>
            <a:xfrm rot="5400000" flipH="1" flipV="1">
              <a:off x="8429620" y="5221612"/>
              <a:ext cx="53031" cy="81115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135EE055-3432-21C8-4A1B-D84913851C71}"/>
                </a:ext>
              </a:extLst>
            </p:cNvPr>
            <p:cNvSpPr txBox="1"/>
            <p:nvPr/>
          </p:nvSpPr>
          <p:spPr>
            <a:xfrm>
              <a:off x="8103155" y="5288684"/>
              <a:ext cx="6248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>
                  <a:latin typeface="페이퍼로지 5 Medium" pitchFamily="2" charset="-127"/>
                  <a:ea typeface="페이퍼로지 5 Medium" pitchFamily="2" charset="-127"/>
                </a:rPr>
                <a:t>턴 종료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914957A-2653-DE6C-2A7F-A9C82C0B0E1A}"/>
                </a:ext>
              </a:extLst>
            </p:cNvPr>
            <p:cNvSpPr txBox="1"/>
            <p:nvPr/>
          </p:nvSpPr>
          <p:spPr>
            <a:xfrm>
              <a:off x="8556115" y="3524471"/>
              <a:ext cx="1045840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latin typeface="페이퍼로지 5 Medium" pitchFamily="2" charset="-127"/>
                  <a:ea typeface="페이퍼로지 5 Medium" pitchFamily="2" charset="-127"/>
                </a:rPr>
                <a:t>적 </a:t>
              </a:r>
              <a:endParaRPr lang="en-US" altLang="ko-KR" sz="1000" dirty="0">
                <a:latin typeface="페이퍼로지 5 Medium" pitchFamily="2" charset="-127"/>
                <a:ea typeface="페이퍼로지 5 Medium" pitchFamily="2" charset="-127"/>
              </a:endParaRPr>
            </a:p>
            <a:p>
              <a:pPr algn="ctr"/>
              <a:r>
                <a:rPr lang="ko-KR" altLang="en-US" sz="1000" dirty="0">
                  <a:latin typeface="페이퍼로지 5 Medium" pitchFamily="2" charset="-127"/>
                  <a:ea typeface="페이퍼로지 5 Medium" pitchFamily="2" charset="-127"/>
                </a:rPr>
                <a:t>동아리 </a:t>
              </a:r>
              <a:endParaRPr lang="en-US" altLang="ko-KR" sz="1000" dirty="0">
                <a:latin typeface="페이퍼로지 5 Medium" pitchFamily="2" charset="-127"/>
                <a:ea typeface="페이퍼로지 5 Medium" pitchFamily="2" charset="-127"/>
              </a:endParaRPr>
            </a:p>
            <a:p>
              <a:pPr algn="ctr"/>
              <a:r>
                <a:rPr lang="ko-KR" altLang="en-US" sz="1000" dirty="0">
                  <a:latin typeface="페이퍼로지 5 Medium" pitchFamily="2" charset="-127"/>
                  <a:ea typeface="페이퍼로지 5 Medium" pitchFamily="2" charset="-127"/>
                </a:rPr>
                <a:t>시너지</a:t>
              </a:r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D93E81A6-E5FC-C939-2F0A-E19D57686556}"/>
                </a:ext>
              </a:extLst>
            </p:cNvPr>
            <p:cNvSpPr/>
            <p:nvPr/>
          </p:nvSpPr>
          <p:spPr>
            <a:xfrm>
              <a:off x="3927416" y="4660980"/>
              <a:ext cx="449322" cy="34836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페이퍼로지 5 Medium" pitchFamily="2" charset="-127"/>
                <a:ea typeface="페이퍼로지 5 Medium" pitchFamily="2" charset="-127"/>
              </a:endParaRPr>
            </a:p>
          </p:txBody>
        </p:sp>
        <p:cxnSp>
          <p:nvCxnSpPr>
            <p:cNvPr id="110" name="연결선: 꺾임 1026">
              <a:extLst>
                <a:ext uri="{FF2B5EF4-FFF2-40B4-BE49-F238E27FC236}">
                  <a16:creationId xmlns:a16="http://schemas.microsoft.com/office/drawing/2014/main" id="{60AECFEF-7554-8B13-C9F4-F47AE986CFC5}"/>
                </a:ext>
              </a:extLst>
            </p:cNvPr>
            <p:cNvCxnSpPr>
              <a:cxnSpLocks/>
              <a:stCxn id="109" idx="3"/>
              <a:endCxn id="111" idx="0"/>
            </p:cNvCxnSpPr>
            <p:nvPr/>
          </p:nvCxnSpPr>
          <p:spPr>
            <a:xfrm>
              <a:off x="4376738" y="4835165"/>
              <a:ext cx="815532" cy="462913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5A05D49B-9225-2419-CB0F-B06E30D1B8C4}"/>
                </a:ext>
              </a:extLst>
            </p:cNvPr>
            <p:cNvSpPr txBox="1"/>
            <p:nvPr/>
          </p:nvSpPr>
          <p:spPr>
            <a:xfrm>
              <a:off x="4661879" y="5298078"/>
              <a:ext cx="106078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 err="1">
                  <a:latin typeface="페이퍼로지 5 Medium" pitchFamily="2" charset="-127"/>
                  <a:ea typeface="페이퍼로지 5 Medium" pitchFamily="2" charset="-127"/>
                </a:rPr>
                <a:t>아로나</a:t>
              </a:r>
              <a:r>
                <a:rPr lang="ko-KR" altLang="en-US" sz="800" dirty="0">
                  <a:latin typeface="페이퍼로지 5 Medium" pitchFamily="2" charset="-127"/>
                  <a:ea typeface="페이퍼로지 5 Medium" pitchFamily="2" charset="-127"/>
                </a:rPr>
                <a:t> 능력</a:t>
              </a: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4286694" y="5497484"/>
            <a:ext cx="32383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*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장소 유닛은 실외 타일에만 배치 가능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*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중립 타일은 양 플레이어 모두 배치 가능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178E0B1-481B-BA65-F0A2-F5FEC75C78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2466" y="3238524"/>
            <a:ext cx="380952" cy="3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2971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EE138-63F2-F820-DCA4-4643D026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E906756-DD94-E73E-296E-FC5563175296}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710067-FF02-BC31-DD01-47444F4A15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047A723-5D0B-229C-21B2-ACCCC974EA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E4FA21F-00ED-32CA-3AE9-F5A0936791FA}"/>
              </a:ext>
            </a:extLst>
          </p:cNvPr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121D5E-3C9C-9553-1261-EEE1BFBF42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2" y="583200"/>
            <a:ext cx="10058400" cy="24128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E391219-030F-0223-75AE-544BC30FA94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A263CA4-24A2-F7DD-E3E9-FC410D8FE9FF}"/>
              </a:ext>
            </a:extLst>
          </p:cNvPr>
          <p:cNvSpPr txBox="1"/>
          <p:nvPr/>
        </p:nvSpPr>
        <p:spPr>
          <a:xfrm>
            <a:off x="3301118" y="1044705"/>
            <a:ext cx="523572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>
                <a:latin typeface="페이퍼로지 7 Bold" pitchFamily="2" charset="-127"/>
                <a:ea typeface="페이퍼로지 7 Bold" pitchFamily="2" charset="-127"/>
              </a:rPr>
              <a:t>게임 소개 및 규칙 설명 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(</a:t>
            </a:r>
            <a:r>
              <a:rPr lang="ko-KR" altLang="en-US" sz="2000" dirty="0">
                <a:latin typeface="페이퍼로지 7 Bold" pitchFamily="2" charset="-127"/>
                <a:ea typeface="페이퍼로지 7 Bold" pitchFamily="2" charset="-127"/>
              </a:rPr>
              <a:t>공격 알고리즘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BF954C2-125E-0D19-8145-06EFF65DDFD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2466" y="3238524"/>
            <a:ext cx="380952" cy="3809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2D79C5B-181E-0430-E7A3-8392F5E1F523}"/>
              </a:ext>
            </a:extLst>
          </p:cNvPr>
          <p:cNvSpPr txBox="1"/>
          <p:nvPr/>
        </p:nvSpPr>
        <p:spPr>
          <a:xfrm>
            <a:off x="2603810" y="1710000"/>
            <a:ext cx="6630341" cy="9525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플레이어는 기본적으로 메인 </a:t>
            </a:r>
            <a:r>
              <a:rPr lang="ko-KR" altLang="en-US" sz="2000" dirty="0" err="1">
                <a:latin typeface="페이퍼로지 5 Medium" pitchFamily="2" charset="-127"/>
                <a:ea typeface="페이퍼로지 5 Medium" pitchFamily="2" charset="-127"/>
              </a:rPr>
              <a:t>페이즈에서</a:t>
            </a: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 공격을</a:t>
            </a:r>
            <a:r>
              <a:rPr lang="en-US" altLang="ko-KR" sz="2000" dirty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할</a:t>
            </a:r>
            <a:r>
              <a:rPr lang="en-US" altLang="ko-KR" sz="2000" dirty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수 없음</a:t>
            </a:r>
            <a:endParaRPr lang="en-US" altLang="ko-KR" sz="2000" dirty="0">
              <a:latin typeface="페이퍼로지 5 Medium" pitchFamily="2" charset="-127"/>
              <a:ea typeface="페이퍼로지 5 Medium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자신의 차례 종료 시</a:t>
            </a:r>
            <a:r>
              <a:rPr lang="en-US" altLang="ko-KR" sz="20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플레이어 기준 왼쪽부터 자동으로 공격 진행</a:t>
            </a:r>
            <a:endParaRPr lang="en-US" altLang="ko-KR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pic>
        <p:nvPicPr>
          <p:cNvPr id="14" name="그림 13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69388F9-C4C5-8921-EB1E-8B278337D4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7650" y="2773802"/>
            <a:ext cx="3715100" cy="257374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7FDF757-7FDE-EA68-5B35-8E47A5F59957}"/>
              </a:ext>
            </a:extLst>
          </p:cNvPr>
          <p:cNvSpPr txBox="1"/>
          <p:nvPr/>
        </p:nvSpPr>
        <p:spPr>
          <a:xfrm>
            <a:off x="2780027" y="5468404"/>
            <a:ext cx="663194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유닛의 공격 타입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사거리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)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에 따라 공격 대상이 정해지므로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배치 시 위치를 고려해야 함</a:t>
            </a:r>
          </a:p>
        </p:txBody>
      </p:sp>
    </p:spTree>
    <p:extLst>
      <p:ext uri="{BB962C8B-B14F-4D97-AF65-F5344CB8AC3E}">
        <p14:creationId xmlns:p14="http://schemas.microsoft.com/office/powerpoint/2010/main" val="1782418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98171-AD72-B346-EB31-A6B3CA11C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BD0ADCC-E286-3CF9-1BAD-94537C467233}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D7E0432-3904-874D-AF7F-BC7C2AABF1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06EC2C84-5F26-26B2-DEF2-0FE2205359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B00D15F9-773C-8514-7923-E818C9398563}"/>
              </a:ext>
            </a:extLst>
          </p:cNvPr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A1598DE-C2D2-AB52-163F-F0B1447597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2" y="583200"/>
            <a:ext cx="10058400" cy="24128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C677F3B-FC3A-0DA2-0F2E-921F8FDB1BE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EA3CF1A-A1E6-218E-0217-448DCFE2E64E}"/>
              </a:ext>
            </a:extLst>
          </p:cNvPr>
          <p:cNvSpPr txBox="1"/>
          <p:nvPr/>
        </p:nvSpPr>
        <p:spPr>
          <a:xfrm>
            <a:off x="3301118" y="1044705"/>
            <a:ext cx="523572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>
                <a:latin typeface="페이퍼로지 7 Bold" pitchFamily="2" charset="-127"/>
                <a:ea typeface="페이퍼로지 7 Bold" pitchFamily="2" charset="-127"/>
              </a:rPr>
              <a:t>게임 소개 및 규칙 설명 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(</a:t>
            </a:r>
            <a:r>
              <a:rPr lang="ko-KR" altLang="en-US" sz="2000" dirty="0">
                <a:latin typeface="페이퍼로지 7 Bold" pitchFamily="2" charset="-127"/>
                <a:ea typeface="페이퍼로지 7 Bold" pitchFamily="2" charset="-127"/>
              </a:rPr>
              <a:t>동아리 시너지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F550A66-B13F-FBDF-685E-5BA078B2F2B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2466" y="3238524"/>
            <a:ext cx="380952" cy="3809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D3E6B3-D1A8-4C2E-246F-335309397CAF}"/>
              </a:ext>
            </a:extLst>
          </p:cNvPr>
          <p:cNvSpPr txBox="1"/>
          <p:nvPr/>
        </p:nvSpPr>
        <p:spPr>
          <a:xfrm>
            <a:off x="2847467" y="1710000"/>
            <a:ext cx="6143028" cy="8665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페이퍼로지 5 Medium" pitchFamily="2" charset="-127"/>
                <a:ea typeface="페이퍼로지 5 Medium" pitchFamily="2" charset="-127"/>
              </a:rPr>
              <a:t>모든 학생 카드는 소속된 동아리를 하나 이상 가지고 있음</a:t>
            </a:r>
            <a:endParaRPr lang="en-US" altLang="ko-KR" dirty="0">
              <a:latin typeface="페이퍼로지 5 Medium" pitchFamily="2" charset="-127"/>
              <a:ea typeface="페이퍼로지 5 Medium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페이퍼로지 5 Medium" pitchFamily="2" charset="-127"/>
                <a:ea typeface="페이퍼로지 5 Medium" pitchFamily="2" charset="-127"/>
              </a:rPr>
              <a:t>필드의 동아리 부원 수에 따라 해당 동아리의 시너지 효과가 발동됨</a:t>
            </a:r>
          </a:p>
        </p:txBody>
      </p:sp>
      <p:pic>
        <p:nvPicPr>
          <p:cNvPr id="18" name="그림 17" descr="텍스트, 만화 영화, 인간의 얼굴, 소설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F74D391-8A33-99CD-7925-8548D8E75CF2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659" y="2745159"/>
            <a:ext cx="1917065" cy="31003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3F5DA64-E77B-C4A9-688C-6A59A247B9C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44533" y="2745159"/>
            <a:ext cx="4765776" cy="2680282"/>
          </a:xfrm>
          <a:prstGeom prst="rect">
            <a:avLst/>
          </a:prstGeom>
        </p:spPr>
      </p:pic>
      <p:sp>
        <p:nvSpPr>
          <p:cNvPr id="27" name="도넛 15">
            <a:extLst>
              <a:ext uri="{FF2B5EF4-FFF2-40B4-BE49-F238E27FC236}">
                <a16:creationId xmlns:a16="http://schemas.microsoft.com/office/drawing/2014/main" id="{076CDD97-D086-AEAD-EB31-FDA9F25849FC}"/>
              </a:ext>
            </a:extLst>
          </p:cNvPr>
          <p:cNvSpPr/>
          <p:nvPr/>
        </p:nvSpPr>
        <p:spPr>
          <a:xfrm>
            <a:off x="7540049" y="4234742"/>
            <a:ext cx="582681" cy="553158"/>
          </a:xfrm>
          <a:prstGeom prst="donut">
            <a:avLst>
              <a:gd name="adj" fmla="val 769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도넛 15">
            <a:extLst>
              <a:ext uri="{FF2B5EF4-FFF2-40B4-BE49-F238E27FC236}">
                <a16:creationId xmlns:a16="http://schemas.microsoft.com/office/drawing/2014/main" id="{814B6B6E-4641-1BD8-CCB4-F80F912CD4C1}"/>
              </a:ext>
            </a:extLst>
          </p:cNvPr>
          <p:cNvSpPr/>
          <p:nvPr/>
        </p:nvSpPr>
        <p:spPr>
          <a:xfrm>
            <a:off x="5806057" y="3808721"/>
            <a:ext cx="582681" cy="553158"/>
          </a:xfrm>
          <a:prstGeom prst="donut">
            <a:avLst>
              <a:gd name="adj" fmla="val 769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4" name="연결선: 꺾임 33">
            <a:extLst>
              <a:ext uri="{FF2B5EF4-FFF2-40B4-BE49-F238E27FC236}">
                <a16:creationId xmlns:a16="http://schemas.microsoft.com/office/drawing/2014/main" id="{6D2A5688-586B-E0E5-0D6B-143EBD75E102}"/>
              </a:ext>
            </a:extLst>
          </p:cNvPr>
          <p:cNvCxnSpPr>
            <a:cxnSpLocks/>
            <a:stCxn id="27" idx="2"/>
          </p:cNvCxnSpPr>
          <p:nvPr/>
        </p:nvCxnSpPr>
        <p:spPr>
          <a:xfrm rot="10800000">
            <a:off x="5643055" y="4085301"/>
            <a:ext cx="1896995" cy="426021"/>
          </a:xfrm>
          <a:prstGeom prst="bentConnector3">
            <a:avLst>
              <a:gd name="adj1" fmla="val 102250"/>
            </a:avLst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DD607CB9-8C42-4BD8-F123-F2E67BF8301E}"/>
              </a:ext>
            </a:extLst>
          </p:cNvPr>
          <p:cNvCxnSpPr>
            <a:cxnSpLocks/>
            <a:stCxn id="30" idx="2"/>
          </p:cNvCxnSpPr>
          <p:nvPr/>
        </p:nvCxnSpPr>
        <p:spPr>
          <a:xfrm rot="10800000">
            <a:off x="5392819" y="3808722"/>
            <a:ext cx="413239" cy="276579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934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FBB46-B281-4A02-717D-21C8165C1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9E3F7F7-F33A-6BD0-910E-278C9B09FCAB}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3C0941B-5130-E545-B25A-B8DAB25D6D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D5BEF70-3E30-B5A3-8FB4-26FFCC6511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E09365A-02BA-C353-7753-837928EEE95D}"/>
              </a:ext>
            </a:extLst>
          </p:cNvPr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298B224-EEDB-BFA8-9931-107E27FC4B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2" y="583200"/>
            <a:ext cx="10058400" cy="24128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CA765D6-7FC8-D6EC-81DD-72C6B76D164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730CB97-AC69-362D-D03E-AB25F129A0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2466" y="3238524"/>
            <a:ext cx="380952" cy="38095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19FD268-3B1A-2597-2774-D1F856B9697C}"/>
              </a:ext>
            </a:extLst>
          </p:cNvPr>
          <p:cNvSpPr txBox="1"/>
          <p:nvPr/>
        </p:nvSpPr>
        <p:spPr>
          <a:xfrm>
            <a:off x="3527141" y="1044705"/>
            <a:ext cx="478368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>
                <a:latin typeface="페이퍼로지 7 Bold" pitchFamily="2" charset="-127"/>
                <a:ea typeface="페이퍼로지 7 Bold" pitchFamily="2" charset="-127"/>
              </a:rPr>
              <a:t>진행 방식 및 조작 방법 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(</a:t>
            </a:r>
            <a:r>
              <a:rPr lang="ko-KR" altLang="en-US" sz="2000" dirty="0">
                <a:latin typeface="페이퍼로지 7 Bold" pitchFamily="2" charset="-127"/>
                <a:ea typeface="페이퍼로지 7 Bold" pitchFamily="2" charset="-127"/>
              </a:rPr>
              <a:t>진행 방식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D26FE2-4C4F-A1EE-7967-993EA94D4A93}"/>
              </a:ext>
            </a:extLst>
          </p:cNvPr>
          <p:cNvSpPr txBox="1"/>
          <p:nvPr/>
        </p:nvSpPr>
        <p:spPr>
          <a:xfrm>
            <a:off x="1504800" y="1710000"/>
            <a:ext cx="9446817" cy="51552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진행 방식 </a:t>
            </a:r>
            <a:r>
              <a:rPr lang="en-US" altLang="ko-KR" sz="20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아웃게임</a:t>
            </a:r>
            <a:r>
              <a:rPr lang="en-US" altLang="ko-KR" sz="2000" dirty="0">
                <a:latin typeface="페이퍼로지 5 Medium" pitchFamily="2" charset="-127"/>
                <a:ea typeface="페이퍼로지 5 Medium" pitchFamily="2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회원 가입 후 로그인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테스트 계정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– id : root / pw : root)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덱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에디터에서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덱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편성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덱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전체 매수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20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장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학생 카드는 최대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1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장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나머지는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2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장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동아리는 최대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3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개만 편성 가능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메인에서 싱글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/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멀티 플레이 고르고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덱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선택 후 게임 시작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진행 방식 </a:t>
            </a:r>
            <a:r>
              <a:rPr lang="en-US" altLang="ko-KR" sz="20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2000" dirty="0" err="1">
                <a:latin typeface="페이퍼로지 5 Medium" pitchFamily="2" charset="-127"/>
                <a:ea typeface="페이퍼로지 5 Medium" pitchFamily="2" charset="-127"/>
              </a:rPr>
              <a:t>인게임</a:t>
            </a:r>
            <a:r>
              <a:rPr lang="en-US" altLang="ko-KR" sz="2000" dirty="0">
                <a:latin typeface="페이퍼로지 5 Medium" pitchFamily="2" charset="-127"/>
                <a:ea typeface="페이퍼로지 5 Medium" pitchFamily="2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선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∙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후공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정하고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멀리건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페이즈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진행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버릴 카드 선택 후 다시 뽑기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선공부터 차례 시작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카드를 한 장 뽑고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청휘석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갱신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차례 시작 효과를 발동한 뒤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메인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페이즈로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이동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메인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페이즈에서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행동을 마치고 턴 종료 버튼을 통해 공격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페이즈로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이동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공격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페이즈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진행 후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차례 종료 효과 발동하고 상대에게 차례가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넘어감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ko-KR" altLang="en-US" sz="2400" dirty="0">
              <a:latin typeface="페이퍼로지 5 Medium" pitchFamily="2" charset="-127"/>
              <a:ea typeface="페이퍼로지 5 Medium" pitchFamily="2" charset="-127"/>
            </a:endParaRPr>
          </a:p>
          <a:p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2477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58D82-FC29-7D24-5258-203F9F4A0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598F361-0064-243E-13AF-C660C2BDBF7F}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BBAF7C7-3DD8-BDD3-51F6-8EB1E2A4BE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2B72A82C-7133-4B14-8CBC-A7898AE3F6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0F0AD51C-7293-CC2E-E57A-F94EF62198A2}"/>
              </a:ext>
            </a:extLst>
          </p:cNvPr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16F80CF-BCFD-3A35-5677-4B55A9BBFE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2" y="583200"/>
            <a:ext cx="10058400" cy="24128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63AF717-17AC-50C1-6904-6ABB5695046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0D863E58-6B17-BD11-67BF-754B4C6559D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2466" y="3238524"/>
            <a:ext cx="380952" cy="38095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40AC43-7E3C-84C6-B3B7-F60024C6C33F}"/>
              </a:ext>
            </a:extLst>
          </p:cNvPr>
          <p:cNvSpPr txBox="1"/>
          <p:nvPr/>
        </p:nvSpPr>
        <p:spPr>
          <a:xfrm>
            <a:off x="3527141" y="1044705"/>
            <a:ext cx="478368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>
                <a:latin typeface="페이퍼로지 7 Bold" pitchFamily="2" charset="-127"/>
                <a:ea typeface="페이퍼로지 7 Bold" pitchFamily="2" charset="-127"/>
              </a:rPr>
              <a:t>진행 방식 및 조작 방법 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(</a:t>
            </a:r>
            <a:r>
              <a:rPr lang="ko-KR" altLang="en-US" sz="2000" dirty="0">
                <a:latin typeface="페이퍼로지 7 Bold" pitchFamily="2" charset="-127"/>
                <a:ea typeface="페이퍼로지 7 Bold" pitchFamily="2" charset="-127"/>
              </a:rPr>
              <a:t>조작 방법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62C430-EA7F-0DC3-185C-C53233DEE640}"/>
              </a:ext>
            </a:extLst>
          </p:cNvPr>
          <p:cNvSpPr txBox="1"/>
          <p:nvPr/>
        </p:nvSpPr>
        <p:spPr>
          <a:xfrm>
            <a:off x="1504800" y="1710000"/>
            <a:ext cx="5769528" cy="1545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조작 방법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패에서 카드 사용 시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드래그 드랍으로 발동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유닛 카드나 목표 지정 이벤트 카드는 대상 위에서 릴리즈 해야 함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드래그 중이나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일부 대상 지정 효과의 경우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우클릭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시 취소됨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3645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0090D-195F-5766-82FD-AA049B270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84C08AB-6781-526C-0058-A63B7F2427D6}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68B7172-7154-70BC-532A-D03DE9AFFA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89FE6A18-0560-C5B7-7CFD-7853D4199A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1812D630-ACFB-076A-6A8B-EA0546ACE896}"/>
              </a:ext>
            </a:extLst>
          </p:cNvPr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7BB2D42-992F-23BE-8C1E-0ED39BE725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2" y="583200"/>
            <a:ext cx="10058400" cy="24128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0126E98-C118-AE5D-812D-75340150011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09F072F-75FA-4B85-39EB-1528986ED5AC}"/>
              </a:ext>
            </a:extLst>
          </p:cNvPr>
          <p:cNvSpPr txBox="1"/>
          <p:nvPr/>
        </p:nvSpPr>
        <p:spPr>
          <a:xfrm>
            <a:off x="3527143" y="1044705"/>
            <a:ext cx="478368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>
                <a:latin typeface="페이퍼로지 7 Bold" pitchFamily="2" charset="-127"/>
                <a:ea typeface="페이퍼로지 7 Bold" pitchFamily="2" charset="-127"/>
              </a:rPr>
              <a:t>구조 및 구현 내용 정리 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(</a:t>
            </a:r>
            <a:r>
              <a:rPr lang="ko-KR" altLang="en-US" sz="2000" dirty="0">
                <a:latin typeface="페이퍼로지 7 Bold" pitchFamily="2" charset="-127"/>
                <a:ea typeface="페이퍼로지 7 Bold" pitchFamily="2" charset="-127"/>
              </a:rPr>
              <a:t>기본 구조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9CC7A6-8C79-EBF9-6AC4-1F432A4EC5D8}"/>
              </a:ext>
            </a:extLst>
          </p:cNvPr>
          <p:cNvSpPr txBox="1"/>
          <p:nvPr/>
        </p:nvSpPr>
        <p:spPr>
          <a:xfrm>
            <a:off x="2564722" y="1814589"/>
            <a:ext cx="13147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클라이언트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8EC13B-5016-B26E-51D4-05C767EB746A}"/>
              </a:ext>
            </a:extLst>
          </p:cNvPr>
          <p:cNvSpPr txBox="1"/>
          <p:nvPr/>
        </p:nvSpPr>
        <p:spPr>
          <a:xfrm>
            <a:off x="3527143" y="3428997"/>
            <a:ext cx="135755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 err="1">
                <a:latin typeface="페이퍼로지 5 Medium" pitchFamily="2" charset="-127"/>
                <a:ea typeface="페이퍼로지 5 Medium" pitchFamily="2" charset="-127"/>
              </a:rPr>
              <a:t>GameClient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D17195-5A4E-4483-C44B-2737C34001F2}"/>
              </a:ext>
            </a:extLst>
          </p:cNvPr>
          <p:cNvSpPr txBox="1"/>
          <p:nvPr/>
        </p:nvSpPr>
        <p:spPr>
          <a:xfrm>
            <a:off x="6067690" y="3428997"/>
            <a:ext cx="141417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 err="1">
                <a:latin typeface="페이퍼로지 5 Medium" pitchFamily="2" charset="-127"/>
                <a:ea typeface="페이퍼로지 5 Medium" pitchFamily="2" charset="-127"/>
              </a:rPr>
              <a:t>GameServer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043551-6921-CB87-8EF0-B22AF35FBDC0}"/>
              </a:ext>
            </a:extLst>
          </p:cNvPr>
          <p:cNvSpPr txBox="1"/>
          <p:nvPr/>
        </p:nvSpPr>
        <p:spPr>
          <a:xfrm>
            <a:off x="1565224" y="2566210"/>
            <a:ext cx="118596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 err="1">
                <a:latin typeface="페이퍼로지 5 Medium" pitchFamily="2" charset="-127"/>
                <a:ea typeface="페이퍼로지 5 Medium" pitchFamily="2" charset="-127"/>
              </a:rPr>
              <a:t>HandCard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C36355-3B4D-F848-7447-9CD83034D256}"/>
              </a:ext>
            </a:extLst>
          </p:cNvPr>
          <p:cNvSpPr txBox="1"/>
          <p:nvPr/>
        </p:nvSpPr>
        <p:spPr>
          <a:xfrm>
            <a:off x="1469012" y="2959170"/>
            <a:ext cx="137839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 err="1">
                <a:latin typeface="페이퍼로지 5 Medium" pitchFamily="2" charset="-127"/>
                <a:ea typeface="페이퍼로지 5 Medium" pitchFamily="2" charset="-127"/>
              </a:rPr>
              <a:t>GameBoard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66CDFE-4C54-75B7-D71E-821ECD3515C4}"/>
              </a:ext>
            </a:extLst>
          </p:cNvPr>
          <p:cNvSpPr txBox="1"/>
          <p:nvPr/>
        </p:nvSpPr>
        <p:spPr>
          <a:xfrm>
            <a:off x="1639764" y="3352130"/>
            <a:ext cx="103688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Mulligan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AABE69-3BBE-6C90-842B-549A1D06CCC0}"/>
              </a:ext>
            </a:extLst>
          </p:cNvPr>
          <p:cNvSpPr txBox="1"/>
          <p:nvPr/>
        </p:nvSpPr>
        <p:spPr>
          <a:xfrm>
            <a:off x="1427623" y="3745089"/>
            <a:ext cx="146116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 err="1">
                <a:latin typeface="페이퍼로지 5 Medium" pitchFamily="2" charset="-127"/>
                <a:ea typeface="페이퍼로지 5 Medium" pitchFamily="2" charset="-127"/>
              </a:rPr>
              <a:t>CardSelector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7AD8EC5-776D-787C-3633-CA150BAAABBF}"/>
              </a:ext>
            </a:extLst>
          </p:cNvPr>
          <p:cNvSpPr txBox="1"/>
          <p:nvPr/>
        </p:nvSpPr>
        <p:spPr>
          <a:xfrm>
            <a:off x="2030890" y="4138048"/>
            <a:ext cx="2568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∙</a:t>
            </a:r>
            <a:endParaRPr lang="en-US" altLang="ko-KR" dirty="0"/>
          </a:p>
          <a:p>
            <a:pPr algn="ctr"/>
            <a:r>
              <a:rPr lang="ko-KR" altLang="en-US" dirty="0"/>
              <a:t>∙</a:t>
            </a:r>
            <a:endParaRPr lang="en-US" altLang="ko-KR" dirty="0"/>
          </a:p>
          <a:p>
            <a:pPr algn="ctr"/>
            <a:r>
              <a:rPr lang="ko-KR" altLang="en-US" dirty="0"/>
              <a:t>∙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D75D32-7A8B-2D39-43BD-35D7A1A26C81}"/>
              </a:ext>
            </a:extLst>
          </p:cNvPr>
          <p:cNvSpPr txBox="1"/>
          <p:nvPr/>
        </p:nvSpPr>
        <p:spPr>
          <a:xfrm>
            <a:off x="6022549" y="4276548"/>
            <a:ext cx="150445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Node </a:t>
            </a:r>
            <a:r>
              <a:rPr lang="en-US" altLang="ko-KR" sz="1500" dirty="0" err="1">
                <a:latin typeface="페이퍼로지 5 Medium" pitchFamily="2" charset="-127"/>
                <a:ea typeface="페이퍼로지 5 Medium" pitchFamily="2" charset="-127"/>
              </a:rPr>
              <a:t>js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웹 서버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9ABA6D20-2377-193F-521C-5E5BA2E786DE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884672" y="2727792"/>
            <a:ext cx="642471" cy="86278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BD794DD0-2320-47CA-AC53-E03914D1F3A4}"/>
              </a:ext>
            </a:extLst>
          </p:cNvPr>
          <p:cNvCxnSpPr>
            <a:stCxn id="16" idx="3"/>
            <a:endCxn id="13" idx="1"/>
          </p:cNvCxnSpPr>
          <p:nvPr/>
        </p:nvCxnSpPr>
        <p:spPr>
          <a:xfrm>
            <a:off x="2847403" y="3120753"/>
            <a:ext cx="679740" cy="46982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2D04B7C5-1A2C-3460-4C33-43F32465F501}"/>
              </a:ext>
            </a:extLst>
          </p:cNvPr>
          <p:cNvCxnSpPr>
            <a:cxnSpLocks/>
          </p:cNvCxnSpPr>
          <p:nvPr/>
        </p:nvCxnSpPr>
        <p:spPr>
          <a:xfrm>
            <a:off x="2884672" y="3552534"/>
            <a:ext cx="642471" cy="380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6362DAD6-0489-3AC1-87AD-CDA1FEC9903D}"/>
              </a:ext>
            </a:extLst>
          </p:cNvPr>
          <p:cNvCxnSpPr/>
          <p:nvPr/>
        </p:nvCxnSpPr>
        <p:spPr>
          <a:xfrm>
            <a:off x="4953000" y="3590579"/>
            <a:ext cx="106954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60536B0-44EB-8D4C-CA7F-3F09833FC7C2}"/>
              </a:ext>
            </a:extLst>
          </p:cNvPr>
          <p:cNvCxnSpPr>
            <a:cxnSpLocks/>
          </p:cNvCxnSpPr>
          <p:nvPr/>
        </p:nvCxnSpPr>
        <p:spPr>
          <a:xfrm flipV="1">
            <a:off x="2933933" y="3590579"/>
            <a:ext cx="593210" cy="3451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011BB690-4267-0086-27C9-4458945F1014}"/>
              </a:ext>
            </a:extLst>
          </p:cNvPr>
          <p:cNvSpPr txBox="1"/>
          <p:nvPr/>
        </p:nvSpPr>
        <p:spPr>
          <a:xfrm>
            <a:off x="1572840" y="5134587"/>
            <a:ext cx="116249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 err="1">
                <a:latin typeface="페이퍼로지 5 Medium" pitchFamily="2" charset="-127"/>
                <a:ea typeface="페이퍼로지 5 Medium" pitchFamily="2" charset="-127"/>
              </a:rPr>
              <a:t>BoardSlot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C0501443-CC97-42B7-7DA4-A6AD2605CCBF}"/>
              </a:ext>
            </a:extLst>
          </p:cNvPr>
          <p:cNvCxnSpPr>
            <a:cxnSpLocks/>
            <a:endCxn id="13" idx="1"/>
          </p:cNvCxnSpPr>
          <p:nvPr/>
        </p:nvCxnSpPr>
        <p:spPr>
          <a:xfrm flipV="1">
            <a:off x="2810133" y="3590580"/>
            <a:ext cx="717010" cy="170558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2EDBB25-AE53-0B6A-AA22-2939B2FC3ECA}"/>
              </a:ext>
            </a:extLst>
          </p:cNvPr>
          <p:cNvSpPr txBox="1"/>
          <p:nvPr/>
        </p:nvSpPr>
        <p:spPr>
          <a:xfrm>
            <a:off x="7481860" y="1803582"/>
            <a:ext cx="6367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>
                <a:latin typeface="페이퍼로지 5 Medium" pitchFamily="2" charset="-127"/>
                <a:ea typeface="페이퍼로지 5 Medium" pitchFamily="2" charset="-127"/>
              </a:rPr>
              <a:t>서버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54164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2630</TotalTime>
  <Words>627</Words>
  <Application>Microsoft Office PowerPoint</Application>
  <PresentationFormat>와이드스크린</PresentationFormat>
  <Paragraphs>107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맑은 고딕</vt:lpstr>
      <vt:lpstr>페이퍼로지 5 Medium</vt:lpstr>
      <vt:lpstr>페이퍼로지 7 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KGA</dc:creator>
  <cp:lastModifiedBy>준석 송</cp:lastModifiedBy>
  <cp:revision>15</cp:revision>
  <dcterms:created xsi:type="dcterms:W3CDTF">2025-11-07T02:40:06Z</dcterms:created>
  <dcterms:modified xsi:type="dcterms:W3CDTF">2025-11-09T04:57:44Z</dcterms:modified>
</cp:coreProperties>
</file>