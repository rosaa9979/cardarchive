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1938"/>
    <a:srgbClr val="B0D4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5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72" y="3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2A85E-2D82-4CB4-9990-4E96C522C8AA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F1BEB-758D-4CE5-8778-EBABFADB9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554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2A85E-2D82-4CB4-9990-4E96C522C8AA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F1BEB-758D-4CE5-8778-EBABFADB9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8914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2A85E-2D82-4CB4-9990-4E96C522C8AA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F1BEB-758D-4CE5-8778-EBABFADB9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4474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2A85E-2D82-4CB4-9990-4E96C522C8AA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F1BEB-758D-4CE5-8778-EBABFADB9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9790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2A85E-2D82-4CB4-9990-4E96C522C8AA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F1BEB-758D-4CE5-8778-EBABFADB9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5064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2A85E-2D82-4CB4-9990-4E96C522C8AA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F1BEB-758D-4CE5-8778-EBABFADB9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70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2A85E-2D82-4CB4-9990-4E96C522C8AA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F1BEB-758D-4CE5-8778-EBABFADB9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8041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2A85E-2D82-4CB4-9990-4E96C522C8AA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F1BEB-758D-4CE5-8778-EBABFADB9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7308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2A85E-2D82-4CB4-9990-4E96C522C8AA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F1BEB-758D-4CE5-8778-EBABFADB9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1405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2A85E-2D82-4CB4-9990-4E96C522C8AA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F1BEB-758D-4CE5-8778-EBABFADB9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665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2A85E-2D82-4CB4-9990-4E96C522C8AA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F1BEB-758D-4CE5-8778-EBABFADB9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1252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E2A85E-2D82-4CB4-9990-4E96C522C8AA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5F1BEB-758D-4CE5-8778-EBABFADB9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2823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4.png"/><Relationship Id="rId5" Type="http://schemas.openxmlformats.org/officeDocument/2006/relationships/image" Target="../media/image7.png"/><Relationship Id="rId10" Type="http://schemas.openxmlformats.org/officeDocument/2006/relationships/image" Target="../media/image13.png"/><Relationship Id="rId4" Type="http://schemas.openxmlformats.org/officeDocument/2006/relationships/image" Target="../media/image6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6063884"/>
            <a:ext cx="9144000" cy="442424"/>
          </a:xfrm>
        </p:spPr>
        <p:txBody>
          <a:bodyPr/>
          <a:lstStyle/>
          <a:p>
            <a:r>
              <a:rPr lang="ko-KR" altLang="en-US" dirty="0" err="1" smtClean="0">
                <a:latin typeface="페이퍼로지 5 Medium" pitchFamily="2" charset="-127"/>
                <a:ea typeface="페이퍼로지 5 Medium" pitchFamily="2" charset="-127"/>
              </a:rPr>
              <a:t>언리얼</a:t>
            </a:r>
            <a:r>
              <a:rPr lang="ko-KR" altLang="en-US" dirty="0" smtClean="0"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dirty="0" smtClean="0">
                <a:latin typeface="페이퍼로지 5 Medium" pitchFamily="2" charset="-127"/>
                <a:ea typeface="페이퍼로지 5 Medium" pitchFamily="2" charset="-127"/>
              </a:rPr>
              <a:t>5</a:t>
            </a:r>
            <a:r>
              <a:rPr lang="ko-KR" altLang="en-US" dirty="0" smtClean="0">
                <a:latin typeface="페이퍼로지 5 Medium" pitchFamily="2" charset="-127"/>
                <a:ea typeface="페이퍼로지 5 Medium" pitchFamily="2" charset="-127"/>
              </a:rPr>
              <a:t>기 </a:t>
            </a:r>
            <a:r>
              <a:rPr lang="ko-KR" altLang="en-US" dirty="0" err="1" smtClean="0">
                <a:latin typeface="페이퍼로지 5 Medium" pitchFamily="2" charset="-127"/>
                <a:ea typeface="페이퍼로지 5 Medium" pitchFamily="2" charset="-127"/>
              </a:rPr>
              <a:t>송준석</a:t>
            </a:r>
            <a:endParaRPr lang="ko-KR" altLang="en-US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9600" y="0"/>
            <a:ext cx="8932800" cy="3311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215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3742" y="6109899"/>
            <a:ext cx="2018259" cy="748101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268" y="1289013"/>
            <a:ext cx="7741466" cy="427997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953352" y="2709495"/>
            <a:ext cx="628529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dirty="0" smtClean="0">
                <a:solidFill>
                  <a:srgbClr val="171938"/>
                </a:solidFill>
                <a:latin typeface="페이퍼로지 5 Medium" pitchFamily="2" charset="-127"/>
                <a:ea typeface="페이퍼로지 5 Medium" pitchFamily="2" charset="-127"/>
              </a:rPr>
              <a:t>프로젝트 개요</a:t>
            </a:r>
            <a:endParaRPr lang="en-US" altLang="ko-KR" sz="2500" dirty="0" smtClean="0">
              <a:solidFill>
                <a:srgbClr val="171938"/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dirty="0" smtClean="0">
                <a:solidFill>
                  <a:srgbClr val="171938"/>
                </a:solidFill>
                <a:latin typeface="페이퍼로지 5 Medium" pitchFamily="2" charset="-127"/>
                <a:ea typeface="페이퍼로지 5 Medium" pitchFamily="2" charset="-127"/>
              </a:rPr>
              <a:t>게임 소개 및 규칙 설명</a:t>
            </a:r>
            <a:endParaRPr lang="en-US" altLang="ko-KR" sz="2500" dirty="0" smtClean="0">
              <a:solidFill>
                <a:srgbClr val="171938"/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dirty="0" smtClean="0">
                <a:solidFill>
                  <a:srgbClr val="171938"/>
                </a:solidFill>
                <a:latin typeface="페이퍼로지 5 Medium" pitchFamily="2" charset="-127"/>
                <a:ea typeface="페이퍼로지 5 Medium" pitchFamily="2" charset="-127"/>
              </a:rPr>
              <a:t>진행 방식 및 조작 방법</a:t>
            </a:r>
            <a:endParaRPr lang="en-US" altLang="ko-KR" sz="2500" dirty="0" smtClean="0">
              <a:solidFill>
                <a:srgbClr val="171938"/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dirty="0" smtClean="0">
                <a:solidFill>
                  <a:srgbClr val="171938"/>
                </a:solidFill>
                <a:latin typeface="페이퍼로지 5 Medium" pitchFamily="2" charset="-127"/>
                <a:ea typeface="페이퍼로지 5 Medium" pitchFamily="2" charset="-127"/>
              </a:rPr>
              <a:t>구조 소개 및 구현 내용 정리</a:t>
            </a:r>
            <a:endParaRPr lang="ko-KR" altLang="en-US" sz="2500" dirty="0">
              <a:solidFill>
                <a:srgbClr val="171938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3" name="순서도: 수행의 시작/종료 12"/>
          <p:cNvSpPr/>
          <p:nvPr/>
        </p:nvSpPr>
        <p:spPr>
          <a:xfrm>
            <a:off x="4935352" y="1539273"/>
            <a:ext cx="2321294" cy="660867"/>
          </a:xfrm>
          <a:prstGeom prst="flowChartTerminator">
            <a:avLst/>
          </a:prstGeom>
          <a:solidFill>
            <a:srgbClr val="171938"/>
          </a:solidFill>
          <a:ln>
            <a:solidFill>
              <a:srgbClr val="1719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5626961" y="1592708"/>
            <a:ext cx="93807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000" spc="300" dirty="0" smtClean="0">
                <a:solidFill>
                  <a:srgbClr val="B0D4F0"/>
                </a:solidFill>
                <a:latin typeface="페이퍼로지 7 Bold" pitchFamily="2" charset="-127"/>
                <a:ea typeface="페이퍼로지 7 Bold" pitchFamily="2" charset="-127"/>
              </a:rPr>
              <a:t>목차</a:t>
            </a:r>
            <a:endParaRPr lang="ko-KR" altLang="en-US" sz="3000" spc="300" dirty="0">
              <a:solidFill>
                <a:srgbClr val="B0D4F0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42527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807" y="215886"/>
            <a:ext cx="10962385" cy="6426225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72" y="420765"/>
            <a:ext cx="10259420" cy="601646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2466" y="3238524"/>
            <a:ext cx="380952" cy="380952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826611" y="464400"/>
            <a:ext cx="10184741" cy="4809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781" y="584226"/>
            <a:ext cx="10058400" cy="24128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0433" y="5689129"/>
            <a:ext cx="2018259" cy="74810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946485" y="1044000"/>
            <a:ext cx="229902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000" dirty="0" smtClean="0">
                <a:latin typeface="페이퍼로지 7 Bold" pitchFamily="2" charset="-127"/>
                <a:ea typeface="페이퍼로지 7 Bold" pitchFamily="2" charset="-127"/>
              </a:rPr>
              <a:t>프로젝트 개요</a:t>
            </a:r>
            <a:endParaRPr lang="ko-KR" altLang="en-US" sz="3000" dirty="0"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69535" y="1628254"/>
            <a:ext cx="9115124" cy="4362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 smtClean="0">
                <a:latin typeface="페이퍼로지 5 Medium" pitchFamily="2" charset="-127"/>
                <a:ea typeface="페이퍼로지 5 Medium" pitchFamily="2" charset="-127"/>
              </a:rPr>
              <a:t>프로젝트 이름</a:t>
            </a:r>
            <a:endParaRPr lang="en-US" altLang="ko-KR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 smtClean="0">
                <a:latin typeface="페이퍼로지 5 Medium" pitchFamily="2" charset="-127"/>
                <a:ea typeface="페이퍼로지 5 Medium" pitchFamily="2" charset="-127"/>
              </a:rPr>
              <a:t>카드아카이브 </a:t>
            </a:r>
            <a:r>
              <a:rPr lang="en-US" altLang="ko-KR" sz="1500" dirty="0" smtClean="0"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1500" dirty="0" smtClean="0">
                <a:latin typeface="페이퍼로지 5 Medium" pitchFamily="2" charset="-127"/>
                <a:ea typeface="페이퍼로지 5 Medium" pitchFamily="2" charset="-127"/>
              </a:rPr>
              <a:t>블루아카이브 </a:t>
            </a:r>
            <a:r>
              <a:rPr lang="en-US" altLang="ko-KR" sz="1500" dirty="0" smtClean="0">
                <a:latin typeface="페이퍼로지 5 Medium" pitchFamily="2" charset="-127"/>
                <a:ea typeface="페이퍼로지 5 Medium" pitchFamily="2" charset="-127"/>
              </a:rPr>
              <a:t>2</a:t>
            </a:r>
            <a:r>
              <a:rPr lang="ko-KR" altLang="en-US" sz="1500" dirty="0" smtClean="0">
                <a:latin typeface="페이퍼로지 5 Medium" pitchFamily="2" charset="-127"/>
                <a:ea typeface="페이퍼로지 5 Medium" pitchFamily="2" charset="-127"/>
              </a:rPr>
              <a:t>차 창작 </a:t>
            </a:r>
            <a:r>
              <a:rPr lang="ko-KR" altLang="en-US" sz="1500" dirty="0" err="1" smtClean="0">
                <a:latin typeface="페이퍼로지 5 Medium" pitchFamily="2" charset="-127"/>
                <a:ea typeface="페이퍼로지 5 Medium" pitchFamily="2" charset="-127"/>
              </a:rPr>
              <a:t>팬게임</a:t>
            </a:r>
            <a:r>
              <a:rPr lang="en-US" altLang="ko-KR" sz="1500" dirty="0" smtClean="0">
                <a:latin typeface="페이퍼로지 5 Medium" pitchFamily="2" charset="-127"/>
                <a:ea typeface="페이퍼로지 5 Medium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000" dirty="0" smtClean="0">
                <a:latin typeface="페이퍼로지 5 Medium" pitchFamily="2" charset="-127"/>
                <a:ea typeface="페이퍼로지 5 Medium" pitchFamily="2" charset="-127"/>
              </a:rPr>
              <a:t>프로젝트 기간</a:t>
            </a:r>
            <a:endParaRPr lang="en-US" altLang="ko-KR" sz="2000" dirty="0" smtClean="0">
              <a:latin typeface="페이퍼로지 5 Medium" pitchFamily="2" charset="-127"/>
              <a:ea typeface="페이퍼로지 5 Medium" pitchFamily="2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 smtClean="0">
                <a:latin typeface="페이퍼로지 5 Medium" pitchFamily="2" charset="-127"/>
                <a:ea typeface="페이퍼로지 5 Medium" pitchFamily="2" charset="-127"/>
              </a:rPr>
              <a:t>기획 </a:t>
            </a:r>
            <a:r>
              <a:rPr lang="en-US" altLang="ko-KR" sz="1500" dirty="0" smtClean="0">
                <a:latin typeface="페이퍼로지 5 Medium" pitchFamily="2" charset="-127"/>
                <a:ea typeface="페이퍼로지 5 Medium" pitchFamily="2" charset="-127"/>
              </a:rPr>
              <a:t>: 2023.10 ~ 2024.06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 smtClean="0">
                <a:latin typeface="페이퍼로지 5 Medium" pitchFamily="2" charset="-127"/>
                <a:ea typeface="페이퍼로지 5 Medium" pitchFamily="2" charset="-127"/>
              </a:rPr>
              <a:t>개발 </a:t>
            </a:r>
            <a:r>
              <a:rPr lang="en-US" altLang="ko-KR" sz="1500" dirty="0" smtClean="0">
                <a:latin typeface="페이퍼로지 5 Medium" pitchFamily="2" charset="-127"/>
                <a:ea typeface="페이퍼로지 5 Medium" pitchFamily="2" charset="-127"/>
              </a:rPr>
              <a:t>: 2024.06 ~ 2025.11</a:t>
            </a:r>
          </a:p>
          <a:p>
            <a:pPr>
              <a:lnSpc>
                <a:spcPct val="150000"/>
              </a:lnSpc>
            </a:pPr>
            <a:r>
              <a:rPr lang="ko-KR" altLang="en-US" sz="2000" dirty="0" smtClean="0">
                <a:latin typeface="페이퍼로지 5 Medium" pitchFamily="2" charset="-127"/>
                <a:ea typeface="페이퍼로지 5 Medium" pitchFamily="2" charset="-127"/>
              </a:rPr>
              <a:t>프로젝트 인원</a:t>
            </a:r>
            <a:endParaRPr lang="en-US" altLang="ko-KR" sz="2000" dirty="0" smtClean="0">
              <a:latin typeface="페이퍼로지 5 Medium" pitchFamily="2" charset="-127"/>
              <a:ea typeface="페이퍼로지 5 Medium" pitchFamily="2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00" dirty="0" smtClean="0">
                <a:latin typeface="페이퍼로지 5 Medium" pitchFamily="2" charset="-127"/>
                <a:ea typeface="페이퍼로지 5 Medium" pitchFamily="2" charset="-127"/>
              </a:rPr>
              <a:t>1</a:t>
            </a:r>
            <a:r>
              <a:rPr lang="ko-KR" altLang="en-US" sz="1500" dirty="0" smtClean="0">
                <a:latin typeface="페이퍼로지 5 Medium" pitchFamily="2" charset="-127"/>
                <a:ea typeface="페이퍼로지 5 Medium" pitchFamily="2" charset="-127"/>
              </a:rPr>
              <a:t>인 프로젝트</a:t>
            </a:r>
            <a:endParaRPr lang="en-US" altLang="ko-KR" sz="1500" dirty="0" smtClean="0">
              <a:latin typeface="페이퍼로지 5 Medium" pitchFamily="2" charset="-127"/>
              <a:ea typeface="페이퍼로지 5 Medium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 smtClean="0">
                <a:latin typeface="페이퍼로지 5 Medium" pitchFamily="2" charset="-127"/>
                <a:ea typeface="페이퍼로지 5 Medium" pitchFamily="2" charset="-127"/>
              </a:rPr>
              <a:t>맡은 역할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 smtClean="0">
                <a:latin typeface="페이퍼로지 5 Medium" pitchFamily="2" charset="-127"/>
                <a:ea typeface="페이퍼로지 5 Medium" pitchFamily="2" charset="-127"/>
              </a:rPr>
              <a:t>기획 </a:t>
            </a:r>
            <a:r>
              <a:rPr lang="en-US" altLang="ko-KR" sz="1500" dirty="0" smtClean="0"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1500" dirty="0" smtClean="0">
                <a:latin typeface="페이퍼로지 5 Medium" pitchFamily="2" charset="-127"/>
                <a:ea typeface="페이퍼로지 5 Medium" pitchFamily="2" charset="-127"/>
              </a:rPr>
              <a:t>시스템 기획</a:t>
            </a:r>
            <a:r>
              <a:rPr lang="en-US" altLang="ko-KR" sz="1500" dirty="0" smtClean="0">
                <a:latin typeface="페이퍼로지 5 Medium" pitchFamily="2" charset="-127"/>
                <a:ea typeface="페이퍼로지 5 Medium" pitchFamily="2" charset="-127"/>
              </a:rPr>
              <a:t>, UI/UX </a:t>
            </a:r>
            <a:r>
              <a:rPr lang="ko-KR" altLang="en-US" sz="1500" dirty="0" smtClean="0">
                <a:latin typeface="페이퍼로지 5 Medium" pitchFamily="2" charset="-127"/>
                <a:ea typeface="페이퍼로지 5 Medium" pitchFamily="2" charset="-127"/>
              </a:rPr>
              <a:t>기획</a:t>
            </a:r>
            <a:r>
              <a:rPr lang="en-US" altLang="ko-KR" sz="1500" dirty="0" smtClean="0"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500" dirty="0" smtClean="0">
                <a:latin typeface="페이퍼로지 5 Medium" pitchFamily="2" charset="-127"/>
                <a:ea typeface="페이퍼로지 5 Medium" pitchFamily="2" charset="-127"/>
              </a:rPr>
              <a:t>카드 기획</a:t>
            </a:r>
            <a:r>
              <a:rPr lang="en-US" altLang="ko-KR" sz="1500" dirty="0" smtClean="0"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500" dirty="0" smtClean="0">
                <a:latin typeface="페이퍼로지 5 Medium" pitchFamily="2" charset="-127"/>
                <a:ea typeface="페이퍼로지 5 Medium" pitchFamily="2" charset="-127"/>
              </a:rPr>
              <a:t>밸런스</a:t>
            </a:r>
            <a:r>
              <a:rPr lang="en-US" altLang="ko-KR" sz="1500" dirty="0" smtClean="0">
                <a:latin typeface="페이퍼로지 5 Medium" pitchFamily="2" charset="-127"/>
                <a:ea typeface="페이퍼로지 5 Medium" pitchFamily="2" charset="-127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 smtClean="0">
                <a:latin typeface="페이퍼로지 5 Medium" pitchFamily="2" charset="-127"/>
                <a:ea typeface="페이퍼로지 5 Medium" pitchFamily="2" charset="-127"/>
              </a:rPr>
              <a:t>개발 </a:t>
            </a:r>
            <a:r>
              <a:rPr lang="en-US" altLang="ko-KR" sz="1500" dirty="0" smtClean="0"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1500" dirty="0" smtClean="0">
                <a:latin typeface="페이퍼로지 5 Medium" pitchFamily="2" charset="-127"/>
                <a:ea typeface="페이퍼로지 5 Medium" pitchFamily="2" charset="-127"/>
              </a:rPr>
              <a:t>시스템 구현 및 </a:t>
            </a:r>
            <a:r>
              <a:rPr lang="ko-KR" altLang="en-US" sz="1500" dirty="0" err="1" smtClean="0">
                <a:latin typeface="페이퍼로지 5 Medium" pitchFamily="2" charset="-127"/>
                <a:ea typeface="페이퍼로지 5 Medium" pitchFamily="2" charset="-127"/>
              </a:rPr>
              <a:t>로직</a:t>
            </a:r>
            <a:r>
              <a:rPr lang="ko-KR" altLang="en-US" sz="1500" dirty="0" smtClean="0"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1500" dirty="0" err="1" smtClean="0">
                <a:latin typeface="페이퍼로지 5 Medium" pitchFamily="2" charset="-127"/>
                <a:ea typeface="페이퍼로지 5 Medium" pitchFamily="2" charset="-127"/>
              </a:rPr>
              <a:t>리팩토링</a:t>
            </a:r>
            <a:r>
              <a:rPr lang="en-US" altLang="ko-KR" sz="1500" dirty="0" smtClean="0">
                <a:latin typeface="페이퍼로지 5 Medium" pitchFamily="2" charset="-127"/>
                <a:ea typeface="페이퍼로지 5 Medium" pitchFamily="2" charset="-127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 smtClean="0">
                <a:latin typeface="페이퍼로지 5 Medium" pitchFamily="2" charset="-127"/>
                <a:ea typeface="페이퍼로지 5 Medium" pitchFamily="2" charset="-127"/>
              </a:rPr>
              <a:t>리소스 아웃소싱 </a:t>
            </a:r>
            <a:r>
              <a:rPr lang="en-US" altLang="ko-KR" sz="1500" dirty="0" smtClean="0"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1500" dirty="0" smtClean="0">
                <a:latin typeface="페이퍼로지 5 Medium" pitchFamily="2" charset="-127"/>
                <a:ea typeface="페이퍼로지 5 Medium" pitchFamily="2" charset="-127"/>
              </a:rPr>
              <a:t>외주 디자이너 </a:t>
            </a:r>
            <a:r>
              <a:rPr lang="ko-KR" altLang="en-US" sz="1500" dirty="0" err="1" smtClean="0">
                <a:latin typeface="페이퍼로지 5 Medium" pitchFamily="2" charset="-127"/>
                <a:ea typeface="페이퍼로지 5 Medium" pitchFamily="2" charset="-127"/>
              </a:rPr>
              <a:t>컨택</a:t>
            </a:r>
            <a:r>
              <a:rPr lang="en-US" altLang="ko-KR" sz="1500" dirty="0" smtClean="0"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500" dirty="0" smtClean="0">
                <a:latin typeface="페이퍼로지 5 Medium" pitchFamily="2" charset="-127"/>
                <a:ea typeface="페이퍼로지 5 Medium" pitchFamily="2" charset="-127"/>
              </a:rPr>
              <a:t>디자인 요청 및 품질 검수</a:t>
            </a:r>
            <a:r>
              <a:rPr lang="en-US" altLang="ko-KR" sz="1500" dirty="0" smtClean="0">
                <a:latin typeface="페이퍼로지 5 Medium" pitchFamily="2" charset="-127"/>
                <a:ea typeface="페이퍼로지 5 Medium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09865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807" y="215886"/>
            <a:ext cx="10962385" cy="6426225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72" y="420765"/>
            <a:ext cx="10259420" cy="601646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2466" y="3238524"/>
            <a:ext cx="380952" cy="380952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826611" y="464400"/>
            <a:ext cx="10184741" cy="4809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780" y="583200"/>
            <a:ext cx="10058400" cy="24128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0433" y="5689129"/>
            <a:ext cx="2018259" cy="74810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527143" y="1044705"/>
            <a:ext cx="478368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000" dirty="0" smtClean="0">
                <a:latin typeface="페이퍼로지 7 Bold" pitchFamily="2" charset="-127"/>
                <a:ea typeface="페이퍼로지 7 Bold" pitchFamily="2" charset="-127"/>
              </a:rPr>
              <a:t>게임 소개 및 규칙 설명 </a:t>
            </a:r>
            <a:r>
              <a:rPr lang="en-US" altLang="ko-KR" sz="2000" dirty="0" smtClean="0">
                <a:latin typeface="페이퍼로지 7 Bold" pitchFamily="2" charset="-127"/>
                <a:ea typeface="페이퍼로지 7 Bold" pitchFamily="2" charset="-127"/>
              </a:rPr>
              <a:t>(</a:t>
            </a:r>
            <a:r>
              <a:rPr lang="ko-KR" altLang="en-US" sz="2000" dirty="0" smtClean="0">
                <a:latin typeface="페이퍼로지 7 Bold" pitchFamily="2" charset="-127"/>
                <a:ea typeface="페이퍼로지 7 Bold" pitchFamily="2" charset="-127"/>
              </a:rPr>
              <a:t>기본 소개</a:t>
            </a:r>
            <a:r>
              <a:rPr lang="en-US" altLang="ko-KR" sz="2000" dirty="0" smtClean="0">
                <a:latin typeface="페이퍼로지 7 Bold" pitchFamily="2" charset="-127"/>
                <a:ea typeface="페이퍼로지 7 Bold" pitchFamily="2" charset="-127"/>
              </a:rPr>
              <a:t>)</a:t>
            </a:r>
            <a:endParaRPr lang="ko-KR" altLang="en-US" sz="2000" dirty="0"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76924" y="1716401"/>
            <a:ext cx="15969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 smtClean="0">
                <a:latin typeface="페이퍼로지 5 Medium" pitchFamily="2" charset="-127"/>
                <a:ea typeface="페이퍼로지 5 Medium" pitchFamily="2" charset="-127"/>
              </a:rPr>
              <a:t>레퍼런스 게임</a:t>
            </a:r>
            <a:endParaRPr lang="ko-KR" altLang="en-US" sz="20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4684" y="2834105"/>
            <a:ext cx="3283017" cy="1367924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3113" y="3030090"/>
            <a:ext cx="3485548" cy="97595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681043" y="4582080"/>
            <a:ext cx="6475875" cy="7374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500" dirty="0" smtClean="0">
                <a:latin typeface="페이퍼로지 5 Medium" pitchFamily="2" charset="-127"/>
                <a:ea typeface="페이퍼로지 5 Medium" pitchFamily="2" charset="-127"/>
              </a:rPr>
              <a:t>여러 시너지를 조합하여 </a:t>
            </a:r>
            <a:r>
              <a:rPr lang="ko-KR" altLang="en-US" sz="1500" dirty="0" err="1" smtClean="0">
                <a:latin typeface="페이퍼로지 5 Medium" pitchFamily="2" charset="-127"/>
                <a:ea typeface="페이퍼로지 5 Medium" pitchFamily="2" charset="-127"/>
              </a:rPr>
              <a:t>덱을</a:t>
            </a:r>
            <a:r>
              <a:rPr lang="ko-KR" altLang="en-US" sz="1500" dirty="0" smtClean="0">
                <a:latin typeface="페이퍼로지 5 Medium" pitchFamily="2" charset="-127"/>
                <a:ea typeface="페이퍼로지 5 Medium" pitchFamily="2" charset="-127"/>
              </a:rPr>
              <a:t> 편성하고</a:t>
            </a:r>
            <a:endParaRPr lang="en-US" altLang="ko-KR" sz="1500" dirty="0">
              <a:latin typeface="페이퍼로지 5 Medium" pitchFamily="2" charset="-127"/>
              <a:ea typeface="페이퍼로지 5 Medium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500" dirty="0" smtClean="0">
                <a:latin typeface="페이퍼로지 5 Medium" pitchFamily="2" charset="-127"/>
                <a:ea typeface="페이퍼로지 5 Medium" pitchFamily="2" charset="-127"/>
              </a:rPr>
              <a:t>유닛의 시너지와 사거리 및 다양한 카드의 효과를 통해 전장에서 승리하는 </a:t>
            </a:r>
            <a:r>
              <a:rPr lang="en-US" altLang="ko-KR" sz="1500" dirty="0" smtClean="0">
                <a:latin typeface="페이퍼로지 5 Medium" pitchFamily="2" charset="-127"/>
                <a:ea typeface="페이퍼로지 5 Medium" pitchFamily="2" charset="-127"/>
              </a:rPr>
              <a:t>TCG </a:t>
            </a:r>
            <a:r>
              <a:rPr lang="ko-KR" altLang="en-US" sz="1500" dirty="0" smtClean="0">
                <a:latin typeface="페이퍼로지 5 Medium" pitchFamily="2" charset="-127"/>
                <a:ea typeface="페이퍼로지 5 Medium" pitchFamily="2" charset="-127"/>
              </a:rPr>
              <a:t>게임</a:t>
            </a:r>
            <a:endParaRPr lang="ko-KR" altLang="en-US" sz="1500" dirty="0">
              <a:latin typeface="페이퍼로지 5 Medium" pitchFamily="2" charset="-127"/>
              <a:ea typeface="페이퍼로지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41370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807" y="215886"/>
            <a:ext cx="10962385" cy="6426225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72" y="420765"/>
            <a:ext cx="10259420" cy="601646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2466" y="3238524"/>
            <a:ext cx="380952" cy="380952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826611" y="464400"/>
            <a:ext cx="10184741" cy="4809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782" y="583200"/>
            <a:ext cx="10058400" cy="24128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0433" y="5689129"/>
            <a:ext cx="2018259" cy="74810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527140" y="1044705"/>
            <a:ext cx="478368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000" dirty="0" smtClean="0">
                <a:latin typeface="페이퍼로지 7 Bold" pitchFamily="2" charset="-127"/>
                <a:ea typeface="페이퍼로지 7 Bold" pitchFamily="2" charset="-127"/>
              </a:rPr>
              <a:t>게임 소개 및 규칙 설명 </a:t>
            </a:r>
            <a:r>
              <a:rPr lang="en-US" altLang="ko-KR" sz="2000" dirty="0" smtClean="0">
                <a:latin typeface="페이퍼로지 7 Bold" pitchFamily="2" charset="-127"/>
                <a:ea typeface="페이퍼로지 7 Bold" pitchFamily="2" charset="-127"/>
              </a:rPr>
              <a:t>(</a:t>
            </a:r>
            <a:r>
              <a:rPr lang="ko-KR" altLang="en-US" sz="2000" dirty="0" smtClean="0">
                <a:latin typeface="페이퍼로지 7 Bold" pitchFamily="2" charset="-127"/>
                <a:ea typeface="페이퍼로지 7 Bold" pitchFamily="2" charset="-127"/>
              </a:rPr>
              <a:t>기본 구조</a:t>
            </a:r>
            <a:r>
              <a:rPr lang="en-US" altLang="ko-KR" sz="2000" dirty="0" smtClean="0">
                <a:latin typeface="페이퍼로지 7 Bold" pitchFamily="2" charset="-127"/>
                <a:ea typeface="페이퍼로지 7 Bold" pitchFamily="2" charset="-127"/>
              </a:rPr>
              <a:t>)</a:t>
            </a:r>
            <a:endParaRPr lang="ko-KR" altLang="en-US" sz="2000" dirty="0"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05916" y="1708702"/>
            <a:ext cx="31774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 smtClean="0">
                <a:latin typeface="페이퍼로지 5 Medium" pitchFamily="2" charset="-127"/>
                <a:ea typeface="페이퍼로지 5 Medium" pitchFamily="2" charset="-127"/>
              </a:rPr>
              <a:t>게임의 </a:t>
            </a:r>
            <a:r>
              <a:rPr lang="ko-KR" altLang="en-US" sz="2000" dirty="0" smtClean="0">
                <a:latin typeface="페이퍼로지 5 Medium" pitchFamily="2" charset="-127"/>
                <a:ea typeface="페이퍼로지 5 Medium" pitchFamily="2" charset="-127"/>
              </a:rPr>
              <a:t>기본 구조 및 승리 조건</a:t>
            </a:r>
            <a:endParaRPr lang="ko-KR" altLang="en-US" sz="2400" dirty="0" smtClean="0">
              <a:latin typeface="페이퍼로지 5 Medium" pitchFamily="2" charset="-127"/>
              <a:ea typeface="페이퍼로지 5 Medium" pitchFamily="2" charset="-127"/>
            </a:endParaRPr>
          </a:p>
          <a:p>
            <a:endParaRPr lang="ko-KR" altLang="en-US" sz="20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84537" y="2146533"/>
            <a:ext cx="7443063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 smtClean="0">
                <a:latin typeface="페이퍼로지 5 Medium" pitchFamily="2" charset="-127"/>
                <a:ea typeface="페이퍼로지 5 Medium" pitchFamily="2" charset="-127"/>
              </a:rPr>
              <a:t>플레이어는 자신의 차례 시작 시 보충되는 </a:t>
            </a:r>
            <a:r>
              <a:rPr lang="ko-KR" altLang="en-US" sz="1500" dirty="0" err="1" smtClean="0">
                <a:latin typeface="페이퍼로지 5 Medium" pitchFamily="2" charset="-127"/>
                <a:ea typeface="페이퍼로지 5 Medium" pitchFamily="2" charset="-127"/>
              </a:rPr>
              <a:t>청휘석을</a:t>
            </a:r>
            <a:r>
              <a:rPr lang="ko-KR" altLang="en-US" sz="1500" dirty="0" smtClean="0">
                <a:latin typeface="페이퍼로지 5 Medium" pitchFamily="2" charset="-127"/>
                <a:ea typeface="페이퍼로지 5 Medium" pitchFamily="2" charset="-127"/>
              </a:rPr>
              <a:t> 사용하여 카드를 사용한다</a:t>
            </a:r>
            <a:r>
              <a:rPr lang="en-US" altLang="ko-KR" sz="1500" dirty="0" smtClean="0">
                <a:latin typeface="페이퍼로지 5 Medium" pitchFamily="2" charset="-127"/>
                <a:ea typeface="페이퍼로지 5 Medium" pitchFamily="2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 smtClean="0">
                <a:latin typeface="페이퍼로지 5 Medium" pitchFamily="2" charset="-127"/>
                <a:ea typeface="페이퍼로지 5 Medium" pitchFamily="2" charset="-127"/>
              </a:rPr>
              <a:t>다양한 카드의 효과와 배치되는 유닛을 통해</a:t>
            </a:r>
            <a:r>
              <a:rPr lang="en-US" altLang="ko-KR" sz="1500" dirty="0" smtClean="0"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500" dirty="0" smtClean="0">
                <a:latin typeface="페이퍼로지 5 Medium" pitchFamily="2" charset="-127"/>
                <a:ea typeface="페이퍼로지 5 Medium" pitchFamily="2" charset="-127"/>
              </a:rPr>
              <a:t>상대 플레이어의 체력을 </a:t>
            </a:r>
            <a:r>
              <a:rPr lang="en-US" altLang="ko-KR" sz="1500" dirty="0" smtClean="0">
                <a:latin typeface="페이퍼로지 5 Medium" pitchFamily="2" charset="-127"/>
                <a:ea typeface="페이퍼로지 5 Medium" pitchFamily="2" charset="-127"/>
              </a:rPr>
              <a:t>0</a:t>
            </a:r>
            <a:r>
              <a:rPr lang="ko-KR" altLang="en-US" sz="1500" dirty="0" smtClean="0">
                <a:latin typeface="페이퍼로지 5 Medium" pitchFamily="2" charset="-127"/>
                <a:ea typeface="페이퍼로지 5 Medium" pitchFamily="2" charset="-127"/>
              </a:rPr>
              <a:t>으로 만들면 승리한다</a:t>
            </a:r>
            <a:r>
              <a:rPr lang="en-US" altLang="ko-KR" sz="1500" dirty="0" smtClean="0">
                <a:latin typeface="페이퍼로지 5 Medium" pitchFamily="2" charset="-127"/>
                <a:ea typeface="페이퍼로지 5 Medium" pitchFamily="2" charset="-127"/>
              </a:rPr>
              <a:t>.</a:t>
            </a:r>
            <a:endParaRPr lang="ko-KR" altLang="en-US" sz="1500" dirty="0" smtClean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505916" y="3146889"/>
            <a:ext cx="51539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 err="1" smtClean="0">
                <a:latin typeface="페이퍼로지 5 Medium" pitchFamily="2" charset="-127"/>
                <a:ea typeface="페이퍼로지 5 Medium" pitchFamily="2" charset="-127"/>
              </a:rPr>
              <a:t>청휘석</a:t>
            </a:r>
            <a:r>
              <a:rPr lang="ko-KR" altLang="en-US" sz="2000" dirty="0" smtClean="0">
                <a:latin typeface="페이퍼로지 5 Medium" pitchFamily="2" charset="-127"/>
                <a:ea typeface="페이퍼로지 5 Medium" pitchFamily="2" charset="-127"/>
              </a:rPr>
              <a:t> 개요 및 </a:t>
            </a:r>
            <a:r>
              <a:rPr lang="ko-KR" altLang="en-US" sz="2000" dirty="0" err="1" smtClean="0">
                <a:latin typeface="페이퍼로지 5 Medium" pitchFamily="2" charset="-127"/>
                <a:ea typeface="페이퍼로지 5 Medium" pitchFamily="2" charset="-127"/>
              </a:rPr>
              <a:t>청휘석을</a:t>
            </a:r>
            <a:r>
              <a:rPr lang="ko-KR" altLang="en-US" sz="2000" dirty="0" smtClean="0">
                <a:latin typeface="페이퍼로지 5 Medium" pitchFamily="2" charset="-127"/>
                <a:ea typeface="페이퍼로지 5 Medium" pitchFamily="2" charset="-127"/>
              </a:rPr>
              <a:t> 활용할 수 있는 행동 종류</a:t>
            </a:r>
            <a:endParaRPr lang="ko-KR" altLang="en-US" sz="20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684537" y="3584720"/>
            <a:ext cx="874790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 err="1" smtClean="0">
                <a:latin typeface="페이퍼로지 5 Medium" pitchFamily="2" charset="-127"/>
                <a:ea typeface="페이퍼로지 5 Medium" pitchFamily="2" charset="-127"/>
              </a:rPr>
              <a:t>청휘석은</a:t>
            </a:r>
            <a:r>
              <a:rPr lang="ko-KR" altLang="en-US" sz="1500" dirty="0" smtClean="0"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500" dirty="0" smtClean="0">
                <a:latin typeface="페이퍼로지 5 Medium" pitchFamily="2" charset="-127"/>
                <a:ea typeface="페이퍼로지 5 Medium" pitchFamily="2" charset="-127"/>
              </a:rPr>
              <a:t>1</a:t>
            </a:r>
            <a:r>
              <a:rPr lang="ko-KR" altLang="en-US" sz="1500" dirty="0" smtClean="0">
                <a:latin typeface="페이퍼로지 5 Medium" pitchFamily="2" charset="-127"/>
                <a:ea typeface="페이퍼로지 5 Medium" pitchFamily="2" charset="-127"/>
              </a:rPr>
              <a:t>개부터 시작해서</a:t>
            </a:r>
            <a:r>
              <a:rPr lang="en-US" altLang="ko-KR" sz="1500" dirty="0" smtClean="0"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500" dirty="0" smtClean="0">
                <a:latin typeface="페이퍼로지 5 Medium" pitchFamily="2" charset="-127"/>
                <a:ea typeface="페이퍼로지 5 Medium" pitchFamily="2" charset="-127"/>
              </a:rPr>
              <a:t>자신의 차례 </a:t>
            </a:r>
            <a:r>
              <a:rPr lang="ko-KR" altLang="en-US" sz="1500" dirty="0" err="1" smtClean="0">
                <a:latin typeface="페이퍼로지 5 Medium" pitchFamily="2" charset="-127"/>
                <a:ea typeface="페이퍼로지 5 Medium" pitchFamily="2" charset="-127"/>
              </a:rPr>
              <a:t>시작마다</a:t>
            </a:r>
            <a:r>
              <a:rPr lang="ko-KR" altLang="en-US" sz="1500" dirty="0" smtClean="0">
                <a:latin typeface="페이퍼로지 5 Medium" pitchFamily="2" charset="-127"/>
                <a:ea typeface="페이퍼로지 5 Medium" pitchFamily="2" charset="-127"/>
              </a:rPr>
              <a:t> 최대 </a:t>
            </a:r>
            <a:r>
              <a:rPr lang="en-US" altLang="ko-KR" sz="1500" dirty="0" smtClean="0">
                <a:latin typeface="페이퍼로지 5 Medium" pitchFamily="2" charset="-127"/>
                <a:ea typeface="페이퍼로지 5 Medium" pitchFamily="2" charset="-127"/>
              </a:rPr>
              <a:t>10</a:t>
            </a:r>
            <a:r>
              <a:rPr lang="ko-KR" altLang="en-US" sz="1500" dirty="0" smtClean="0">
                <a:latin typeface="페이퍼로지 5 Medium" pitchFamily="2" charset="-127"/>
                <a:ea typeface="페이퍼로지 5 Medium" pitchFamily="2" charset="-127"/>
              </a:rPr>
              <a:t>개까지 최대 </a:t>
            </a:r>
            <a:r>
              <a:rPr lang="ko-KR" altLang="en-US" sz="1500" dirty="0" err="1" smtClean="0">
                <a:latin typeface="페이퍼로지 5 Medium" pitchFamily="2" charset="-127"/>
                <a:ea typeface="페이퍼로지 5 Medium" pitchFamily="2" charset="-127"/>
              </a:rPr>
              <a:t>청휘석이</a:t>
            </a:r>
            <a:r>
              <a:rPr lang="ko-KR" altLang="en-US" sz="1500" dirty="0" smtClean="0">
                <a:latin typeface="페이퍼로지 5 Medium" pitchFamily="2" charset="-127"/>
                <a:ea typeface="페이퍼로지 5 Medium" pitchFamily="2" charset="-127"/>
              </a:rPr>
              <a:t> 증가한다</a:t>
            </a:r>
            <a:r>
              <a:rPr lang="en-US" altLang="ko-KR" sz="1500" dirty="0" smtClean="0">
                <a:latin typeface="페이퍼로지 5 Medium" pitchFamily="2" charset="-127"/>
                <a:ea typeface="페이퍼로지 5 Medium" pitchFamily="2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 smtClean="0">
                <a:latin typeface="페이퍼로지 5 Medium" pitchFamily="2" charset="-127"/>
                <a:ea typeface="페이퍼로지 5 Medium" pitchFamily="2" charset="-127"/>
              </a:rPr>
              <a:t>플레이어는 자신의 메인 </a:t>
            </a:r>
            <a:r>
              <a:rPr lang="ko-KR" altLang="en-US" sz="1500" dirty="0" err="1" smtClean="0">
                <a:latin typeface="페이퍼로지 5 Medium" pitchFamily="2" charset="-127"/>
                <a:ea typeface="페이퍼로지 5 Medium" pitchFamily="2" charset="-127"/>
              </a:rPr>
              <a:t>페이즈에서만</a:t>
            </a:r>
            <a:r>
              <a:rPr lang="ko-KR" altLang="en-US" sz="1500" dirty="0" smtClean="0">
                <a:latin typeface="페이퍼로지 5 Medium" pitchFamily="2" charset="-127"/>
                <a:ea typeface="페이퍼로지 5 Medium" pitchFamily="2" charset="-127"/>
              </a:rPr>
              <a:t> 행동할 수 있으며</a:t>
            </a:r>
            <a:r>
              <a:rPr lang="en-US" altLang="ko-KR" sz="1500" dirty="0" smtClean="0"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500" dirty="0" err="1" smtClean="0">
                <a:latin typeface="페이퍼로지 5 Medium" pitchFamily="2" charset="-127"/>
                <a:ea typeface="페이퍼로지 5 Medium" pitchFamily="2" charset="-127"/>
              </a:rPr>
              <a:t>청휘석을</a:t>
            </a:r>
            <a:r>
              <a:rPr lang="ko-KR" altLang="en-US" sz="1500" dirty="0" smtClean="0">
                <a:latin typeface="페이퍼로지 5 Medium" pitchFamily="2" charset="-127"/>
                <a:ea typeface="페이퍼로지 5 Medium" pitchFamily="2" charset="-127"/>
              </a:rPr>
              <a:t> 소비하여 아래와 같은 행동을 할 수 있다</a:t>
            </a:r>
            <a:r>
              <a:rPr lang="en-US" altLang="ko-KR" sz="1500" dirty="0" smtClean="0">
                <a:latin typeface="페이퍼로지 5 Medium" pitchFamily="2" charset="-127"/>
                <a:ea typeface="페이퍼로지 5 Medium" pitchFamily="2" charset="-127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 smtClean="0">
                <a:latin typeface="페이퍼로지 5 Medium" pitchFamily="2" charset="-127"/>
                <a:ea typeface="페이퍼로지 5 Medium" pitchFamily="2" charset="-127"/>
              </a:rPr>
              <a:t>카드 사용 </a:t>
            </a:r>
            <a:r>
              <a:rPr lang="en-US" altLang="ko-KR" sz="1500" dirty="0" smtClean="0">
                <a:latin typeface="페이퍼로지 5 Medium" pitchFamily="2" charset="-127"/>
                <a:ea typeface="페이퍼로지 5 Medium" pitchFamily="2" charset="-127"/>
              </a:rPr>
              <a:t>: </a:t>
            </a:r>
            <a:r>
              <a:rPr lang="ko-KR" altLang="en-US" sz="1500" dirty="0" smtClean="0">
                <a:latin typeface="페이퍼로지 5 Medium" pitchFamily="2" charset="-127"/>
                <a:ea typeface="페이퍼로지 5 Medium" pitchFamily="2" charset="-127"/>
              </a:rPr>
              <a:t>패에 있는 카드를 </a:t>
            </a:r>
            <a:r>
              <a:rPr lang="ko-KR" altLang="en-US" sz="1500" dirty="0" err="1" smtClean="0">
                <a:latin typeface="페이퍼로지 5 Medium" pitchFamily="2" charset="-127"/>
                <a:ea typeface="페이퍼로지 5 Medium" pitchFamily="2" charset="-127"/>
              </a:rPr>
              <a:t>청휘석을</a:t>
            </a:r>
            <a:r>
              <a:rPr lang="ko-KR" altLang="en-US" sz="1500" dirty="0" smtClean="0">
                <a:latin typeface="페이퍼로지 5 Medium" pitchFamily="2" charset="-127"/>
                <a:ea typeface="페이퍼로지 5 Medium" pitchFamily="2" charset="-127"/>
              </a:rPr>
              <a:t> 소비하여 발동할 수 있다</a:t>
            </a:r>
            <a:r>
              <a:rPr lang="en-US" altLang="ko-KR" sz="1500" dirty="0" smtClean="0">
                <a:latin typeface="페이퍼로지 5 Medium" pitchFamily="2" charset="-127"/>
                <a:ea typeface="페이퍼로지 5 Medium" pitchFamily="2" charset="-127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 err="1" smtClean="0">
                <a:latin typeface="페이퍼로지 5 Medium" pitchFamily="2" charset="-127"/>
                <a:ea typeface="페이퍼로지 5 Medium" pitchFamily="2" charset="-127"/>
              </a:rPr>
              <a:t>아로나</a:t>
            </a:r>
            <a:r>
              <a:rPr lang="ko-KR" altLang="en-US" sz="1500" dirty="0" smtClean="0">
                <a:latin typeface="페이퍼로지 5 Medium" pitchFamily="2" charset="-127"/>
                <a:ea typeface="페이퍼로지 5 Medium" pitchFamily="2" charset="-127"/>
              </a:rPr>
              <a:t> 능력 사용 </a:t>
            </a:r>
            <a:r>
              <a:rPr lang="en-US" altLang="ko-KR" sz="1500" dirty="0" smtClean="0">
                <a:latin typeface="페이퍼로지 5 Medium" pitchFamily="2" charset="-127"/>
                <a:ea typeface="페이퍼로지 5 Medium" pitchFamily="2" charset="-127"/>
              </a:rPr>
              <a:t>: </a:t>
            </a:r>
            <a:r>
              <a:rPr lang="ko-KR" altLang="en-US" sz="1500" dirty="0" smtClean="0">
                <a:latin typeface="페이퍼로지 5 Medium" pitchFamily="2" charset="-127"/>
                <a:ea typeface="페이퍼로지 5 Medium" pitchFamily="2" charset="-127"/>
              </a:rPr>
              <a:t>자신의 차례 당 한 번</a:t>
            </a:r>
            <a:r>
              <a:rPr lang="en-US" altLang="ko-KR" sz="1500" dirty="0" smtClean="0"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500" dirty="0" err="1" smtClean="0">
                <a:latin typeface="페이퍼로지 5 Medium" pitchFamily="2" charset="-127"/>
                <a:ea typeface="페이퍼로지 5 Medium" pitchFamily="2" charset="-127"/>
              </a:rPr>
              <a:t>청휘석을</a:t>
            </a:r>
            <a:r>
              <a:rPr lang="ko-KR" altLang="en-US" sz="1500" dirty="0" smtClean="0">
                <a:latin typeface="페이퍼로지 5 Medium" pitchFamily="2" charset="-127"/>
                <a:ea typeface="페이퍼로지 5 Medium" pitchFamily="2" charset="-127"/>
              </a:rPr>
              <a:t> 소비하여 편성 시 선택한 </a:t>
            </a:r>
            <a:r>
              <a:rPr lang="ko-KR" altLang="en-US" sz="1500" dirty="0" err="1" smtClean="0">
                <a:latin typeface="페이퍼로지 5 Medium" pitchFamily="2" charset="-127"/>
                <a:ea typeface="페이퍼로지 5 Medium" pitchFamily="2" charset="-127"/>
              </a:rPr>
              <a:t>아로나</a:t>
            </a:r>
            <a:r>
              <a:rPr lang="ko-KR" altLang="en-US" sz="1500" dirty="0" smtClean="0">
                <a:latin typeface="페이퍼로지 5 Medium" pitchFamily="2" charset="-127"/>
                <a:ea typeface="페이퍼로지 5 Medium" pitchFamily="2" charset="-127"/>
              </a:rPr>
              <a:t> 능력을 사용할 수 있다</a:t>
            </a:r>
            <a:r>
              <a:rPr lang="en-US" altLang="ko-KR" sz="1500" dirty="0" smtClean="0">
                <a:latin typeface="페이퍼로지 5 Medium" pitchFamily="2" charset="-127"/>
                <a:ea typeface="페이퍼로지 5 Medium" pitchFamily="2" charset="-127"/>
              </a:rPr>
              <a:t>.</a:t>
            </a:r>
            <a:endParaRPr lang="ko-KR" altLang="en-US" sz="1500" dirty="0" smtClean="0">
              <a:latin typeface="페이퍼로지 5 Medium" pitchFamily="2" charset="-127"/>
              <a:ea typeface="페이퍼로지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75157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807" y="215886"/>
            <a:ext cx="10962385" cy="6426225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72" y="420765"/>
            <a:ext cx="10259420" cy="601646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2466" y="3238524"/>
            <a:ext cx="380952" cy="380952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826611" y="464400"/>
            <a:ext cx="10184741" cy="4809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782" y="583200"/>
            <a:ext cx="10058400" cy="24128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0433" y="5689129"/>
            <a:ext cx="2018259" cy="74810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781216" y="1044705"/>
            <a:ext cx="427552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000" dirty="0" smtClean="0">
                <a:latin typeface="페이퍼로지 7 Bold" pitchFamily="2" charset="-127"/>
                <a:ea typeface="페이퍼로지 7 Bold" pitchFamily="2" charset="-127"/>
              </a:rPr>
              <a:t>게임 소개 및 규칙 설명 </a:t>
            </a:r>
            <a:r>
              <a:rPr lang="en-US" altLang="ko-KR" sz="2000" dirty="0" smtClean="0">
                <a:latin typeface="페이퍼로지 7 Bold" pitchFamily="2" charset="-127"/>
                <a:ea typeface="페이퍼로지 7 Bold" pitchFamily="2" charset="-127"/>
              </a:rPr>
              <a:t>(</a:t>
            </a:r>
            <a:r>
              <a:rPr lang="ko-KR" altLang="en-US" sz="2000" dirty="0" smtClean="0">
                <a:latin typeface="페이퍼로지 7 Bold" pitchFamily="2" charset="-127"/>
                <a:ea typeface="페이퍼로지 7 Bold" pitchFamily="2" charset="-127"/>
              </a:rPr>
              <a:t>카드</a:t>
            </a:r>
            <a:r>
              <a:rPr lang="en-US" altLang="ko-KR" sz="2000" dirty="0" smtClean="0">
                <a:latin typeface="페이퍼로지 7 Bold" pitchFamily="2" charset="-127"/>
                <a:ea typeface="페이퍼로지 7 Bold" pitchFamily="2" charset="-127"/>
              </a:rPr>
              <a:t>)</a:t>
            </a:r>
            <a:endParaRPr lang="ko-KR" altLang="en-US" sz="2000" dirty="0"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04800" y="1710000"/>
            <a:ext cx="23246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 smtClean="0">
                <a:latin typeface="페이퍼로지 5 Medium" pitchFamily="2" charset="-127"/>
                <a:ea typeface="페이퍼로지 5 Medium" pitchFamily="2" charset="-127"/>
              </a:rPr>
              <a:t>카드 종류 및 </a:t>
            </a:r>
            <a:r>
              <a:rPr lang="en-US" altLang="ko-KR" sz="2000" dirty="0" smtClean="0">
                <a:latin typeface="페이퍼로지 5 Medium" pitchFamily="2" charset="-127"/>
                <a:ea typeface="페이퍼로지 5 Medium" pitchFamily="2" charset="-127"/>
              </a:rPr>
              <a:t>UI </a:t>
            </a:r>
            <a:r>
              <a:rPr lang="ko-KR" altLang="en-US" sz="2000" dirty="0" smtClean="0">
                <a:latin typeface="페이퍼로지 5 Medium" pitchFamily="2" charset="-127"/>
                <a:ea typeface="페이퍼로지 5 Medium" pitchFamily="2" charset="-127"/>
              </a:rPr>
              <a:t>소개</a:t>
            </a:r>
            <a:endParaRPr lang="ko-KR" altLang="en-US" sz="2400" dirty="0" smtClean="0">
              <a:latin typeface="페이퍼로지 5 Medium" pitchFamily="2" charset="-127"/>
              <a:ea typeface="페이퍼로지 5 Medium" pitchFamily="2" charset="-127"/>
            </a:endParaRPr>
          </a:p>
          <a:p>
            <a:endParaRPr lang="ko-KR" altLang="en-US" sz="20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4233" y="2364572"/>
            <a:ext cx="1677425" cy="2712817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5749" y="2364572"/>
            <a:ext cx="1677425" cy="2712817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2193" y="2364573"/>
            <a:ext cx="1677426" cy="2712817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443" y="2364573"/>
            <a:ext cx="1677425" cy="2712817"/>
          </a:xfrm>
          <a:prstGeom prst="rect">
            <a:avLst/>
          </a:prstGeom>
        </p:spPr>
      </p:pic>
      <p:sp>
        <p:nvSpPr>
          <p:cNvPr id="16" name="도넛 15"/>
          <p:cNvSpPr/>
          <p:nvPr/>
        </p:nvSpPr>
        <p:spPr>
          <a:xfrm>
            <a:off x="1822449" y="2415549"/>
            <a:ext cx="298317" cy="283202"/>
          </a:xfrm>
          <a:prstGeom prst="donut">
            <a:avLst>
              <a:gd name="adj" fmla="val 769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18" name="직선 연결선 17"/>
          <p:cNvCxnSpPr>
            <a:stCxn id="16" idx="2"/>
          </p:cNvCxnSpPr>
          <p:nvPr/>
        </p:nvCxnSpPr>
        <p:spPr>
          <a:xfrm flipH="1">
            <a:off x="1616869" y="2557150"/>
            <a:ext cx="20558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89272" y="2449428"/>
            <a:ext cx="9028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페이퍼로지 5 Medium" pitchFamily="2" charset="-127"/>
                <a:ea typeface="페이퍼로지 5 Medium" pitchFamily="2" charset="-127"/>
              </a:rPr>
              <a:t>*</a:t>
            </a:r>
            <a:r>
              <a:rPr lang="ko-KR" altLang="en-US" sz="800" dirty="0" smtClean="0">
                <a:latin typeface="페이퍼로지 5 Medium" pitchFamily="2" charset="-127"/>
                <a:ea typeface="페이퍼로지 5 Medium" pitchFamily="2" charset="-127"/>
              </a:rPr>
              <a:t>필요 </a:t>
            </a:r>
            <a:r>
              <a:rPr lang="ko-KR" altLang="en-US" sz="800" dirty="0" err="1" smtClean="0">
                <a:latin typeface="페이퍼로지 5 Medium" pitchFamily="2" charset="-127"/>
                <a:ea typeface="페이퍼로지 5 Medium" pitchFamily="2" charset="-127"/>
              </a:rPr>
              <a:t>청휘석</a:t>
            </a:r>
            <a:r>
              <a:rPr lang="ko-KR" altLang="en-US" sz="800" dirty="0" smtClean="0">
                <a:latin typeface="페이퍼로지 5 Medium" pitchFamily="2" charset="-127"/>
                <a:ea typeface="페이퍼로지 5 Medium" pitchFamily="2" charset="-127"/>
              </a:rPr>
              <a:t> 개수</a:t>
            </a:r>
            <a:endParaRPr lang="ko-KR" altLang="en-US" sz="8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4" name="액자 23"/>
          <p:cNvSpPr/>
          <p:nvPr/>
        </p:nvSpPr>
        <p:spPr>
          <a:xfrm>
            <a:off x="2132016" y="2468022"/>
            <a:ext cx="1206993" cy="196850"/>
          </a:xfrm>
          <a:prstGeom prst="fram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26" name="꺾인 연결선 25"/>
          <p:cNvCxnSpPr>
            <a:stCxn id="24" idx="0"/>
          </p:cNvCxnSpPr>
          <p:nvPr/>
        </p:nvCxnSpPr>
        <p:spPr>
          <a:xfrm rot="5400000" flipH="1" flipV="1">
            <a:off x="2740258" y="2206993"/>
            <a:ext cx="256285" cy="265774"/>
          </a:xfrm>
          <a:prstGeom prst="bentConnector2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930941" y="2104015"/>
            <a:ext cx="61106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페이퍼로지 5 Medium" pitchFamily="2" charset="-127"/>
                <a:ea typeface="페이퍼로지 5 Medium" pitchFamily="2" charset="-127"/>
              </a:rPr>
              <a:t>*</a:t>
            </a:r>
            <a:r>
              <a:rPr lang="ko-KR" altLang="en-US" sz="800" dirty="0" smtClean="0">
                <a:latin typeface="페이퍼로지 5 Medium" pitchFamily="2" charset="-127"/>
                <a:ea typeface="페이퍼로지 5 Medium" pitchFamily="2" charset="-127"/>
              </a:rPr>
              <a:t>카드 이름</a:t>
            </a:r>
            <a:endParaRPr lang="ko-KR" altLang="en-US" sz="8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9" name="도넛 28"/>
          <p:cNvSpPr/>
          <p:nvPr/>
        </p:nvSpPr>
        <p:spPr>
          <a:xfrm>
            <a:off x="1885949" y="4692024"/>
            <a:ext cx="298317" cy="283202"/>
          </a:xfrm>
          <a:prstGeom prst="donut">
            <a:avLst>
              <a:gd name="adj" fmla="val 769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도넛 29"/>
          <p:cNvSpPr/>
          <p:nvPr/>
        </p:nvSpPr>
        <p:spPr>
          <a:xfrm>
            <a:off x="3087314" y="4692024"/>
            <a:ext cx="298317" cy="283202"/>
          </a:xfrm>
          <a:prstGeom prst="donut">
            <a:avLst>
              <a:gd name="adj" fmla="val 769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31" name="직선 연결선 30"/>
          <p:cNvCxnSpPr/>
          <p:nvPr/>
        </p:nvCxnSpPr>
        <p:spPr>
          <a:xfrm flipH="1">
            <a:off x="1680369" y="4833625"/>
            <a:ext cx="20558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246488" y="4725903"/>
            <a:ext cx="49885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페이퍼로지 5 Medium" pitchFamily="2" charset="-127"/>
                <a:ea typeface="페이퍼로지 5 Medium" pitchFamily="2" charset="-127"/>
              </a:rPr>
              <a:t>*</a:t>
            </a:r>
            <a:r>
              <a:rPr lang="ko-KR" altLang="en-US" sz="800" dirty="0" smtClean="0">
                <a:latin typeface="페이퍼로지 5 Medium" pitchFamily="2" charset="-127"/>
                <a:ea typeface="페이퍼로지 5 Medium" pitchFamily="2" charset="-127"/>
              </a:rPr>
              <a:t>공격력</a:t>
            </a:r>
            <a:endParaRPr lang="ko-KR" altLang="en-US" sz="8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cxnSp>
        <p:nvCxnSpPr>
          <p:cNvPr id="33" name="직선 연결선 32"/>
          <p:cNvCxnSpPr/>
          <p:nvPr/>
        </p:nvCxnSpPr>
        <p:spPr>
          <a:xfrm flipH="1">
            <a:off x="3368868" y="4834800"/>
            <a:ext cx="20558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499485" y="4725903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페이퍼로지 5 Medium" pitchFamily="2" charset="-127"/>
                <a:ea typeface="페이퍼로지 5 Medium" pitchFamily="2" charset="-127"/>
              </a:rPr>
              <a:t>*</a:t>
            </a:r>
            <a:r>
              <a:rPr lang="ko-KR" altLang="en-US" sz="800" dirty="0" smtClean="0">
                <a:latin typeface="페이퍼로지 5 Medium" pitchFamily="2" charset="-127"/>
                <a:ea typeface="페이퍼로지 5 Medium" pitchFamily="2" charset="-127"/>
              </a:rPr>
              <a:t>체력</a:t>
            </a:r>
            <a:endParaRPr lang="ko-KR" altLang="en-US" sz="8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6" name="도넛 35"/>
          <p:cNvSpPr/>
          <p:nvPr/>
        </p:nvSpPr>
        <p:spPr>
          <a:xfrm>
            <a:off x="1860549" y="3760797"/>
            <a:ext cx="298317" cy="283202"/>
          </a:xfrm>
          <a:prstGeom prst="donut">
            <a:avLst>
              <a:gd name="adj" fmla="val 769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37" name="직선 연결선 36"/>
          <p:cNvCxnSpPr/>
          <p:nvPr/>
        </p:nvCxnSpPr>
        <p:spPr>
          <a:xfrm flipH="1">
            <a:off x="1654969" y="3902398"/>
            <a:ext cx="20558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108594" y="3794676"/>
            <a:ext cx="61106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smtClean="0">
                <a:latin typeface="페이퍼로지 5 Medium" pitchFamily="2" charset="-127"/>
                <a:ea typeface="페이퍼로지 5 Medium" pitchFamily="2" charset="-127"/>
              </a:rPr>
              <a:t>*</a:t>
            </a:r>
            <a:r>
              <a:rPr lang="ko-KR" altLang="en-US" sz="800" dirty="0" smtClean="0">
                <a:latin typeface="페이퍼로지 5 Medium" pitchFamily="2" charset="-127"/>
                <a:ea typeface="페이퍼로지 5 Medium" pitchFamily="2" charset="-127"/>
              </a:rPr>
              <a:t>카드 종류</a:t>
            </a:r>
            <a:endParaRPr lang="ko-KR" altLang="en-US" sz="8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9" name="액자 38"/>
          <p:cNvSpPr/>
          <p:nvPr/>
        </p:nvSpPr>
        <p:spPr>
          <a:xfrm>
            <a:off x="2170175" y="3848097"/>
            <a:ext cx="268225" cy="196850"/>
          </a:xfrm>
          <a:prstGeom prst="fram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40" name="직선 연결선 39"/>
          <p:cNvCxnSpPr/>
          <p:nvPr/>
        </p:nvCxnSpPr>
        <p:spPr>
          <a:xfrm flipH="1">
            <a:off x="2438400" y="3943350"/>
            <a:ext cx="1136048" cy="349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546232" y="3848097"/>
            <a:ext cx="96693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페이퍼로지 5 Medium" pitchFamily="2" charset="-127"/>
                <a:ea typeface="페이퍼로지 5 Medium" pitchFamily="2" charset="-127"/>
              </a:rPr>
              <a:t>*</a:t>
            </a:r>
            <a:r>
              <a:rPr lang="ko-KR" altLang="en-US" sz="800" dirty="0" smtClean="0">
                <a:latin typeface="페이퍼로지 5 Medium" pitchFamily="2" charset="-127"/>
                <a:ea typeface="페이퍼로지 5 Medium" pitchFamily="2" charset="-127"/>
              </a:rPr>
              <a:t>무기 타입 </a:t>
            </a:r>
            <a:r>
              <a:rPr lang="en-US" altLang="ko-KR" sz="800" dirty="0" smtClean="0"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800" dirty="0" smtClean="0">
                <a:latin typeface="페이퍼로지 5 Medium" pitchFamily="2" charset="-127"/>
                <a:ea typeface="페이퍼로지 5 Medium" pitchFamily="2" charset="-127"/>
              </a:rPr>
              <a:t>사거리</a:t>
            </a:r>
            <a:r>
              <a:rPr lang="en-US" altLang="ko-KR" sz="800" dirty="0" smtClean="0">
                <a:latin typeface="페이퍼로지 5 Medium" pitchFamily="2" charset="-127"/>
                <a:ea typeface="페이퍼로지 5 Medium" pitchFamily="2" charset="-127"/>
              </a:rPr>
              <a:t>)</a:t>
            </a:r>
            <a:endParaRPr lang="ko-KR" altLang="en-US" sz="8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3" name="액자 42"/>
          <p:cNvSpPr/>
          <p:nvPr/>
        </p:nvSpPr>
        <p:spPr>
          <a:xfrm>
            <a:off x="2344214" y="4090060"/>
            <a:ext cx="577461" cy="153590"/>
          </a:xfrm>
          <a:prstGeom prst="fram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44" name="직선 연결선 43"/>
          <p:cNvCxnSpPr/>
          <p:nvPr/>
        </p:nvCxnSpPr>
        <p:spPr>
          <a:xfrm flipH="1">
            <a:off x="2914477" y="4158794"/>
            <a:ext cx="659331" cy="349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548321" y="4055745"/>
            <a:ext cx="105670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페이퍼로지 5 Medium" pitchFamily="2" charset="-127"/>
                <a:ea typeface="페이퍼로지 5 Medium" pitchFamily="2" charset="-127"/>
              </a:rPr>
              <a:t>*</a:t>
            </a:r>
            <a:r>
              <a:rPr lang="ko-KR" altLang="en-US" sz="800" dirty="0" smtClean="0">
                <a:latin typeface="페이퍼로지 5 Medium" pitchFamily="2" charset="-127"/>
                <a:ea typeface="페이퍼로지 5 Medium" pitchFamily="2" charset="-127"/>
              </a:rPr>
              <a:t>소속 동아리 </a:t>
            </a:r>
            <a:r>
              <a:rPr lang="en-US" altLang="ko-KR" sz="800" dirty="0" smtClean="0"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800" dirty="0" smtClean="0">
                <a:latin typeface="페이퍼로지 5 Medium" pitchFamily="2" charset="-127"/>
                <a:ea typeface="페이퍼로지 5 Medium" pitchFamily="2" charset="-127"/>
              </a:rPr>
              <a:t>시너지</a:t>
            </a:r>
            <a:r>
              <a:rPr lang="en-US" altLang="ko-KR" sz="800" dirty="0" smtClean="0">
                <a:latin typeface="페이퍼로지 5 Medium" pitchFamily="2" charset="-127"/>
                <a:ea typeface="페이퍼로지 5 Medium" pitchFamily="2" charset="-127"/>
              </a:rPr>
              <a:t>)</a:t>
            </a:r>
            <a:endParaRPr lang="ko-KR" altLang="en-US" sz="8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301763" y="5122502"/>
            <a:ext cx="6623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smtClean="0">
                <a:latin typeface="페이퍼로지 5 Medium" pitchFamily="2" charset="-127"/>
                <a:ea typeface="페이퍼로지 5 Medium" pitchFamily="2" charset="-127"/>
              </a:rPr>
              <a:t>학생 카드</a:t>
            </a:r>
            <a:endParaRPr lang="ko-KR" altLang="en-US" sz="10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287175" y="5122501"/>
            <a:ext cx="7745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smtClean="0">
                <a:latin typeface="페이퍼로지 5 Medium" pitchFamily="2" charset="-127"/>
                <a:ea typeface="페이퍼로지 5 Medium" pitchFamily="2" charset="-127"/>
              </a:rPr>
              <a:t>비학생</a:t>
            </a:r>
            <a:r>
              <a:rPr lang="ko-KR" altLang="en-US" sz="1000" dirty="0" smtClean="0">
                <a:latin typeface="페이퍼로지 5 Medium" pitchFamily="2" charset="-127"/>
                <a:ea typeface="페이퍼로지 5 Medium" pitchFamily="2" charset="-127"/>
              </a:rPr>
              <a:t> 카드</a:t>
            </a:r>
            <a:endParaRPr lang="ko-KR" altLang="en-US" sz="10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043365" y="5122500"/>
            <a:ext cx="14750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 smtClean="0">
                <a:latin typeface="페이퍼로지 5 Medium" pitchFamily="2" charset="-127"/>
                <a:ea typeface="페이퍼로지 5 Medium" pitchFamily="2" charset="-127"/>
              </a:rPr>
              <a:t>장소 카드</a:t>
            </a:r>
            <a:endParaRPr lang="en-US" altLang="ko-KR" sz="1000" dirty="0" smtClean="0">
              <a:latin typeface="페이퍼로지 5 Medium" pitchFamily="2" charset="-127"/>
              <a:ea typeface="페이퍼로지 5 Medium" pitchFamily="2" charset="-127"/>
            </a:endParaRPr>
          </a:p>
          <a:p>
            <a:pPr algn="ctr"/>
            <a:r>
              <a:rPr lang="en-US" altLang="ko-KR" sz="1000" dirty="0" smtClean="0"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1000" dirty="0" smtClean="0">
                <a:latin typeface="페이퍼로지 5 Medium" pitchFamily="2" charset="-127"/>
                <a:ea typeface="페이퍼로지 5 Medium" pitchFamily="2" charset="-127"/>
              </a:rPr>
              <a:t>공격 불가능한 방어 유닛</a:t>
            </a:r>
            <a:r>
              <a:rPr lang="en-US" altLang="ko-KR" sz="1000" dirty="0" smtClean="0">
                <a:latin typeface="페이퍼로지 5 Medium" pitchFamily="2" charset="-127"/>
                <a:ea typeface="페이퍼로지 5 Medium" pitchFamily="2" charset="-127"/>
              </a:rPr>
              <a:t>)</a:t>
            </a:r>
            <a:endParaRPr lang="ko-KR" altLang="en-US" sz="10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969976" y="5119080"/>
            <a:ext cx="17283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 smtClean="0">
                <a:latin typeface="페이퍼로지 5 Medium" pitchFamily="2" charset="-127"/>
                <a:ea typeface="페이퍼로지 5 Medium" pitchFamily="2" charset="-127"/>
              </a:rPr>
              <a:t>이벤트 카드</a:t>
            </a:r>
            <a:endParaRPr lang="en-US" altLang="ko-KR" sz="1000" dirty="0" smtClean="0">
              <a:latin typeface="페이퍼로지 5 Medium" pitchFamily="2" charset="-127"/>
              <a:ea typeface="페이퍼로지 5 Medium" pitchFamily="2" charset="-127"/>
            </a:endParaRPr>
          </a:p>
          <a:p>
            <a:pPr algn="ctr"/>
            <a:r>
              <a:rPr lang="en-US" altLang="ko-KR" sz="1000" dirty="0" smtClean="0"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1000" dirty="0" smtClean="0">
                <a:latin typeface="페이퍼로지 5 Medium" pitchFamily="2" charset="-127"/>
                <a:ea typeface="페이퍼로지 5 Medium" pitchFamily="2" charset="-127"/>
              </a:rPr>
              <a:t>사용 후 사라지는 일회용 카드</a:t>
            </a:r>
            <a:r>
              <a:rPr lang="en-US" altLang="ko-KR" sz="1000" dirty="0" smtClean="0">
                <a:latin typeface="페이퍼로지 5 Medium" pitchFamily="2" charset="-127"/>
                <a:ea typeface="페이퍼로지 5 Medium" pitchFamily="2" charset="-127"/>
              </a:rPr>
              <a:t>)</a:t>
            </a:r>
            <a:endParaRPr lang="ko-KR" altLang="en-US" sz="1000" dirty="0">
              <a:latin typeface="페이퍼로지 5 Medium" pitchFamily="2" charset="-127"/>
              <a:ea typeface="페이퍼로지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3760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807" y="215886"/>
            <a:ext cx="10962385" cy="6426225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72" y="420765"/>
            <a:ext cx="10259420" cy="6016465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826611" y="464400"/>
            <a:ext cx="10184741" cy="4809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782" y="583200"/>
            <a:ext cx="10058400" cy="24128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0433" y="5689129"/>
            <a:ext cx="2018259" cy="74810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781216" y="1044705"/>
            <a:ext cx="427552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000" dirty="0" smtClean="0">
                <a:latin typeface="페이퍼로지 7 Bold" pitchFamily="2" charset="-127"/>
                <a:ea typeface="페이퍼로지 7 Bold" pitchFamily="2" charset="-127"/>
              </a:rPr>
              <a:t>게임 소개 및 규칙 설명 </a:t>
            </a:r>
            <a:r>
              <a:rPr lang="en-US" altLang="ko-KR" sz="2000" dirty="0" smtClean="0">
                <a:latin typeface="페이퍼로지 7 Bold" pitchFamily="2" charset="-127"/>
                <a:ea typeface="페이퍼로지 7 Bold" pitchFamily="2" charset="-127"/>
              </a:rPr>
              <a:t>(</a:t>
            </a:r>
            <a:r>
              <a:rPr lang="ko-KR" altLang="en-US" sz="2000" dirty="0" smtClean="0">
                <a:latin typeface="페이퍼로지 7 Bold" pitchFamily="2" charset="-127"/>
                <a:ea typeface="페이퍼로지 7 Bold" pitchFamily="2" charset="-127"/>
              </a:rPr>
              <a:t>필드</a:t>
            </a:r>
            <a:r>
              <a:rPr lang="en-US" altLang="ko-KR" sz="2000" dirty="0" smtClean="0">
                <a:latin typeface="페이퍼로지 7 Bold" pitchFamily="2" charset="-127"/>
                <a:ea typeface="페이퍼로지 7 Bold" pitchFamily="2" charset="-127"/>
              </a:rPr>
              <a:t>)</a:t>
            </a:r>
            <a:endParaRPr lang="ko-KR" altLang="en-US" sz="2000" dirty="0">
              <a:latin typeface="페이퍼로지 7 Bold" pitchFamily="2" charset="-127"/>
              <a:ea typeface="페이퍼로지 7 Bold" pitchFamily="2" charset="-127"/>
            </a:endParaRPr>
          </a:p>
        </p:txBody>
      </p:sp>
      <p:grpSp>
        <p:nvGrpSpPr>
          <p:cNvPr id="21" name="그룹 20"/>
          <p:cNvGrpSpPr/>
          <p:nvPr/>
        </p:nvGrpSpPr>
        <p:grpSpPr>
          <a:xfrm>
            <a:off x="2236005" y="1698073"/>
            <a:ext cx="7365950" cy="3635085"/>
            <a:chOff x="2236005" y="1878437"/>
            <a:chExt cx="7365950" cy="3635085"/>
          </a:xfrm>
        </p:grpSpPr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ED55982D-68F0-422E-C6D2-8EDEF5833C58}"/>
                </a:ext>
              </a:extLst>
            </p:cNvPr>
            <p:cNvGrpSpPr/>
            <p:nvPr/>
          </p:nvGrpSpPr>
          <p:grpSpPr>
            <a:xfrm>
              <a:off x="3016442" y="2051706"/>
              <a:ext cx="5778898" cy="3245930"/>
              <a:chOff x="539549" y="6096000"/>
              <a:chExt cx="5778898" cy="3245930"/>
            </a:xfrm>
          </p:grpSpPr>
          <p:pic>
            <p:nvPicPr>
              <p:cNvPr id="45" name="그림 44">
                <a:extLst>
                  <a:ext uri="{FF2B5EF4-FFF2-40B4-BE49-F238E27FC236}">
                    <a16:creationId xmlns:a16="http://schemas.microsoft.com/office/drawing/2014/main" id="{4494A1C2-BA13-985C-C3C8-33A38994D0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549" y="6096000"/>
                <a:ext cx="5778898" cy="3245930"/>
              </a:xfrm>
              <a:prstGeom prst="rect">
                <a:avLst/>
              </a:prstGeom>
            </p:spPr>
          </p:pic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E04D72F2-7829-E56E-BB04-7B4F41072C54}"/>
                  </a:ext>
                </a:extLst>
              </p:cNvPr>
              <p:cNvSpPr/>
              <p:nvPr/>
            </p:nvSpPr>
            <p:spPr>
              <a:xfrm>
                <a:off x="1828800" y="7555135"/>
                <a:ext cx="3230880" cy="327660"/>
              </a:xfrm>
              <a:prstGeom prst="rect">
                <a:avLst/>
              </a:prstGeom>
              <a:solidFill>
                <a:srgbClr val="FFFF00">
                  <a:alpha val="4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>
                    <a:solidFill>
                      <a:sysClr val="windowText" lastClr="000000"/>
                    </a:solidFill>
                    <a:latin typeface="페이퍼로지 5 Medium" pitchFamily="2" charset="-127"/>
                    <a:ea typeface="페이퍼로지 5 Medium" pitchFamily="2" charset="-127"/>
                  </a:rPr>
                  <a:t>중립 타일</a:t>
                </a:r>
              </a:p>
            </p:txBody>
          </p:sp>
          <p:sp>
            <p:nvSpPr>
              <p:cNvPr id="52" name="직사각형 51">
                <a:extLst>
                  <a:ext uri="{FF2B5EF4-FFF2-40B4-BE49-F238E27FC236}">
                    <a16:creationId xmlns:a16="http://schemas.microsoft.com/office/drawing/2014/main" id="{8F3F4E5D-FB2D-99B7-0222-15FB5C38ABB8}"/>
                  </a:ext>
                </a:extLst>
              </p:cNvPr>
              <p:cNvSpPr/>
              <p:nvPr/>
            </p:nvSpPr>
            <p:spPr>
              <a:xfrm>
                <a:off x="2728910" y="8122763"/>
                <a:ext cx="1400175" cy="29305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  <a:alpha val="6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>
                    <a:solidFill>
                      <a:sysClr val="windowText" lastClr="000000"/>
                    </a:solidFill>
                    <a:latin typeface="페이퍼로지 5 Medium" pitchFamily="2" charset="-127"/>
                    <a:ea typeface="페이퍼로지 5 Medium" pitchFamily="2" charset="-127"/>
                  </a:rPr>
                  <a:t>실외 타일</a:t>
                </a:r>
              </a:p>
            </p:txBody>
          </p:sp>
          <p:sp>
            <p:nvSpPr>
              <p:cNvPr id="53" name="직사각형 52">
                <a:extLst>
                  <a:ext uri="{FF2B5EF4-FFF2-40B4-BE49-F238E27FC236}">
                    <a16:creationId xmlns:a16="http://schemas.microsoft.com/office/drawing/2014/main" id="{1D3B173B-E2B1-0B6A-2049-752C2CEFF749}"/>
                  </a:ext>
                </a:extLst>
              </p:cNvPr>
              <p:cNvSpPr/>
              <p:nvPr/>
            </p:nvSpPr>
            <p:spPr>
              <a:xfrm>
                <a:off x="2728910" y="7022117"/>
                <a:ext cx="1400175" cy="29305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  <a:alpha val="6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>
                    <a:solidFill>
                      <a:sysClr val="windowText" lastClr="000000"/>
                    </a:solidFill>
                    <a:latin typeface="페이퍼로지 5 Medium" pitchFamily="2" charset="-127"/>
                    <a:ea typeface="페이퍼로지 5 Medium" pitchFamily="2" charset="-127"/>
                  </a:rPr>
                  <a:t>실외 타일</a:t>
                </a:r>
              </a:p>
            </p:txBody>
          </p:sp>
          <p:sp>
            <p:nvSpPr>
              <p:cNvPr id="54" name="막힌 원호 53">
                <a:extLst>
                  <a:ext uri="{FF2B5EF4-FFF2-40B4-BE49-F238E27FC236}">
                    <a16:creationId xmlns:a16="http://schemas.microsoft.com/office/drawing/2014/main" id="{606817F0-7CC2-88C4-1CEC-D03CBE52AC41}"/>
                  </a:ext>
                </a:extLst>
              </p:cNvPr>
              <p:cNvSpPr/>
              <p:nvPr/>
            </p:nvSpPr>
            <p:spPr>
              <a:xfrm>
                <a:off x="2065336" y="6509863"/>
                <a:ext cx="2727328" cy="1759424"/>
              </a:xfrm>
              <a:prstGeom prst="blockArc">
                <a:avLst>
                  <a:gd name="adj1" fmla="val 10800000"/>
                  <a:gd name="adj2" fmla="val 36777"/>
                  <a:gd name="adj3" fmla="val 12272"/>
                </a:avLst>
              </a:prstGeom>
              <a:solidFill>
                <a:schemeClr val="accent2">
                  <a:alpha val="8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  <a:latin typeface="페이퍼로지 5 Medium" pitchFamily="2" charset="-127"/>
                  <a:ea typeface="페이퍼로지 5 Medium" pitchFamily="2" charset="-127"/>
                </a:endParaRPr>
              </a:p>
            </p:txBody>
          </p:sp>
          <p:sp>
            <p:nvSpPr>
              <p:cNvPr id="55" name="막힌 원호 54">
                <a:extLst>
                  <a:ext uri="{FF2B5EF4-FFF2-40B4-BE49-F238E27FC236}">
                    <a16:creationId xmlns:a16="http://schemas.microsoft.com/office/drawing/2014/main" id="{072CD242-5E32-23F9-C890-5268B1BCC73A}"/>
                  </a:ext>
                </a:extLst>
              </p:cNvPr>
              <p:cNvSpPr/>
              <p:nvPr/>
            </p:nvSpPr>
            <p:spPr>
              <a:xfrm rot="10800000">
                <a:off x="2065333" y="7142945"/>
                <a:ext cx="2727328" cy="1805318"/>
              </a:xfrm>
              <a:prstGeom prst="blockArc">
                <a:avLst>
                  <a:gd name="adj1" fmla="val 10800000"/>
                  <a:gd name="adj2" fmla="val 36777"/>
                  <a:gd name="adj3" fmla="val 12272"/>
                </a:avLst>
              </a:prstGeom>
              <a:solidFill>
                <a:schemeClr val="accent2">
                  <a:alpha val="8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  <a:latin typeface="페이퍼로지 5 Medium" pitchFamily="2" charset="-127"/>
                  <a:ea typeface="페이퍼로지 5 Medium" pitchFamily="2" charset="-127"/>
                </a:endParaRP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5BC91E5-FDE8-9636-3C38-19B11580E4B4}"/>
                  </a:ext>
                </a:extLst>
              </p:cNvPr>
              <p:cNvSpPr txBox="1"/>
              <p:nvPr/>
            </p:nvSpPr>
            <p:spPr>
              <a:xfrm>
                <a:off x="2830672" y="6489504"/>
                <a:ext cx="122713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100" dirty="0">
                    <a:latin typeface="페이퍼로지 5 Medium" pitchFamily="2" charset="-127"/>
                    <a:ea typeface="페이퍼로지 5 Medium" pitchFamily="2" charset="-127"/>
                  </a:rPr>
                  <a:t>실내 타일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D1585A50-C930-2AAF-EE32-397185764F6C}"/>
                  </a:ext>
                </a:extLst>
              </p:cNvPr>
              <p:cNvSpPr txBox="1"/>
              <p:nvPr/>
            </p:nvSpPr>
            <p:spPr>
              <a:xfrm>
                <a:off x="2815429" y="8686653"/>
                <a:ext cx="122713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100" dirty="0">
                    <a:latin typeface="페이퍼로지 5 Medium" pitchFamily="2" charset="-127"/>
                    <a:ea typeface="페이퍼로지 5 Medium" pitchFamily="2" charset="-127"/>
                  </a:rPr>
                  <a:t>실내 타일</a:t>
                </a:r>
              </a:p>
            </p:txBody>
          </p:sp>
        </p:grp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41E2E14-B061-E2E0-D70B-EC5B96C13021}"/>
                </a:ext>
              </a:extLst>
            </p:cNvPr>
            <p:cNvSpPr txBox="1"/>
            <p:nvPr/>
          </p:nvSpPr>
          <p:spPr>
            <a:xfrm>
              <a:off x="3459876" y="2917301"/>
              <a:ext cx="14001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  <a:latin typeface="페이퍼로지 5 Medium" pitchFamily="2" charset="-127"/>
                  <a:ea typeface="페이퍼로지 5 Medium" pitchFamily="2" charset="-127"/>
                </a:rPr>
                <a:t>*</a:t>
              </a:r>
              <a:r>
                <a:rPr lang="ko-KR" altLang="en-US" sz="1200" dirty="0">
                  <a:solidFill>
                    <a:srgbClr val="FF0000"/>
                  </a:solidFill>
                  <a:latin typeface="페이퍼로지 5 Medium" pitchFamily="2" charset="-127"/>
                  <a:ea typeface="페이퍼로지 5 Medium" pitchFamily="2" charset="-127"/>
                </a:rPr>
                <a:t>적 필드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EB1E51CC-39C6-F346-DA84-4FA62BD4992E}"/>
                </a:ext>
              </a:extLst>
            </p:cNvPr>
            <p:cNvSpPr txBox="1"/>
            <p:nvPr/>
          </p:nvSpPr>
          <p:spPr>
            <a:xfrm>
              <a:off x="3459877" y="4027664"/>
              <a:ext cx="14001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0070C0"/>
                  </a:solidFill>
                  <a:latin typeface="페이퍼로지 5 Medium" pitchFamily="2" charset="-127"/>
                  <a:ea typeface="페이퍼로지 5 Medium" pitchFamily="2" charset="-127"/>
                </a:rPr>
                <a:t>*</a:t>
              </a:r>
              <a:r>
                <a:rPr lang="ko-KR" altLang="en-US" sz="1200" dirty="0">
                  <a:solidFill>
                    <a:srgbClr val="0070C0"/>
                  </a:solidFill>
                  <a:latin typeface="페이퍼로지 5 Medium" pitchFamily="2" charset="-127"/>
                  <a:ea typeface="페이퍼로지 5 Medium" pitchFamily="2" charset="-127"/>
                </a:rPr>
                <a:t>자신의 필드</a:t>
              </a: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DCFC7807-9CC4-6DCA-4605-0481EFD11021}"/>
                </a:ext>
              </a:extLst>
            </p:cNvPr>
            <p:cNvSpPr/>
            <p:nvPr/>
          </p:nvSpPr>
          <p:spPr>
            <a:xfrm>
              <a:off x="3043107" y="3168530"/>
              <a:ext cx="386286" cy="99763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F1A8A509-0E84-1ACC-DF34-BB8CF32E228F}"/>
                </a:ext>
              </a:extLst>
            </p:cNvPr>
            <p:cNvSpPr/>
            <p:nvPr/>
          </p:nvSpPr>
          <p:spPr>
            <a:xfrm>
              <a:off x="8376121" y="3168530"/>
              <a:ext cx="386286" cy="99763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1F320682-D897-0078-AE87-0503462B9ADE}"/>
                </a:ext>
              </a:extLst>
            </p:cNvPr>
            <p:cNvCxnSpPr>
              <a:cxnSpLocks/>
            </p:cNvCxnSpPr>
            <p:nvPr/>
          </p:nvCxnSpPr>
          <p:spPr>
            <a:xfrm>
              <a:off x="8762407" y="3799151"/>
              <a:ext cx="88804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4CFA86F-CCC3-8AAA-33CD-6D0FEDDEE096}"/>
                </a:ext>
              </a:extLst>
            </p:cNvPr>
            <p:cNvSpPr txBox="1"/>
            <p:nvPr/>
          </p:nvSpPr>
          <p:spPr>
            <a:xfrm>
              <a:off x="2236005" y="3524471"/>
              <a:ext cx="104584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페이퍼로지 5 Medium" pitchFamily="2" charset="-127"/>
                  <a:ea typeface="페이퍼로지 5 Medium" pitchFamily="2" charset="-127"/>
                </a:rPr>
                <a:t>플레이어</a:t>
              </a:r>
              <a:endParaRPr lang="en-US" altLang="ko-KR" sz="1000" dirty="0">
                <a:latin typeface="페이퍼로지 5 Medium" pitchFamily="2" charset="-127"/>
                <a:ea typeface="페이퍼로지 5 Medium" pitchFamily="2" charset="-127"/>
              </a:endParaRPr>
            </a:p>
            <a:p>
              <a:pPr algn="ctr"/>
              <a:r>
                <a:rPr lang="ko-KR" altLang="en-US" sz="1000" dirty="0">
                  <a:latin typeface="페이퍼로지 5 Medium" pitchFamily="2" charset="-127"/>
                  <a:ea typeface="페이퍼로지 5 Medium" pitchFamily="2" charset="-127"/>
                </a:rPr>
                <a:t>동아리 </a:t>
              </a:r>
              <a:endParaRPr lang="en-US" altLang="ko-KR" sz="1000" dirty="0">
                <a:latin typeface="페이퍼로지 5 Medium" pitchFamily="2" charset="-127"/>
                <a:ea typeface="페이퍼로지 5 Medium" pitchFamily="2" charset="-127"/>
              </a:endParaRPr>
            </a:p>
            <a:p>
              <a:pPr algn="ctr"/>
              <a:r>
                <a:rPr lang="ko-KR" altLang="en-US" sz="1000" dirty="0">
                  <a:latin typeface="페이퍼로지 5 Medium" pitchFamily="2" charset="-127"/>
                  <a:ea typeface="페이퍼로지 5 Medium" pitchFamily="2" charset="-127"/>
                </a:rPr>
                <a:t>시너지</a:t>
              </a:r>
            </a:p>
          </p:txBody>
        </p:sp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14828DD6-4701-74FE-CD2E-D773BF956C9E}"/>
                </a:ext>
              </a:extLst>
            </p:cNvPr>
            <p:cNvCxnSpPr>
              <a:cxnSpLocks/>
            </p:cNvCxnSpPr>
            <p:nvPr/>
          </p:nvCxnSpPr>
          <p:spPr>
            <a:xfrm>
              <a:off x="2954303" y="3801470"/>
              <a:ext cx="88804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D93E81A6-E5FC-C939-2F0A-E19D57686556}"/>
                </a:ext>
              </a:extLst>
            </p:cNvPr>
            <p:cNvSpPr/>
            <p:nvPr/>
          </p:nvSpPr>
          <p:spPr>
            <a:xfrm>
              <a:off x="3043107" y="5042097"/>
              <a:ext cx="1891236" cy="22279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0B3B3DAB-45F9-0072-F600-49EAAC76E5C1}"/>
                </a:ext>
              </a:extLst>
            </p:cNvPr>
            <p:cNvSpPr/>
            <p:nvPr/>
          </p:nvSpPr>
          <p:spPr>
            <a:xfrm>
              <a:off x="6864743" y="2084507"/>
              <a:ext cx="1897664" cy="22279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40FB97FE-3C34-27EB-C264-89B626B22076}"/>
                </a:ext>
              </a:extLst>
            </p:cNvPr>
            <p:cNvSpPr txBox="1"/>
            <p:nvPr/>
          </p:nvSpPr>
          <p:spPr>
            <a:xfrm>
              <a:off x="7467993" y="1878437"/>
              <a:ext cx="126555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>
                  <a:latin typeface="페이퍼로지 5 Medium" pitchFamily="2" charset="-127"/>
                  <a:ea typeface="페이퍼로지 5 Medium" pitchFamily="2" charset="-127"/>
                </a:rPr>
                <a:t>적 보유 </a:t>
              </a:r>
              <a:r>
                <a:rPr lang="ko-KR" altLang="en-US" sz="800" dirty="0" err="1">
                  <a:latin typeface="페이퍼로지 5 Medium" pitchFamily="2" charset="-127"/>
                  <a:ea typeface="페이퍼로지 5 Medium" pitchFamily="2" charset="-127"/>
                </a:rPr>
                <a:t>청휘석</a:t>
              </a:r>
              <a:endParaRPr lang="ko-KR" altLang="en-US" sz="800" dirty="0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cxnSp>
          <p:nvCxnSpPr>
            <p:cNvPr id="69" name="연결선: 꺾임 60">
              <a:extLst>
                <a:ext uri="{FF2B5EF4-FFF2-40B4-BE49-F238E27FC236}">
                  <a16:creationId xmlns:a16="http://schemas.microsoft.com/office/drawing/2014/main" id="{F90ADDCE-D697-D9E7-A3AF-1667B1B4A74A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81312" y="1941014"/>
              <a:ext cx="98348" cy="188639"/>
            </a:xfrm>
            <a:prstGeom prst="bentConnector2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A407BFC3-BA8C-033C-CCCE-974819DB4721}"/>
                </a:ext>
              </a:extLst>
            </p:cNvPr>
            <p:cNvSpPr txBox="1"/>
            <p:nvPr/>
          </p:nvSpPr>
          <p:spPr>
            <a:xfrm>
              <a:off x="3527187" y="5288684"/>
              <a:ext cx="126555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>
                  <a:latin typeface="페이퍼로지 5 Medium" pitchFamily="2" charset="-127"/>
                  <a:ea typeface="페이퍼로지 5 Medium" pitchFamily="2" charset="-127"/>
                </a:rPr>
                <a:t>플레이어 보유 </a:t>
              </a:r>
              <a:r>
                <a:rPr lang="ko-KR" altLang="en-US" sz="800" dirty="0" err="1">
                  <a:latin typeface="페이퍼로지 5 Medium" pitchFamily="2" charset="-127"/>
                  <a:ea typeface="페이퍼로지 5 Medium" pitchFamily="2" charset="-127"/>
                </a:rPr>
                <a:t>청휘석</a:t>
              </a:r>
              <a:endParaRPr lang="ko-KR" altLang="en-US" sz="800" dirty="0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cxnSp>
          <p:nvCxnSpPr>
            <p:cNvPr id="71" name="연결선: 꺾임 1026">
              <a:extLst>
                <a:ext uri="{FF2B5EF4-FFF2-40B4-BE49-F238E27FC236}">
                  <a16:creationId xmlns:a16="http://schemas.microsoft.com/office/drawing/2014/main" id="{60AECFEF-7554-8B13-C9F4-F47AE986CFC5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428450" y="5227725"/>
              <a:ext cx="131517" cy="205843"/>
            </a:xfrm>
            <a:prstGeom prst="bentConnector2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C3308FF4-374D-12F4-3028-B2C3FBE1FFEF}"/>
                </a:ext>
              </a:extLst>
            </p:cNvPr>
            <p:cNvSpPr/>
            <p:nvPr/>
          </p:nvSpPr>
          <p:spPr>
            <a:xfrm>
              <a:off x="8140669" y="4194848"/>
              <a:ext cx="621738" cy="42649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cxnSp>
          <p:nvCxnSpPr>
            <p:cNvPr id="73" name="연결선: 꺾임 1034">
              <a:extLst>
                <a:ext uri="{FF2B5EF4-FFF2-40B4-BE49-F238E27FC236}">
                  <a16:creationId xmlns:a16="http://schemas.microsoft.com/office/drawing/2014/main" id="{C036F176-2FDB-A20A-4578-3BA293FF6828}"/>
                </a:ext>
              </a:extLst>
            </p:cNvPr>
            <p:cNvCxnSpPr>
              <a:cxnSpLocks/>
              <a:stCxn id="72" idx="1"/>
              <a:endCxn id="74" idx="0"/>
            </p:cNvCxnSpPr>
            <p:nvPr/>
          </p:nvCxnSpPr>
          <p:spPr>
            <a:xfrm rot="10800000" flipV="1">
              <a:off x="7561487" y="4408095"/>
              <a:ext cx="579183" cy="880375"/>
            </a:xfrm>
            <a:prstGeom prst="bentConnector2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5A05D49B-9225-2419-CB0F-B06E30D1B8C4}"/>
                </a:ext>
              </a:extLst>
            </p:cNvPr>
            <p:cNvSpPr txBox="1"/>
            <p:nvPr/>
          </p:nvSpPr>
          <p:spPr>
            <a:xfrm>
              <a:off x="7031095" y="5288471"/>
              <a:ext cx="106078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latin typeface="페이퍼로지 5 Medium" pitchFamily="2" charset="-127"/>
                  <a:ea typeface="페이퍼로지 5 Medium" pitchFamily="2" charset="-127"/>
                </a:rPr>
                <a:t>턴 진행 상황 표시</a:t>
              </a:r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666B2882-F8B9-C705-2FC6-1ED996391474}"/>
                </a:ext>
              </a:extLst>
            </p:cNvPr>
            <p:cNvSpPr/>
            <p:nvPr/>
          </p:nvSpPr>
          <p:spPr>
            <a:xfrm>
              <a:off x="8019649" y="4662327"/>
              <a:ext cx="713895" cy="5734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cxnSp>
          <p:nvCxnSpPr>
            <p:cNvPr id="76" name="연결선: 꺾임 1043">
              <a:extLst>
                <a:ext uri="{FF2B5EF4-FFF2-40B4-BE49-F238E27FC236}">
                  <a16:creationId xmlns:a16="http://schemas.microsoft.com/office/drawing/2014/main" id="{0717821B-DAD9-5202-AEAD-FA7DF2846B60}"/>
                </a:ext>
              </a:extLst>
            </p:cNvPr>
            <p:cNvCxnSpPr>
              <a:cxnSpLocks/>
              <a:stCxn id="77" idx="0"/>
            </p:cNvCxnSpPr>
            <p:nvPr/>
          </p:nvCxnSpPr>
          <p:spPr>
            <a:xfrm rot="5400000" flipH="1" flipV="1">
              <a:off x="8429620" y="5221612"/>
              <a:ext cx="53031" cy="81115"/>
            </a:xfrm>
            <a:prstGeom prst="bentConnector2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135EE055-3432-21C8-4A1B-D84913851C71}"/>
                </a:ext>
              </a:extLst>
            </p:cNvPr>
            <p:cNvSpPr txBox="1"/>
            <p:nvPr/>
          </p:nvSpPr>
          <p:spPr>
            <a:xfrm>
              <a:off x="8103155" y="5288684"/>
              <a:ext cx="62484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latin typeface="페이퍼로지 5 Medium" pitchFamily="2" charset="-127"/>
                  <a:ea typeface="페이퍼로지 5 Medium" pitchFamily="2" charset="-127"/>
                </a:rPr>
                <a:t>턴 종료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6914957A-2653-DE6C-2A7F-A9C82C0B0E1A}"/>
                </a:ext>
              </a:extLst>
            </p:cNvPr>
            <p:cNvSpPr txBox="1"/>
            <p:nvPr/>
          </p:nvSpPr>
          <p:spPr>
            <a:xfrm>
              <a:off x="8556115" y="3524471"/>
              <a:ext cx="104584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페이퍼로지 5 Medium" pitchFamily="2" charset="-127"/>
                  <a:ea typeface="페이퍼로지 5 Medium" pitchFamily="2" charset="-127"/>
                </a:rPr>
                <a:t>적 </a:t>
              </a:r>
              <a:endParaRPr lang="en-US" altLang="ko-KR" sz="1000" dirty="0">
                <a:latin typeface="페이퍼로지 5 Medium" pitchFamily="2" charset="-127"/>
                <a:ea typeface="페이퍼로지 5 Medium" pitchFamily="2" charset="-127"/>
              </a:endParaRPr>
            </a:p>
            <a:p>
              <a:pPr algn="ctr"/>
              <a:r>
                <a:rPr lang="ko-KR" altLang="en-US" sz="1000" dirty="0">
                  <a:latin typeface="페이퍼로지 5 Medium" pitchFamily="2" charset="-127"/>
                  <a:ea typeface="페이퍼로지 5 Medium" pitchFamily="2" charset="-127"/>
                </a:rPr>
                <a:t>동아리 </a:t>
              </a:r>
              <a:endParaRPr lang="en-US" altLang="ko-KR" sz="1000" dirty="0">
                <a:latin typeface="페이퍼로지 5 Medium" pitchFamily="2" charset="-127"/>
                <a:ea typeface="페이퍼로지 5 Medium" pitchFamily="2" charset="-127"/>
              </a:endParaRPr>
            </a:p>
            <a:p>
              <a:pPr algn="ctr"/>
              <a:r>
                <a:rPr lang="ko-KR" altLang="en-US" sz="1000" dirty="0">
                  <a:latin typeface="페이퍼로지 5 Medium" pitchFamily="2" charset="-127"/>
                  <a:ea typeface="페이퍼로지 5 Medium" pitchFamily="2" charset="-127"/>
                </a:rPr>
                <a:t>시너지</a:t>
              </a:r>
            </a:p>
          </p:txBody>
        </p:sp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D93E81A6-E5FC-C939-2F0A-E19D57686556}"/>
                </a:ext>
              </a:extLst>
            </p:cNvPr>
            <p:cNvSpPr/>
            <p:nvPr/>
          </p:nvSpPr>
          <p:spPr>
            <a:xfrm>
              <a:off x="3927416" y="4660980"/>
              <a:ext cx="449322" cy="34836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cxnSp>
          <p:nvCxnSpPr>
            <p:cNvPr id="110" name="연결선: 꺾임 1026">
              <a:extLst>
                <a:ext uri="{FF2B5EF4-FFF2-40B4-BE49-F238E27FC236}">
                  <a16:creationId xmlns:a16="http://schemas.microsoft.com/office/drawing/2014/main" id="{60AECFEF-7554-8B13-C9F4-F47AE986CFC5}"/>
                </a:ext>
              </a:extLst>
            </p:cNvPr>
            <p:cNvCxnSpPr>
              <a:cxnSpLocks/>
              <a:stCxn id="109" idx="3"/>
              <a:endCxn id="111" idx="0"/>
            </p:cNvCxnSpPr>
            <p:nvPr/>
          </p:nvCxnSpPr>
          <p:spPr>
            <a:xfrm>
              <a:off x="4376738" y="4835165"/>
              <a:ext cx="815532" cy="462913"/>
            </a:xfrm>
            <a:prstGeom prst="bentConnector2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5A05D49B-9225-2419-CB0F-B06E30D1B8C4}"/>
                </a:ext>
              </a:extLst>
            </p:cNvPr>
            <p:cNvSpPr txBox="1"/>
            <p:nvPr/>
          </p:nvSpPr>
          <p:spPr>
            <a:xfrm>
              <a:off x="4661879" y="5298078"/>
              <a:ext cx="106078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 err="1" smtClean="0">
                  <a:latin typeface="페이퍼로지 5 Medium" pitchFamily="2" charset="-127"/>
                  <a:ea typeface="페이퍼로지 5 Medium" pitchFamily="2" charset="-127"/>
                </a:rPr>
                <a:t>아로나</a:t>
              </a:r>
              <a:r>
                <a:rPr lang="ko-KR" altLang="en-US" sz="800" dirty="0" smtClean="0">
                  <a:latin typeface="페이퍼로지 5 Medium" pitchFamily="2" charset="-127"/>
                  <a:ea typeface="페이퍼로지 5 Medium" pitchFamily="2" charset="-127"/>
                </a:rPr>
                <a:t> 능력</a:t>
              </a:r>
              <a:endParaRPr lang="ko-KR" altLang="en-US" sz="800" dirty="0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4286694" y="5497484"/>
            <a:ext cx="323838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500" dirty="0" smtClean="0">
                <a:latin typeface="페이퍼로지 5 Medium" pitchFamily="2" charset="-127"/>
                <a:ea typeface="페이퍼로지 5 Medium" pitchFamily="2" charset="-127"/>
              </a:rPr>
              <a:t>*</a:t>
            </a:r>
            <a:r>
              <a:rPr lang="ko-KR" altLang="en-US" sz="1500" dirty="0" smtClean="0">
                <a:latin typeface="페이퍼로지 5 Medium" pitchFamily="2" charset="-127"/>
                <a:ea typeface="페이퍼로지 5 Medium" pitchFamily="2" charset="-127"/>
              </a:rPr>
              <a:t>장소 유닛은 실외 타일에만 배치 가능</a:t>
            </a:r>
            <a:endParaRPr lang="en-US" altLang="ko-KR" sz="1500" dirty="0" smtClean="0">
              <a:latin typeface="페이퍼로지 5 Medium" pitchFamily="2" charset="-127"/>
              <a:ea typeface="페이퍼로지 5 Medium" pitchFamily="2" charset="-127"/>
            </a:endParaRPr>
          </a:p>
          <a:p>
            <a:pPr algn="ctr"/>
            <a:r>
              <a:rPr lang="en-US" altLang="ko-KR" sz="1500" dirty="0" smtClean="0">
                <a:latin typeface="페이퍼로지 5 Medium" pitchFamily="2" charset="-127"/>
                <a:ea typeface="페이퍼로지 5 Medium" pitchFamily="2" charset="-127"/>
              </a:rPr>
              <a:t>*</a:t>
            </a:r>
            <a:r>
              <a:rPr lang="ko-KR" altLang="en-US" sz="1500" dirty="0" smtClean="0">
                <a:latin typeface="페이퍼로지 5 Medium" pitchFamily="2" charset="-127"/>
                <a:ea typeface="페이퍼로지 5 Medium" pitchFamily="2" charset="-127"/>
              </a:rPr>
              <a:t>중립 타일은 양 플레이어 모두 배치 가능</a:t>
            </a:r>
            <a:endParaRPr lang="ko-KR" altLang="en-US" sz="1500" dirty="0">
              <a:latin typeface="페이퍼로지 5 Medium" pitchFamily="2" charset="-127"/>
              <a:ea typeface="페이퍼로지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88297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350</Words>
  <Application>Microsoft Office PowerPoint</Application>
  <PresentationFormat>와이드스크린</PresentationFormat>
  <Paragraphs>67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맑은 고딕</vt:lpstr>
      <vt:lpstr>Arial</vt:lpstr>
      <vt:lpstr>페이퍼로지 5 Medium</vt:lpstr>
      <vt:lpstr>페이퍼로지 7 Bold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KGA</dc:creator>
  <cp:lastModifiedBy>KGA</cp:lastModifiedBy>
  <cp:revision>14</cp:revision>
  <dcterms:created xsi:type="dcterms:W3CDTF">2025-11-07T02:40:06Z</dcterms:created>
  <dcterms:modified xsi:type="dcterms:W3CDTF">2025-11-07T05:06:14Z</dcterms:modified>
</cp:coreProperties>
</file>